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9144000" cy="512127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1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3_PROMPT__HEADING">
            <a:extLst>
              <a:ext uri="{FF2B5EF4-FFF2-40B4-BE49-F238E27FC236}">
                <a16:creationId xmlns:a16="http://schemas.microsoft.com/office/drawing/2014/main" id="{2E02FFC3-B3E4-4E3B-901A-82739EE41B5A}"/>
              </a:ext>
            </a:extLst>
          </p:cNvPr>
          <p:cNvSpPr>
            <a:spLocks noGrp="1"/>
          </p:cNvSpPr>
          <p:nvPr/>
        </p:nvSpPr>
        <p:spPr>
          <a:xfrm>
            <a:off x="257175" y="415438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0833" lnSpcReduction="10000"/>
          </a:bodyPr>
          <a:lstStyle/>
          <a:p>
            <a:pPr algn="l">
              <a:buNone/>
              <a:defRPr b="1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 i="1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Macro-Trend Prompt Generation</a:t>
            </a:r>
          </a:p>
        </p:txBody>
      </p:sp>
      <p:sp>
        <p:nvSpPr>
          <p:cNvPr id="3" name="FIG3_ATTN_MACRO_FINE__HEADING">
            <a:extLst>
              <a:ext uri="{FF2B5EF4-FFF2-40B4-BE49-F238E27FC236}">
                <a16:creationId xmlns:a16="http://schemas.microsoft.com/office/drawing/2014/main" id="{EED60A3E-23FC-4FC5-87FD-171AF779D9D4}"/>
              </a:ext>
            </a:extLst>
          </p:cNvPr>
          <p:cNvSpPr>
            <a:spLocks noGrp="1"/>
          </p:cNvSpPr>
          <p:nvPr/>
        </p:nvSpPr>
        <p:spPr>
          <a:xfrm>
            <a:off x="257175" y="1724025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0833" lnSpcReduction="10000"/>
          </a:bodyPr>
          <a:lstStyle/>
          <a:p>
            <a:pPr algn="l">
              <a:buNone/>
              <a:defRPr b="1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 i="1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Bidirectional Cross-Fusion</a:t>
            </a:r>
          </a:p>
        </p:txBody>
      </p:sp>
      <p:sp>
        <p:nvSpPr>
          <p:cNvPr id="4" name="FIG3_UPDATED_FINE__HEADING">
            <a:extLst>
              <a:ext uri="{FF2B5EF4-FFF2-40B4-BE49-F238E27FC236}">
                <a16:creationId xmlns:a16="http://schemas.microsoft.com/office/drawing/2014/main" id="{FCEDEE98-B969-4F34-84CC-ACAC2176D12C}"/>
              </a:ext>
            </a:extLst>
          </p:cNvPr>
          <p:cNvSpPr>
            <a:spLocks noGrp="1"/>
          </p:cNvSpPr>
          <p:nvPr/>
        </p:nvSpPr>
        <p:spPr>
          <a:xfrm>
            <a:off x="257175" y="3943350"/>
            <a:ext cx="2762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87361" lnSpcReduction="20000"/>
          </a:bodyPr>
          <a:lstStyle/>
          <a:p>
            <a:pPr algn="l">
              <a:buNone/>
              <a:defRPr b="1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 i="1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Updated Dual Representations</a:t>
            </a:r>
          </a:p>
        </p:txBody>
      </p:sp>
      <p:sp>
        <p:nvSpPr>
          <p:cNvPr id="5" name="FIG3__DIVIDER_TOP">
            <a:extLst>
              <a:ext uri="{FF2B5EF4-FFF2-40B4-BE49-F238E27FC236}">
                <a16:creationId xmlns:a16="http://schemas.microsoft.com/office/drawing/2014/main" id="{EB75E9B2-BE87-42E9-87CF-3734036AD51C}"/>
              </a:ext>
            </a:extLst>
          </p:cNvPr>
          <p:cNvSpPr>
            <a:spLocks noGrp="1"/>
          </p:cNvSpPr>
          <p:nvPr/>
        </p:nvSpPr>
        <p:spPr>
          <a:xfrm>
            <a:off x="257175" y="1676400"/>
            <a:ext cx="8629650" cy="953"/>
          </a:xfrm>
          <a:prstGeom prst="line">
            <a:avLst/>
          </a:prstGeom>
          <a:noFill/>
          <a:ln w="8573">
            <a:solidFill>
              <a:srgbClr val="D8CCE9"/>
            </a:solidFill>
            <a:prstDash val="solid"/>
          </a:ln>
        </p:spPr>
      </p:sp>
      <p:sp>
        <p:nvSpPr>
          <p:cNvPr id="6" name="FIG3__DIVIDER_BOTTOM">
            <a:extLst>
              <a:ext uri="{FF2B5EF4-FFF2-40B4-BE49-F238E27FC236}">
                <a16:creationId xmlns:a16="http://schemas.microsoft.com/office/drawing/2014/main" id="{C57B18B1-5811-49D6-942E-FC101FAE6319}"/>
              </a:ext>
            </a:extLst>
          </p:cNvPr>
          <p:cNvSpPr>
            <a:spLocks noGrp="1"/>
          </p:cNvSpPr>
          <p:nvPr/>
        </p:nvSpPr>
        <p:spPr>
          <a:xfrm>
            <a:off x="257175" y="3895725"/>
            <a:ext cx="8629650" cy="953"/>
          </a:xfrm>
          <a:prstGeom prst="line">
            <a:avLst/>
          </a:prstGeom>
          <a:noFill/>
          <a:ln w="8573">
            <a:solidFill>
              <a:srgbClr val="D8CCE9"/>
            </a:solidFill>
            <a:prstDash val="solid"/>
          </a:ln>
        </p:spPr>
      </p:sp>
      <p:sp>
        <p:nvSpPr>
          <p:cNvPr id="7" name="FIG3_PROMPT__COARSE_RIBBON">
            <a:extLst>
              <a:ext uri="{FF2B5EF4-FFF2-40B4-BE49-F238E27FC236}">
                <a16:creationId xmlns:a16="http://schemas.microsoft.com/office/drawing/2014/main" id="{DB3BA607-F06B-4175-B89E-9ED124154D18}"/>
              </a:ext>
            </a:extLst>
          </p:cNvPr>
          <p:cNvSpPr>
            <a:spLocks noGrp="1"/>
          </p:cNvSpPr>
          <p:nvPr/>
        </p:nvSpPr>
        <p:spPr>
          <a:xfrm>
            <a:off x="600075" y="962025"/>
            <a:ext cx="1981200" cy="400050"/>
          </a:xfrm>
          <a:prstGeom prst="roundRect">
            <a:avLst>
              <a:gd name="adj" fmla="val 19048"/>
            </a:avLst>
          </a:prstGeom>
          <a:solidFill>
            <a:srgbClr val="E9F5F3"/>
          </a:solidFill>
          <a:ln w="10001">
            <a:solidFill>
              <a:srgbClr val="4F9A96"/>
            </a:solidFill>
            <a:prstDash val="solid"/>
          </a:ln>
        </p:spPr>
      </p:sp>
      <p:sp>
        <p:nvSpPr>
          <p:cNvPr id="8" name="FIG3_PROMPT__COARSE_RIBBON__WAVE_1">
            <a:extLst>
              <a:ext uri="{FF2B5EF4-FFF2-40B4-BE49-F238E27FC236}">
                <a16:creationId xmlns:a16="http://schemas.microsoft.com/office/drawing/2014/main" id="{B1558A03-7E86-480C-942B-A40F95B31979}"/>
              </a:ext>
            </a:extLst>
          </p:cNvPr>
          <p:cNvSpPr>
            <a:spLocks noGrp="1"/>
          </p:cNvSpPr>
          <p:nvPr/>
        </p:nvSpPr>
        <p:spPr>
          <a:xfrm flipV="1">
            <a:off x="676275" y="1175004"/>
            <a:ext cx="121920" cy="29147"/>
          </a:xfrm>
          <a:prstGeom prst="line">
            <a:avLst/>
          </a:prstGeom>
          <a:noFill/>
          <a:ln w="19050">
            <a:solidFill>
              <a:srgbClr val="4F9A96"/>
            </a:solidFill>
            <a:prstDash val="solid"/>
          </a:ln>
        </p:spPr>
      </p:sp>
      <p:sp>
        <p:nvSpPr>
          <p:cNvPr id="9" name="FIG3_PROMPT__COARSE_RIBBON__WAVE_2">
            <a:extLst>
              <a:ext uri="{FF2B5EF4-FFF2-40B4-BE49-F238E27FC236}">
                <a16:creationId xmlns:a16="http://schemas.microsoft.com/office/drawing/2014/main" id="{9CD80D3D-64E9-436C-ACFB-3698C7450B5C}"/>
              </a:ext>
            </a:extLst>
          </p:cNvPr>
          <p:cNvSpPr>
            <a:spLocks noGrp="1"/>
          </p:cNvSpPr>
          <p:nvPr/>
        </p:nvSpPr>
        <p:spPr>
          <a:xfrm flipV="1">
            <a:off x="798195" y="1136142"/>
            <a:ext cx="121920" cy="38862"/>
          </a:xfrm>
          <a:prstGeom prst="line">
            <a:avLst/>
          </a:prstGeom>
          <a:noFill/>
          <a:ln w="19050">
            <a:solidFill>
              <a:srgbClr val="4F9A96"/>
            </a:solidFill>
            <a:prstDash val="solid"/>
          </a:ln>
        </p:spPr>
      </p:sp>
      <p:sp>
        <p:nvSpPr>
          <p:cNvPr id="10" name="FIG3_PROMPT__COARSE_RIBBON__WAVE_3">
            <a:extLst>
              <a:ext uri="{FF2B5EF4-FFF2-40B4-BE49-F238E27FC236}">
                <a16:creationId xmlns:a16="http://schemas.microsoft.com/office/drawing/2014/main" id="{C6F689A9-CA44-49D3-B861-9C9822561A4F}"/>
              </a:ext>
            </a:extLst>
          </p:cNvPr>
          <p:cNvSpPr>
            <a:spLocks noGrp="1"/>
          </p:cNvSpPr>
          <p:nvPr/>
        </p:nvSpPr>
        <p:spPr>
          <a:xfrm flipV="1">
            <a:off x="920115" y="1100519"/>
            <a:ext cx="121920" cy="35624"/>
          </a:xfrm>
          <a:prstGeom prst="line">
            <a:avLst/>
          </a:prstGeom>
          <a:noFill/>
          <a:ln w="19050">
            <a:solidFill>
              <a:srgbClr val="4F9A96"/>
            </a:solidFill>
            <a:prstDash val="solid"/>
          </a:ln>
        </p:spPr>
      </p:sp>
      <p:sp>
        <p:nvSpPr>
          <p:cNvPr id="11" name="FIG3_PROMPT__COARSE_RIBBON__WAVE_4">
            <a:extLst>
              <a:ext uri="{FF2B5EF4-FFF2-40B4-BE49-F238E27FC236}">
                <a16:creationId xmlns:a16="http://schemas.microsoft.com/office/drawing/2014/main" id="{B3930BDD-6F71-4027-8FE2-4CD3DF7A2BA0}"/>
              </a:ext>
            </a:extLst>
          </p:cNvPr>
          <p:cNvSpPr>
            <a:spLocks noGrp="1"/>
          </p:cNvSpPr>
          <p:nvPr/>
        </p:nvSpPr>
        <p:spPr>
          <a:xfrm flipV="1">
            <a:off x="1042035" y="1090803"/>
            <a:ext cx="121920" cy="9715"/>
          </a:xfrm>
          <a:prstGeom prst="line">
            <a:avLst/>
          </a:prstGeom>
          <a:noFill/>
          <a:ln w="19050">
            <a:solidFill>
              <a:srgbClr val="4F9A96"/>
            </a:solidFill>
            <a:prstDash val="solid"/>
          </a:ln>
        </p:spPr>
      </p:sp>
      <p:sp>
        <p:nvSpPr>
          <p:cNvPr id="12" name="FIG3_PROMPT__COARSE_RIBBON__WAVE_5">
            <a:extLst>
              <a:ext uri="{FF2B5EF4-FFF2-40B4-BE49-F238E27FC236}">
                <a16:creationId xmlns:a16="http://schemas.microsoft.com/office/drawing/2014/main" id="{0370CFBB-0D83-47C6-A2DE-A2826A0F6FAF}"/>
              </a:ext>
            </a:extLst>
          </p:cNvPr>
          <p:cNvSpPr>
            <a:spLocks noGrp="1"/>
          </p:cNvSpPr>
          <p:nvPr/>
        </p:nvSpPr>
        <p:spPr>
          <a:xfrm>
            <a:off x="1163955" y="1090803"/>
            <a:ext cx="121920" cy="25908"/>
          </a:xfrm>
          <a:prstGeom prst="line">
            <a:avLst/>
          </a:prstGeom>
          <a:noFill/>
          <a:ln w="19050">
            <a:solidFill>
              <a:srgbClr val="4F9A96"/>
            </a:solidFill>
            <a:prstDash val="solid"/>
          </a:ln>
        </p:spPr>
      </p:sp>
      <p:sp>
        <p:nvSpPr>
          <p:cNvPr id="13" name="FIG3_PROMPT__COARSE_RIBBON__WAVE_6">
            <a:extLst>
              <a:ext uri="{FF2B5EF4-FFF2-40B4-BE49-F238E27FC236}">
                <a16:creationId xmlns:a16="http://schemas.microsoft.com/office/drawing/2014/main" id="{6538FA18-DBF0-42F0-8420-22B2CBDD1BE1}"/>
              </a:ext>
            </a:extLst>
          </p:cNvPr>
          <p:cNvSpPr>
            <a:spLocks noGrp="1"/>
          </p:cNvSpPr>
          <p:nvPr/>
        </p:nvSpPr>
        <p:spPr>
          <a:xfrm>
            <a:off x="1285875" y="1116711"/>
            <a:ext cx="121920" cy="45339"/>
          </a:xfrm>
          <a:prstGeom prst="line">
            <a:avLst/>
          </a:prstGeom>
          <a:noFill/>
          <a:ln w="19050">
            <a:solidFill>
              <a:srgbClr val="4F9A96"/>
            </a:solidFill>
            <a:prstDash val="solid"/>
          </a:ln>
        </p:spPr>
      </p:sp>
      <p:sp>
        <p:nvSpPr>
          <p:cNvPr id="14" name="FIG3_PROMPT__COARSE_RIBBON__WAVE_7">
            <a:extLst>
              <a:ext uri="{FF2B5EF4-FFF2-40B4-BE49-F238E27FC236}">
                <a16:creationId xmlns:a16="http://schemas.microsoft.com/office/drawing/2014/main" id="{C7CC57AB-9545-420D-B52C-48F2382C3176}"/>
              </a:ext>
            </a:extLst>
          </p:cNvPr>
          <p:cNvSpPr>
            <a:spLocks noGrp="1"/>
          </p:cNvSpPr>
          <p:nvPr/>
        </p:nvSpPr>
        <p:spPr>
          <a:xfrm>
            <a:off x="1407795" y="1162050"/>
            <a:ext cx="121920" cy="29147"/>
          </a:xfrm>
          <a:prstGeom prst="line">
            <a:avLst/>
          </a:prstGeom>
          <a:noFill/>
          <a:ln w="19050">
            <a:solidFill>
              <a:srgbClr val="4F9A96"/>
            </a:solidFill>
            <a:prstDash val="solid"/>
          </a:ln>
        </p:spPr>
      </p:sp>
      <p:sp>
        <p:nvSpPr>
          <p:cNvPr id="15" name="FIG3_PROMPT__COARSE_RIBBON__WAVE_8">
            <a:extLst>
              <a:ext uri="{FF2B5EF4-FFF2-40B4-BE49-F238E27FC236}">
                <a16:creationId xmlns:a16="http://schemas.microsoft.com/office/drawing/2014/main" id="{FAC560A3-3C52-4254-B823-4C8322BF1CBE}"/>
              </a:ext>
            </a:extLst>
          </p:cNvPr>
          <p:cNvSpPr>
            <a:spLocks noGrp="1"/>
          </p:cNvSpPr>
          <p:nvPr/>
        </p:nvSpPr>
        <p:spPr>
          <a:xfrm flipV="1">
            <a:off x="1529715" y="1181481"/>
            <a:ext cx="121920" cy="9715"/>
          </a:xfrm>
          <a:prstGeom prst="line">
            <a:avLst/>
          </a:prstGeom>
          <a:noFill/>
          <a:ln w="19050">
            <a:solidFill>
              <a:srgbClr val="4F9A96"/>
            </a:solidFill>
            <a:prstDash val="solid"/>
          </a:ln>
        </p:spPr>
      </p:sp>
      <p:sp>
        <p:nvSpPr>
          <p:cNvPr id="16" name="FIG3_PROMPT__COARSE_RIBBON__WAVE_9">
            <a:extLst>
              <a:ext uri="{FF2B5EF4-FFF2-40B4-BE49-F238E27FC236}">
                <a16:creationId xmlns:a16="http://schemas.microsoft.com/office/drawing/2014/main" id="{3D071569-F061-4BE1-AA34-37BB7559E412}"/>
              </a:ext>
            </a:extLst>
          </p:cNvPr>
          <p:cNvSpPr>
            <a:spLocks noGrp="1"/>
          </p:cNvSpPr>
          <p:nvPr/>
        </p:nvSpPr>
        <p:spPr>
          <a:xfrm flipV="1">
            <a:off x="1651635" y="1142619"/>
            <a:ext cx="121920" cy="38862"/>
          </a:xfrm>
          <a:prstGeom prst="line">
            <a:avLst/>
          </a:prstGeom>
          <a:noFill/>
          <a:ln w="19050">
            <a:solidFill>
              <a:srgbClr val="4F9A96"/>
            </a:solidFill>
            <a:prstDash val="solid"/>
          </a:ln>
        </p:spPr>
      </p:sp>
      <p:sp>
        <p:nvSpPr>
          <p:cNvPr id="17" name="FIG3_PROMPT__COARSE_RIBBON__WAVE_10">
            <a:extLst>
              <a:ext uri="{FF2B5EF4-FFF2-40B4-BE49-F238E27FC236}">
                <a16:creationId xmlns:a16="http://schemas.microsoft.com/office/drawing/2014/main" id="{330A1F80-2A0C-4BD4-BCCD-C13C41480A9A}"/>
              </a:ext>
            </a:extLst>
          </p:cNvPr>
          <p:cNvSpPr>
            <a:spLocks noGrp="1"/>
          </p:cNvSpPr>
          <p:nvPr/>
        </p:nvSpPr>
        <p:spPr>
          <a:xfrm flipV="1">
            <a:off x="1773555" y="1103757"/>
            <a:ext cx="121920" cy="38862"/>
          </a:xfrm>
          <a:prstGeom prst="line">
            <a:avLst/>
          </a:prstGeom>
          <a:noFill/>
          <a:ln w="19050">
            <a:solidFill>
              <a:srgbClr val="4F9A96"/>
            </a:solidFill>
            <a:prstDash val="solid"/>
          </a:ln>
        </p:spPr>
      </p:sp>
      <p:sp>
        <p:nvSpPr>
          <p:cNvPr id="18" name="FIG3_PROMPT__COARSE_RIBBON__WAVE_11">
            <a:extLst>
              <a:ext uri="{FF2B5EF4-FFF2-40B4-BE49-F238E27FC236}">
                <a16:creationId xmlns:a16="http://schemas.microsoft.com/office/drawing/2014/main" id="{1E2A3A7A-0B54-4842-8A0E-9A9119AF21A2}"/>
              </a:ext>
            </a:extLst>
          </p:cNvPr>
          <p:cNvSpPr>
            <a:spLocks noGrp="1"/>
          </p:cNvSpPr>
          <p:nvPr/>
        </p:nvSpPr>
        <p:spPr>
          <a:xfrm flipV="1">
            <a:off x="1895475" y="1087565"/>
            <a:ext cx="121920" cy="16192"/>
          </a:xfrm>
          <a:prstGeom prst="line">
            <a:avLst/>
          </a:prstGeom>
          <a:noFill/>
          <a:ln w="19050">
            <a:solidFill>
              <a:srgbClr val="4F9A96"/>
            </a:solidFill>
            <a:prstDash val="solid"/>
          </a:ln>
        </p:spPr>
      </p:sp>
      <p:sp>
        <p:nvSpPr>
          <p:cNvPr id="19" name="FIG3_PROMPT__COARSE_RIBBON__WAVE_12">
            <a:extLst>
              <a:ext uri="{FF2B5EF4-FFF2-40B4-BE49-F238E27FC236}">
                <a16:creationId xmlns:a16="http://schemas.microsoft.com/office/drawing/2014/main" id="{40E328AB-9432-4EF7-B27E-8D07FDF0D8AC}"/>
              </a:ext>
            </a:extLst>
          </p:cNvPr>
          <p:cNvSpPr>
            <a:spLocks noGrp="1"/>
          </p:cNvSpPr>
          <p:nvPr/>
        </p:nvSpPr>
        <p:spPr>
          <a:xfrm>
            <a:off x="2017395" y="1087565"/>
            <a:ext cx="121920" cy="22669"/>
          </a:xfrm>
          <a:prstGeom prst="line">
            <a:avLst/>
          </a:prstGeom>
          <a:noFill/>
          <a:ln w="19050">
            <a:solidFill>
              <a:srgbClr val="4F9A96"/>
            </a:solidFill>
            <a:prstDash val="solid"/>
          </a:ln>
        </p:spPr>
      </p:sp>
      <p:sp>
        <p:nvSpPr>
          <p:cNvPr id="20" name="FIG3_PROMPT__COARSE_RIBBON__WAVE_13">
            <a:extLst>
              <a:ext uri="{FF2B5EF4-FFF2-40B4-BE49-F238E27FC236}">
                <a16:creationId xmlns:a16="http://schemas.microsoft.com/office/drawing/2014/main" id="{FEE53F18-4488-4C9A-8C70-CDE1C497B4C9}"/>
              </a:ext>
            </a:extLst>
          </p:cNvPr>
          <p:cNvSpPr>
            <a:spLocks noGrp="1"/>
          </p:cNvSpPr>
          <p:nvPr/>
        </p:nvSpPr>
        <p:spPr>
          <a:xfrm>
            <a:off x="2139315" y="1110234"/>
            <a:ext cx="121920" cy="45339"/>
          </a:xfrm>
          <a:prstGeom prst="line">
            <a:avLst/>
          </a:prstGeom>
          <a:noFill/>
          <a:ln w="19050">
            <a:solidFill>
              <a:srgbClr val="4F9A96"/>
            </a:solidFill>
            <a:prstDash val="solid"/>
          </a:ln>
        </p:spPr>
      </p:sp>
      <p:sp>
        <p:nvSpPr>
          <p:cNvPr id="21" name="FIG3_PROMPT__COARSE_RIBBON__WAVE_14">
            <a:extLst>
              <a:ext uri="{FF2B5EF4-FFF2-40B4-BE49-F238E27FC236}">
                <a16:creationId xmlns:a16="http://schemas.microsoft.com/office/drawing/2014/main" id="{C0C1087B-6145-4897-B9FF-A73DC271C3CD}"/>
              </a:ext>
            </a:extLst>
          </p:cNvPr>
          <p:cNvSpPr>
            <a:spLocks noGrp="1"/>
          </p:cNvSpPr>
          <p:nvPr/>
        </p:nvSpPr>
        <p:spPr>
          <a:xfrm>
            <a:off x="2261235" y="1155573"/>
            <a:ext cx="121920" cy="32385"/>
          </a:xfrm>
          <a:prstGeom prst="line">
            <a:avLst/>
          </a:prstGeom>
          <a:noFill/>
          <a:ln w="19050">
            <a:solidFill>
              <a:srgbClr val="4F9A96"/>
            </a:solidFill>
            <a:prstDash val="solid"/>
          </a:ln>
        </p:spPr>
      </p:sp>
      <p:sp>
        <p:nvSpPr>
          <p:cNvPr id="22" name="FIG3_PROMPT__COARSE_RIBBON__WAVE_15">
            <a:extLst>
              <a:ext uri="{FF2B5EF4-FFF2-40B4-BE49-F238E27FC236}">
                <a16:creationId xmlns:a16="http://schemas.microsoft.com/office/drawing/2014/main" id="{431FC55B-3B0A-4414-A4E8-FFD178506687}"/>
              </a:ext>
            </a:extLst>
          </p:cNvPr>
          <p:cNvSpPr>
            <a:spLocks noGrp="1"/>
          </p:cNvSpPr>
          <p:nvPr/>
        </p:nvSpPr>
        <p:spPr>
          <a:xfrm flipV="1">
            <a:off x="2383155" y="1168527"/>
            <a:ext cx="121920" cy="19431"/>
          </a:xfrm>
          <a:prstGeom prst="line">
            <a:avLst/>
          </a:prstGeom>
          <a:noFill/>
          <a:ln w="19050">
            <a:solidFill>
              <a:srgbClr val="4F9A96"/>
            </a:solidFill>
            <a:prstDash val="solid"/>
          </a:ln>
        </p:spPr>
      </p:sp>
      <p:sp>
        <p:nvSpPr>
          <p:cNvPr id="23" name="FIG3_PROMPT__COARSE_LABEL">
            <a:extLst>
              <a:ext uri="{FF2B5EF4-FFF2-40B4-BE49-F238E27FC236}">
                <a16:creationId xmlns:a16="http://schemas.microsoft.com/office/drawing/2014/main" id="{4B24BD15-BE4E-4CC4-8FE8-789D0B28C459}"/>
              </a:ext>
            </a:extLst>
          </p:cNvPr>
          <p:cNvSpPr>
            <a:spLocks noGrp="1"/>
          </p:cNvSpPr>
          <p:nvPr/>
        </p:nvSpPr>
        <p:spPr>
          <a:xfrm>
            <a:off x="666750" y="752475"/>
            <a:ext cx="1847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77500" lnSpcReduction="20000"/>
          </a:bodyPr>
          <a:lstStyle/>
          <a:p>
            <a:pPr algn="ctr">
              <a:buNone/>
              <a:defRPr b="0" i="0">
                <a:solidFill>
                  <a:srgbClr val="4F9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 i="0">
                <a:solidFill>
                  <a:srgbClr val="4F9A96"/>
                </a:solidFill>
                <a:latin typeface="Times New Roman"/>
                <a:ea typeface="Times New Roman"/>
                <a:cs typeface="Times New Roman"/>
              </a:rPr>
              <a:t>Coarse History</a:t>
            </a:r>
          </a:p>
        </p:txBody>
      </p:sp>
      <p:sp>
        <p:nvSpPr>
          <p:cNvPr id="24" name="FIG3_PROMPT__POOL">
            <a:extLst>
              <a:ext uri="{FF2B5EF4-FFF2-40B4-BE49-F238E27FC236}">
                <a16:creationId xmlns:a16="http://schemas.microsoft.com/office/drawing/2014/main" id="{BB41F245-0FAF-44D4-BA79-AEF0204A96AE}"/>
              </a:ext>
            </a:extLst>
          </p:cNvPr>
          <p:cNvSpPr>
            <a:spLocks noGrp="1"/>
          </p:cNvSpPr>
          <p:nvPr/>
        </p:nvSpPr>
        <p:spPr>
          <a:xfrm>
            <a:off x="2962275" y="895350"/>
            <a:ext cx="590550" cy="552450"/>
          </a:xfrm>
          <a:prstGeom prst="ellipse">
            <a:avLst/>
          </a:prstGeom>
          <a:solidFill>
            <a:srgbClr val="FFFFFF"/>
          </a:solidFill>
          <a:ln w="10478">
            <a:solidFill>
              <a:srgbClr val="4F9A96"/>
            </a:solidFill>
            <a:prstDash val="solid"/>
          </a:ln>
        </p:spPr>
        <p:txBody>
          <a:bodyPr wrap="none" lIns="19050" tIns="9525" rIns="19050" bIns="9525" anchor="ctr">
            <a:normAutofit fontScale="98440"/>
          </a:bodyPr>
          <a:lstStyle/>
          <a:p>
            <a:pPr algn="ctr">
              <a:buNone/>
              <a:defRPr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Pool</a:t>
            </a:r>
          </a:p>
        </p:txBody>
      </p:sp>
      <p:sp>
        <p:nvSpPr>
          <p:cNvPr id="25" name="FIG3_PROMPT__POOL_LABEL">
            <a:extLst>
              <a:ext uri="{FF2B5EF4-FFF2-40B4-BE49-F238E27FC236}">
                <a16:creationId xmlns:a16="http://schemas.microsoft.com/office/drawing/2014/main" id="{CA7F4C40-1289-4F4B-83DA-DF1CC5EB2472}"/>
              </a:ext>
            </a:extLst>
          </p:cNvPr>
          <p:cNvSpPr>
            <a:spLocks noGrp="1"/>
          </p:cNvSpPr>
          <p:nvPr/>
        </p:nvSpPr>
        <p:spPr>
          <a:xfrm>
            <a:off x="2570774" y="1441475"/>
            <a:ext cx="1547935" cy="1343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i="0">
                <a:solidFill>
                  <a:srgbClr val="5D7280"/>
                </a:solidFill>
                <a:latin typeface="Times New Roman"/>
                <a:ea typeface="Times New Roman"/>
                <a:cs typeface="Times New Roman"/>
              </a:rPr>
              <a:t>Temporal Weighted Pooling</a:t>
            </a:r>
          </a:p>
        </p:txBody>
      </p:sp>
      <p:sp>
        <p:nvSpPr>
          <p:cNvPr id="26" name="FIG3_PROMPT">
            <a:extLst>
              <a:ext uri="{FF2B5EF4-FFF2-40B4-BE49-F238E27FC236}">
                <a16:creationId xmlns:a16="http://schemas.microsoft.com/office/drawing/2014/main" id="{C1E0B3E0-905C-41A1-9280-4CA7424B0B6E}"/>
              </a:ext>
            </a:extLst>
          </p:cNvPr>
          <p:cNvSpPr>
            <a:spLocks noGrp="1"/>
          </p:cNvSpPr>
          <p:nvPr/>
        </p:nvSpPr>
        <p:spPr>
          <a:xfrm>
            <a:off x="4095750" y="904875"/>
            <a:ext cx="1809750" cy="4095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7" name="FIG3_PROMPT__P1">
            <a:extLst>
              <a:ext uri="{FF2B5EF4-FFF2-40B4-BE49-F238E27FC236}">
                <a16:creationId xmlns:a16="http://schemas.microsoft.com/office/drawing/2014/main" id="{49628ACC-3632-41C7-99D8-437459B87A19}"/>
              </a:ext>
            </a:extLst>
          </p:cNvPr>
          <p:cNvSpPr>
            <a:spLocks noGrp="1"/>
          </p:cNvSpPr>
          <p:nvPr/>
        </p:nvSpPr>
        <p:spPr>
          <a:xfrm>
            <a:off x="4095750" y="904875"/>
            <a:ext cx="395288" cy="409575"/>
          </a:xfrm>
          <a:prstGeom prst="roundRect">
            <a:avLst>
              <a:gd name="adj" fmla="val 26506"/>
            </a:avLst>
          </a:prstGeom>
          <a:solidFill>
            <a:srgbClr val="F3EEF9"/>
          </a:solidFill>
          <a:ln w="10478">
            <a:solidFill>
              <a:srgbClr val="8367B2"/>
            </a:solidFill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P1</a:t>
            </a:r>
          </a:p>
        </p:txBody>
      </p:sp>
      <p:sp>
        <p:nvSpPr>
          <p:cNvPr id="28" name="FIG3_PROMPT__P2">
            <a:extLst>
              <a:ext uri="{FF2B5EF4-FFF2-40B4-BE49-F238E27FC236}">
                <a16:creationId xmlns:a16="http://schemas.microsoft.com/office/drawing/2014/main" id="{62CEA3D3-5397-4526-B2B6-21E44D7FC8D9}"/>
              </a:ext>
            </a:extLst>
          </p:cNvPr>
          <p:cNvSpPr>
            <a:spLocks noGrp="1"/>
          </p:cNvSpPr>
          <p:nvPr/>
        </p:nvSpPr>
        <p:spPr>
          <a:xfrm>
            <a:off x="4567238" y="904875"/>
            <a:ext cx="395288" cy="409575"/>
          </a:xfrm>
          <a:prstGeom prst="roundRect">
            <a:avLst>
              <a:gd name="adj" fmla="val 26506"/>
            </a:avLst>
          </a:prstGeom>
          <a:solidFill>
            <a:srgbClr val="F3EEF9"/>
          </a:solidFill>
          <a:ln w="10478">
            <a:solidFill>
              <a:srgbClr val="8367B2"/>
            </a:solidFill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P2</a:t>
            </a:r>
          </a:p>
        </p:txBody>
      </p:sp>
      <p:sp>
        <p:nvSpPr>
          <p:cNvPr id="29" name="FIG3_PROMPT__P3">
            <a:extLst>
              <a:ext uri="{FF2B5EF4-FFF2-40B4-BE49-F238E27FC236}">
                <a16:creationId xmlns:a16="http://schemas.microsoft.com/office/drawing/2014/main" id="{0A5DCC9D-976A-481D-A526-C5D6D8E17B1D}"/>
              </a:ext>
            </a:extLst>
          </p:cNvPr>
          <p:cNvSpPr>
            <a:spLocks noGrp="1"/>
          </p:cNvSpPr>
          <p:nvPr/>
        </p:nvSpPr>
        <p:spPr>
          <a:xfrm>
            <a:off x="5038725" y="904875"/>
            <a:ext cx="395288" cy="409575"/>
          </a:xfrm>
          <a:prstGeom prst="roundRect">
            <a:avLst>
              <a:gd name="adj" fmla="val 26506"/>
            </a:avLst>
          </a:prstGeom>
          <a:solidFill>
            <a:srgbClr val="F3EEF9"/>
          </a:solidFill>
          <a:ln w="10478">
            <a:solidFill>
              <a:srgbClr val="8367B2"/>
            </a:solidFill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P3</a:t>
            </a:r>
          </a:p>
        </p:txBody>
      </p:sp>
      <p:sp>
        <p:nvSpPr>
          <p:cNvPr id="30" name="FIG3_PROMPT__P4">
            <a:extLst>
              <a:ext uri="{FF2B5EF4-FFF2-40B4-BE49-F238E27FC236}">
                <a16:creationId xmlns:a16="http://schemas.microsoft.com/office/drawing/2014/main" id="{F4F268D3-70F7-4AC8-8A61-FC97C1530966}"/>
              </a:ext>
            </a:extLst>
          </p:cNvPr>
          <p:cNvSpPr>
            <a:spLocks noGrp="1"/>
          </p:cNvSpPr>
          <p:nvPr/>
        </p:nvSpPr>
        <p:spPr>
          <a:xfrm>
            <a:off x="5510213" y="904875"/>
            <a:ext cx="395288" cy="409575"/>
          </a:xfrm>
          <a:prstGeom prst="roundRect">
            <a:avLst>
              <a:gd name="adj" fmla="val 26506"/>
            </a:avLst>
          </a:prstGeom>
          <a:solidFill>
            <a:srgbClr val="F3EEF9"/>
          </a:solidFill>
          <a:ln w="10478">
            <a:solidFill>
              <a:srgbClr val="8367B2"/>
            </a:solidFill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P4</a:t>
            </a:r>
          </a:p>
        </p:txBody>
      </p:sp>
      <p:sp>
        <p:nvSpPr>
          <p:cNvPr id="31" name="FIG3_PROMPT__LABEL">
            <a:extLst>
              <a:ext uri="{FF2B5EF4-FFF2-40B4-BE49-F238E27FC236}">
                <a16:creationId xmlns:a16="http://schemas.microsoft.com/office/drawing/2014/main" id="{7A14AD56-1D6C-4052-8DD1-3B8BD05F7B67}"/>
              </a:ext>
            </a:extLst>
          </p:cNvPr>
          <p:cNvSpPr>
            <a:spLocks noGrp="1"/>
          </p:cNvSpPr>
          <p:nvPr/>
        </p:nvSpPr>
        <p:spPr>
          <a:xfrm>
            <a:off x="4095750" y="69532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77500" lnSpcReduction="20000"/>
          </a:bodyPr>
          <a:lstStyle/>
          <a:p>
            <a:pPr algn="ctr">
              <a:buNone/>
              <a:defRPr b="0" i="0">
                <a:solidFill>
                  <a:srgbClr val="8367B2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 i="0">
                <a:solidFill>
                  <a:srgbClr val="8367B2"/>
                </a:solidFill>
                <a:latin typeface="Times New Roman"/>
                <a:ea typeface="Times New Roman"/>
                <a:cs typeface="Times New Roman"/>
              </a:rPr>
              <a:t>Macro-Trend Prompt</a:t>
            </a:r>
          </a:p>
        </p:txBody>
      </p:sp>
      <p:sp>
        <p:nvSpPr>
          <p:cNvPr id="32" name="FIG3_PROMPT__META">
            <a:extLst>
              <a:ext uri="{FF2B5EF4-FFF2-40B4-BE49-F238E27FC236}">
                <a16:creationId xmlns:a16="http://schemas.microsoft.com/office/drawing/2014/main" id="{6C9B9213-5F5D-40AC-A43D-D6DD8F9B1777}"/>
              </a:ext>
            </a:extLst>
          </p:cNvPr>
          <p:cNvSpPr>
            <a:spLocks noGrp="1"/>
          </p:cNvSpPr>
          <p:nvPr/>
        </p:nvSpPr>
        <p:spPr>
          <a:xfrm>
            <a:off x="4095750" y="1352550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63055" lnSpcReduction="20000"/>
          </a:bodyPr>
          <a:lstStyle/>
          <a:p>
            <a:pPr algn="ctr">
              <a:buNone/>
              <a:defRPr b="0" i="0">
                <a:solidFill>
                  <a:srgbClr val="5D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 i="0">
                <a:solidFill>
                  <a:srgbClr val="5D7280"/>
                </a:solidFill>
                <a:latin typeface="Times New Roman"/>
                <a:ea typeface="Times New Roman"/>
                <a:cs typeface="Times New Roman"/>
              </a:rPr>
              <a:t>4 node-specific tokens / turbine</a:t>
            </a:r>
          </a:p>
        </p:txBody>
      </p:sp>
      <p:cxnSp>
        <p:nvCxnSpPr>
          <p:cNvPr id="439" name="直接箭头连接符 170"/>
          <p:cNvCxnSpPr>
            <a:stCxn id="7" idx="3"/>
            <a:endCxn id="24" idx="2"/>
          </p:cNvCxnSpPr>
          <p:nvPr/>
        </p:nvCxnSpPr>
        <p:spPr>
          <a:xfrm>
            <a:off x="2581275" y="1162050"/>
            <a:ext cx="381000" cy="9525"/>
          </a:xfrm>
          <a:prstGeom prst="straightConnector1">
            <a:avLst/>
          </a:prstGeom>
          <a:ln w="15240">
            <a:solidFill>
              <a:srgbClr val="4F9A9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40" name="直接箭头连接符 171"/>
          <p:cNvCxnSpPr>
            <a:stCxn id="24" idx="6"/>
            <a:endCxn id="26" idx="1"/>
          </p:cNvCxnSpPr>
          <p:nvPr/>
        </p:nvCxnSpPr>
        <p:spPr>
          <a:xfrm flipV="1">
            <a:off x="3552825" y="1109663"/>
            <a:ext cx="542925" cy="61913"/>
          </a:xfrm>
          <a:prstGeom prst="straightConnector1">
            <a:avLst/>
          </a:prstGeom>
          <a:ln w="15240">
            <a:solidFill>
              <a:srgbClr val="8367B2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5" name="FIG3_FINE_HISTORY">
            <a:extLst>
              <a:ext uri="{FF2B5EF4-FFF2-40B4-BE49-F238E27FC236}">
                <a16:creationId xmlns:a16="http://schemas.microsoft.com/office/drawing/2014/main" id="{7031B7DE-D755-4F98-8091-6E9351DEC9AE}"/>
              </a:ext>
            </a:extLst>
          </p:cNvPr>
          <p:cNvSpPr>
            <a:spLocks noGrp="1"/>
          </p:cNvSpPr>
          <p:nvPr/>
        </p:nvSpPr>
        <p:spPr>
          <a:xfrm>
            <a:off x="771525" y="2295525"/>
            <a:ext cx="2190750" cy="457200"/>
          </a:xfrm>
          <a:prstGeom prst="roundRect">
            <a:avLst>
              <a:gd name="adj" fmla="val 16667"/>
            </a:avLst>
          </a:prstGeom>
          <a:solidFill>
            <a:srgbClr val="FFF1E3"/>
          </a:solidFill>
          <a:ln w="10001">
            <a:solidFill>
              <a:srgbClr val="E69A54"/>
            </a:solidFill>
            <a:prstDash val="solid"/>
          </a:ln>
        </p:spPr>
      </p:sp>
      <p:sp>
        <p:nvSpPr>
          <p:cNvPr id="36" name="FIG3_FINE_HISTORY__WAVE_1">
            <a:extLst>
              <a:ext uri="{FF2B5EF4-FFF2-40B4-BE49-F238E27FC236}">
                <a16:creationId xmlns:a16="http://schemas.microsoft.com/office/drawing/2014/main" id="{BC8CC2B8-38BA-49C3-96B3-D9149D9D1EAB}"/>
              </a:ext>
            </a:extLst>
          </p:cNvPr>
          <p:cNvSpPr>
            <a:spLocks noGrp="1"/>
          </p:cNvSpPr>
          <p:nvPr/>
        </p:nvSpPr>
        <p:spPr>
          <a:xfrm flipV="1">
            <a:off x="847725" y="2425065"/>
            <a:ext cx="119903" cy="121920"/>
          </a:xfrm>
          <a:prstGeom prst="line">
            <a:avLst/>
          </a:prstGeom>
          <a:noFill/>
          <a:ln w="16193">
            <a:solidFill>
              <a:srgbClr val="E69A54"/>
            </a:solidFill>
            <a:prstDash val="solid"/>
          </a:ln>
        </p:spPr>
      </p:sp>
      <p:sp>
        <p:nvSpPr>
          <p:cNvPr id="37" name="FIG3_FINE_HISTORY__WAVE_2">
            <a:extLst>
              <a:ext uri="{FF2B5EF4-FFF2-40B4-BE49-F238E27FC236}">
                <a16:creationId xmlns:a16="http://schemas.microsoft.com/office/drawing/2014/main" id="{8300A3D4-A1D1-488D-BECD-8C43F6BE9C47}"/>
              </a:ext>
            </a:extLst>
          </p:cNvPr>
          <p:cNvSpPr>
            <a:spLocks noGrp="1"/>
          </p:cNvSpPr>
          <p:nvPr/>
        </p:nvSpPr>
        <p:spPr>
          <a:xfrm>
            <a:off x="967628" y="2425065"/>
            <a:ext cx="119903" cy="182880"/>
          </a:xfrm>
          <a:prstGeom prst="line">
            <a:avLst/>
          </a:prstGeom>
          <a:noFill/>
          <a:ln w="16193">
            <a:solidFill>
              <a:srgbClr val="E69A54"/>
            </a:solidFill>
            <a:prstDash val="solid"/>
          </a:ln>
        </p:spPr>
      </p:sp>
      <p:sp>
        <p:nvSpPr>
          <p:cNvPr id="38" name="FIG3_FINE_HISTORY__WAVE_3">
            <a:extLst>
              <a:ext uri="{FF2B5EF4-FFF2-40B4-BE49-F238E27FC236}">
                <a16:creationId xmlns:a16="http://schemas.microsoft.com/office/drawing/2014/main" id="{282A6B84-5590-4E30-AE8B-B8B060BB6E7C}"/>
              </a:ext>
            </a:extLst>
          </p:cNvPr>
          <p:cNvSpPr>
            <a:spLocks noGrp="1"/>
          </p:cNvSpPr>
          <p:nvPr/>
        </p:nvSpPr>
        <p:spPr>
          <a:xfrm flipV="1">
            <a:off x="1087531" y="2478405"/>
            <a:ext cx="119903" cy="129540"/>
          </a:xfrm>
          <a:prstGeom prst="line">
            <a:avLst/>
          </a:prstGeom>
          <a:noFill/>
          <a:ln w="16193">
            <a:solidFill>
              <a:srgbClr val="E69A54"/>
            </a:solidFill>
            <a:prstDash val="solid"/>
          </a:ln>
        </p:spPr>
      </p:sp>
      <p:sp>
        <p:nvSpPr>
          <p:cNvPr id="39" name="FIG3_FINE_HISTORY__WAVE_4">
            <a:extLst>
              <a:ext uri="{FF2B5EF4-FFF2-40B4-BE49-F238E27FC236}">
                <a16:creationId xmlns:a16="http://schemas.microsoft.com/office/drawing/2014/main" id="{A59A0248-59FB-424C-8FF9-1A3E3C88CEE8}"/>
              </a:ext>
            </a:extLst>
          </p:cNvPr>
          <p:cNvSpPr>
            <a:spLocks noGrp="1"/>
          </p:cNvSpPr>
          <p:nvPr/>
        </p:nvSpPr>
        <p:spPr>
          <a:xfrm>
            <a:off x="1207434" y="2478405"/>
            <a:ext cx="119903" cy="106680"/>
          </a:xfrm>
          <a:prstGeom prst="line">
            <a:avLst/>
          </a:prstGeom>
          <a:noFill/>
          <a:ln w="16193">
            <a:solidFill>
              <a:srgbClr val="E69A54"/>
            </a:solidFill>
            <a:prstDash val="solid"/>
          </a:ln>
        </p:spPr>
      </p:sp>
      <p:sp>
        <p:nvSpPr>
          <p:cNvPr id="40" name="FIG3_FINE_HISTORY__WAVE_5">
            <a:extLst>
              <a:ext uri="{FF2B5EF4-FFF2-40B4-BE49-F238E27FC236}">
                <a16:creationId xmlns:a16="http://schemas.microsoft.com/office/drawing/2014/main" id="{6ABE68F9-BC62-4E4C-BD9C-AC1574011F9F}"/>
              </a:ext>
            </a:extLst>
          </p:cNvPr>
          <p:cNvSpPr>
            <a:spLocks noGrp="1"/>
          </p:cNvSpPr>
          <p:nvPr/>
        </p:nvSpPr>
        <p:spPr>
          <a:xfrm flipV="1">
            <a:off x="1327337" y="2402205"/>
            <a:ext cx="119903" cy="182880"/>
          </a:xfrm>
          <a:prstGeom prst="line">
            <a:avLst/>
          </a:prstGeom>
          <a:noFill/>
          <a:ln w="16193">
            <a:solidFill>
              <a:srgbClr val="E69A54"/>
            </a:solidFill>
            <a:prstDash val="solid"/>
          </a:ln>
        </p:spPr>
      </p:sp>
      <p:sp>
        <p:nvSpPr>
          <p:cNvPr id="41" name="FIG3_FINE_HISTORY__WAVE_6">
            <a:extLst>
              <a:ext uri="{FF2B5EF4-FFF2-40B4-BE49-F238E27FC236}">
                <a16:creationId xmlns:a16="http://schemas.microsoft.com/office/drawing/2014/main" id="{C011E85B-52F9-4D17-A3AF-3B5CA9D50928}"/>
              </a:ext>
            </a:extLst>
          </p:cNvPr>
          <p:cNvSpPr>
            <a:spLocks noGrp="1"/>
          </p:cNvSpPr>
          <p:nvPr/>
        </p:nvSpPr>
        <p:spPr>
          <a:xfrm>
            <a:off x="1447240" y="2402205"/>
            <a:ext cx="119903" cy="236220"/>
          </a:xfrm>
          <a:prstGeom prst="line">
            <a:avLst/>
          </a:prstGeom>
          <a:noFill/>
          <a:ln w="16193">
            <a:solidFill>
              <a:srgbClr val="E69A54"/>
            </a:solidFill>
            <a:prstDash val="solid"/>
          </a:ln>
        </p:spPr>
      </p:sp>
      <p:sp>
        <p:nvSpPr>
          <p:cNvPr id="42" name="FIG3_FINE_HISTORY__WAVE_7">
            <a:extLst>
              <a:ext uri="{FF2B5EF4-FFF2-40B4-BE49-F238E27FC236}">
                <a16:creationId xmlns:a16="http://schemas.microsoft.com/office/drawing/2014/main" id="{F87B7790-13FB-47C2-9584-412A430777E3}"/>
              </a:ext>
            </a:extLst>
          </p:cNvPr>
          <p:cNvSpPr>
            <a:spLocks noGrp="1"/>
          </p:cNvSpPr>
          <p:nvPr/>
        </p:nvSpPr>
        <p:spPr>
          <a:xfrm flipV="1">
            <a:off x="1567143" y="2493645"/>
            <a:ext cx="119903" cy="144780"/>
          </a:xfrm>
          <a:prstGeom prst="line">
            <a:avLst/>
          </a:prstGeom>
          <a:noFill/>
          <a:ln w="16193">
            <a:solidFill>
              <a:srgbClr val="E69A54"/>
            </a:solidFill>
            <a:prstDash val="solid"/>
          </a:ln>
        </p:spPr>
      </p:sp>
      <p:sp>
        <p:nvSpPr>
          <p:cNvPr id="43" name="FIG3_FINE_HISTORY__WAVE_8">
            <a:extLst>
              <a:ext uri="{FF2B5EF4-FFF2-40B4-BE49-F238E27FC236}">
                <a16:creationId xmlns:a16="http://schemas.microsoft.com/office/drawing/2014/main" id="{5973C9DA-6978-4034-8B6B-985357CD8B8C}"/>
              </a:ext>
            </a:extLst>
          </p:cNvPr>
          <p:cNvSpPr>
            <a:spLocks noGrp="1"/>
          </p:cNvSpPr>
          <p:nvPr/>
        </p:nvSpPr>
        <p:spPr>
          <a:xfrm>
            <a:off x="1687046" y="2493645"/>
            <a:ext cx="119903" cy="83820"/>
          </a:xfrm>
          <a:prstGeom prst="line">
            <a:avLst/>
          </a:prstGeom>
          <a:noFill/>
          <a:ln w="16193">
            <a:solidFill>
              <a:srgbClr val="E69A54"/>
            </a:solidFill>
            <a:prstDash val="solid"/>
          </a:ln>
        </p:spPr>
      </p:sp>
      <p:sp>
        <p:nvSpPr>
          <p:cNvPr id="44" name="FIG3_FINE_HISTORY__WAVE_9">
            <a:extLst>
              <a:ext uri="{FF2B5EF4-FFF2-40B4-BE49-F238E27FC236}">
                <a16:creationId xmlns:a16="http://schemas.microsoft.com/office/drawing/2014/main" id="{94892020-2B64-4BA4-8D82-CD13EA8F5709}"/>
              </a:ext>
            </a:extLst>
          </p:cNvPr>
          <p:cNvSpPr>
            <a:spLocks noGrp="1"/>
          </p:cNvSpPr>
          <p:nvPr/>
        </p:nvSpPr>
        <p:spPr>
          <a:xfrm flipV="1">
            <a:off x="1806949" y="2451735"/>
            <a:ext cx="119903" cy="125730"/>
          </a:xfrm>
          <a:prstGeom prst="line">
            <a:avLst/>
          </a:prstGeom>
          <a:noFill/>
          <a:ln w="16193">
            <a:solidFill>
              <a:srgbClr val="E69A54"/>
            </a:solidFill>
            <a:prstDash val="solid"/>
          </a:ln>
        </p:spPr>
      </p:sp>
      <p:sp>
        <p:nvSpPr>
          <p:cNvPr id="45" name="FIG3_FINE_HISTORY__WAVE_10">
            <a:extLst>
              <a:ext uri="{FF2B5EF4-FFF2-40B4-BE49-F238E27FC236}">
                <a16:creationId xmlns:a16="http://schemas.microsoft.com/office/drawing/2014/main" id="{9715EFD3-0A38-456D-A5E3-91C55E8C6C0F}"/>
              </a:ext>
            </a:extLst>
          </p:cNvPr>
          <p:cNvSpPr>
            <a:spLocks noGrp="1"/>
          </p:cNvSpPr>
          <p:nvPr/>
        </p:nvSpPr>
        <p:spPr>
          <a:xfrm>
            <a:off x="1926851" y="2451735"/>
            <a:ext cx="119903" cy="167640"/>
          </a:xfrm>
          <a:prstGeom prst="line">
            <a:avLst/>
          </a:prstGeom>
          <a:noFill/>
          <a:ln w="16193">
            <a:solidFill>
              <a:srgbClr val="E69A54"/>
            </a:solidFill>
            <a:prstDash val="solid"/>
          </a:ln>
        </p:spPr>
      </p:sp>
      <p:sp>
        <p:nvSpPr>
          <p:cNvPr id="46" name="FIG3_FINE_HISTORY__WAVE_11">
            <a:extLst>
              <a:ext uri="{FF2B5EF4-FFF2-40B4-BE49-F238E27FC236}">
                <a16:creationId xmlns:a16="http://schemas.microsoft.com/office/drawing/2014/main" id="{2B978216-824E-44BC-8723-B7AE9672185A}"/>
              </a:ext>
            </a:extLst>
          </p:cNvPr>
          <p:cNvSpPr>
            <a:spLocks noGrp="1"/>
          </p:cNvSpPr>
          <p:nvPr/>
        </p:nvSpPr>
        <p:spPr>
          <a:xfrm flipV="1">
            <a:off x="2046754" y="2512695"/>
            <a:ext cx="119903" cy="106680"/>
          </a:xfrm>
          <a:prstGeom prst="line">
            <a:avLst/>
          </a:prstGeom>
          <a:noFill/>
          <a:ln w="16193">
            <a:solidFill>
              <a:srgbClr val="E69A54"/>
            </a:solidFill>
            <a:prstDash val="solid"/>
          </a:ln>
        </p:spPr>
      </p:sp>
      <p:sp>
        <p:nvSpPr>
          <p:cNvPr id="47" name="FIG3_FINE_HISTORY__WAVE_12">
            <a:extLst>
              <a:ext uri="{FF2B5EF4-FFF2-40B4-BE49-F238E27FC236}">
                <a16:creationId xmlns:a16="http://schemas.microsoft.com/office/drawing/2014/main" id="{F5B87C63-9F05-4BDA-A688-02DB8C53F0C0}"/>
              </a:ext>
            </a:extLst>
          </p:cNvPr>
          <p:cNvSpPr>
            <a:spLocks noGrp="1"/>
          </p:cNvSpPr>
          <p:nvPr/>
        </p:nvSpPr>
        <p:spPr>
          <a:xfrm flipV="1">
            <a:off x="2166657" y="2409825"/>
            <a:ext cx="119903" cy="102870"/>
          </a:xfrm>
          <a:prstGeom prst="line">
            <a:avLst/>
          </a:prstGeom>
          <a:noFill/>
          <a:ln w="16193">
            <a:solidFill>
              <a:srgbClr val="E69A54"/>
            </a:solidFill>
            <a:prstDash val="solid"/>
          </a:ln>
        </p:spPr>
      </p:sp>
      <p:sp>
        <p:nvSpPr>
          <p:cNvPr id="48" name="FIG3_FINE_HISTORY__WAVE_13">
            <a:extLst>
              <a:ext uri="{FF2B5EF4-FFF2-40B4-BE49-F238E27FC236}">
                <a16:creationId xmlns:a16="http://schemas.microsoft.com/office/drawing/2014/main" id="{0497AB7F-E218-4DBA-80D8-D65815E244BF}"/>
              </a:ext>
            </a:extLst>
          </p:cNvPr>
          <p:cNvSpPr>
            <a:spLocks noGrp="1"/>
          </p:cNvSpPr>
          <p:nvPr/>
        </p:nvSpPr>
        <p:spPr>
          <a:xfrm>
            <a:off x="2286560" y="2409825"/>
            <a:ext cx="119903" cy="152400"/>
          </a:xfrm>
          <a:prstGeom prst="line">
            <a:avLst/>
          </a:prstGeom>
          <a:noFill/>
          <a:ln w="16193">
            <a:solidFill>
              <a:srgbClr val="E69A54"/>
            </a:solidFill>
            <a:prstDash val="solid"/>
          </a:ln>
        </p:spPr>
      </p:sp>
      <p:sp>
        <p:nvSpPr>
          <p:cNvPr id="49" name="FIG3_FINE_HISTORY__WAVE_14">
            <a:extLst>
              <a:ext uri="{FF2B5EF4-FFF2-40B4-BE49-F238E27FC236}">
                <a16:creationId xmlns:a16="http://schemas.microsoft.com/office/drawing/2014/main" id="{CFFA4FCE-A210-4963-BFFC-2C603731AAC1}"/>
              </a:ext>
            </a:extLst>
          </p:cNvPr>
          <p:cNvSpPr>
            <a:spLocks noGrp="1"/>
          </p:cNvSpPr>
          <p:nvPr/>
        </p:nvSpPr>
        <p:spPr>
          <a:xfrm flipV="1">
            <a:off x="2406463" y="2470785"/>
            <a:ext cx="119903" cy="91440"/>
          </a:xfrm>
          <a:prstGeom prst="line">
            <a:avLst/>
          </a:prstGeom>
          <a:noFill/>
          <a:ln w="16193">
            <a:solidFill>
              <a:srgbClr val="E69A54"/>
            </a:solidFill>
            <a:prstDash val="solid"/>
          </a:ln>
        </p:spPr>
      </p:sp>
      <p:sp>
        <p:nvSpPr>
          <p:cNvPr id="50" name="FIG3_FINE_HISTORY__WAVE_15">
            <a:extLst>
              <a:ext uri="{FF2B5EF4-FFF2-40B4-BE49-F238E27FC236}">
                <a16:creationId xmlns:a16="http://schemas.microsoft.com/office/drawing/2014/main" id="{536060AC-52DE-46C6-ABF8-319D17ED50D2}"/>
              </a:ext>
            </a:extLst>
          </p:cNvPr>
          <p:cNvSpPr>
            <a:spLocks noGrp="1"/>
          </p:cNvSpPr>
          <p:nvPr/>
        </p:nvSpPr>
        <p:spPr>
          <a:xfrm>
            <a:off x="2526366" y="2470785"/>
            <a:ext cx="119903" cy="129540"/>
          </a:xfrm>
          <a:prstGeom prst="line">
            <a:avLst/>
          </a:prstGeom>
          <a:noFill/>
          <a:ln w="16193">
            <a:solidFill>
              <a:srgbClr val="E69A54"/>
            </a:solidFill>
            <a:prstDash val="solid"/>
          </a:ln>
        </p:spPr>
      </p:sp>
      <p:sp>
        <p:nvSpPr>
          <p:cNvPr id="51" name="FIG3_FINE_HISTORY__WAVE_16">
            <a:extLst>
              <a:ext uri="{FF2B5EF4-FFF2-40B4-BE49-F238E27FC236}">
                <a16:creationId xmlns:a16="http://schemas.microsoft.com/office/drawing/2014/main" id="{6C642DBD-3348-4233-AF38-C8EA7B12F7A1}"/>
              </a:ext>
            </a:extLst>
          </p:cNvPr>
          <p:cNvSpPr>
            <a:spLocks noGrp="1"/>
          </p:cNvSpPr>
          <p:nvPr/>
        </p:nvSpPr>
        <p:spPr>
          <a:xfrm flipV="1">
            <a:off x="2646269" y="2440305"/>
            <a:ext cx="119903" cy="160020"/>
          </a:xfrm>
          <a:prstGeom prst="line">
            <a:avLst/>
          </a:prstGeom>
          <a:noFill/>
          <a:ln w="16193">
            <a:solidFill>
              <a:srgbClr val="E69A54"/>
            </a:solidFill>
            <a:prstDash val="solid"/>
          </a:ln>
        </p:spPr>
      </p:sp>
      <p:sp>
        <p:nvSpPr>
          <p:cNvPr id="52" name="FIG3_FINE_HISTORY__WAVE_17">
            <a:extLst>
              <a:ext uri="{FF2B5EF4-FFF2-40B4-BE49-F238E27FC236}">
                <a16:creationId xmlns:a16="http://schemas.microsoft.com/office/drawing/2014/main" id="{82896999-29EE-4C38-B94F-B40B10291AAE}"/>
              </a:ext>
            </a:extLst>
          </p:cNvPr>
          <p:cNvSpPr>
            <a:spLocks noGrp="1"/>
          </p:cNvSpPr>
          <p:nvPr/>
        </p:nvSpPr>
        <p:spPr>
          <a:xfrm>
            <a:off x="2766172" y="2440305"/>
            <a:ext cx="119903" cy="95250"/>
          </a:xfrm>
          <a:prstGeom prst="line">
            <a:avLst/>
          </a:prstGeom>
          <a:noFill/>
          <a:ln w="16193">
            <a:solidFill>
              <a:srgbClr val="E69A54"/>
            </a:solidFill>
            <a:prstDash val="solid"/>
          </a:ln>
        </p:spPr>
      </p:sp>
      <p:sp>
        <p:nvSpPr>
          <p:cNvPr id="53" name="FIG3_FINE_HISTORY__RECENT_SHADE">
            <a:extLst>
              <a:ext uri="{FF2B5EF4-FFF2-40B4-BE49-F238E27FC236}">
                <a16:creationId xmlns:a16="http://schemas.microsoft.com/office/drawing/2014/main" id="{0C06637A-94FB-472E-9C55-4A63FD54C598}"/>
              </a:ext>
            </a:extLst>
          </p:cNvPr>
          <p:cNvSpPr>
            <a:spLocks noGrp="1"/>
          </p:cNvSpPr>
          <p:nvPr/>
        </p:nvSpPr>
        <p:spPr>
          <a:xfrm>
            <a:off x="2370773" y="2314575"/>
            <a:ext cx="547688" cy="419100"/>
          </a:xfrm>
          <a:prstGeom prst="roundRect">
            <a:avLst>
              <a:gd name="adj" fmla="val 11364"/>
            </a:avLst>
          </a:prstGeom>
          <a:solidFill>
            <a:srgbClr val="F9D8B7"/>
          </a:solidFill>
          <a:ln w="8573">
            <a:solidFill>
              <a:srgbClr val="E69A54"/>
            </a:solidFill>
            <a:prstDash val="solid"/>
          </a:ln>
        </p:spPr>
      </p:sp>
      <p:sp>
        <p:nvSpPr>
          <p:cNvPr id="54" name="FIG3_FINE_HISTORY__RECENT_WAVE_13">
            <a:extLst>
              <a:ext uri="{FF2B5EF4-FFF2-40B4-BE49-F238E27FC236}">
                <a16:creationId xmlns:a16="http://schemas.microsoft.com/office/drawing/2014/main" id="{AFC9C4D2-CA40-457F-A424-9ECC8ACA778C}"/>
              </a:ext>
            </a:extLst>
          </p:cNvPr>
          <p:cNvSpPr>
            <a:spLocks noGrp="1"/>
          </p:cNvSpPr>
          <p:nvPr/>
        </p:nvSpPr>
        <p:spPr>
          <a:xfrm>
            <a:off x="2286560" y="2409825"/>
            <a:ext cx="119903" cy="152400"/>
          </a:xfrm>
          <a:prstGeom prst="line">
            <a:avLst/>
          </a:prstGeom>
          <a:noFill/>
          <a:ln w="19050">
            <a:solidFill>
              <a:srgbClr val="E69A54"/>
            </a:solidFill>
            <a:prstDash val="solid"/>
          </a:ln>
        </p:spPr>
      </p:sp>
      <p:sp>
        <p:nvSpPr>
          <p:cNvPr id="55" name="FIG3_FINE_HISTORY__RECENT_WAVE_14">
            <a:extLst>
              <a:ext uri="{FF2B5EF4-FFF2-40B4-BE49-F238E27FC236}">
                <a16:creationId xmlns:a16="http://schemas.microsoft.com/office/drawing/2014/main" id="{5807F1EC-25E9-445B-AA4D-0B4474092770}"/>
              </a:ext>
            </a:extLst>
          </p:cNvPr>
          <p:cNvSpPr>
            <a:spLocks noGrp="1"/>
          </p:cNvSpPr>
          <p:nvPr/>
        </p:nvSpPr>
        <p:spPr>
          <a:xfrm flipV="1">
            <a:off x="2406463" y="2470785"/>
            <a:ext cx="119903" cy="91440"/>
          </a:xfrm>
          <a:prstGeom prst="line">
            <a:avLst/>
          </a:prstGeom>
          <a:noFill/>
          <a:ln w="19050">
            <a:solidFill>
              <a:srgbClr val="E69A54"/>
            </a:solidFill>
            <a:prstDash val="solid"/>
          </a:ln>
        </p:spPr>
      </p:sp>
      <p:sp>
        <p:nvSpPr>
          <p:cNvPr id="56" name="FIG3_FINE_HISTORY__RECENT_WAVE_15">
            <a:extLst>
              <a:ext uri="{FF2B5EF4-FFF2-40B4-BE49-F238E27FC236}">
                <a16:creationId xmlns:a16="http://schemas.microsoft.com/office/drawing/2014/main" id="{23710008-1E1B-4AE1-98C2-5FDFB670F3C2}"/>
              </a:ext>
            </a:extLst>
          </p:cNvPr>
          <p:cNvSpPr>
            <a:spLocks noGrp="1"/>
          </p:cNvSpPr>
          <p:nvPr/>
        </p:nvSpPr>
        <p:spPr>
          <a:xfrm>
            <a:off x="2526366" y="2470785"/>
            <a:ext cx="119903" cy="129540"/>
          </a:xfrm>
          <a:prstGeom prst="line">
            <a:avLst/>
          </a:prstGeom>
          <a:noFill/>
          <a:ln w="19050">
            <a:solidFill>
              <a:srgbClr val="E69A54"/>
            </a:solidFill>
            <a:prstDash val="solid"/>
          </a:ln>
        </p:spPr>
      </p:sp>
      <p:sp>
        <p:nvSpPr>
          <p:cNvPr id="57" name="FIG3_FINE_HISTORY__RECENT_WAVE_16">
            <a:extLst>
              <a:ext uri="{FF2B5EF4-FFF2-40B4-BE49-F238E27FC236}">
                <a16:creationId xmlns:a16="http://schemas.microsoft.com/office/drawing/2014/main" id="{A52103FB-D0D4-46F4-9423-F140EB898DD5}"/>
              </a:ext>
            </a:extLst>
          </p:cNvPr>
          <p:cNvSpPr>
            <a:spLocks noGrp="1"/>
          </p:cNvSpPr>
          <p:nvPr/>
        </p:nvSpPr>
        <p:spPr>
          <a:xfrm flipV="1">
            <a:off x="2646269" y="2440305"/>
            <a:ext cx="119903" cy="160020"/>
          </a:xfrm>
          <a:prstGeom prst="line">
            <a:avLst/>
          </a:prstGeom>
          <a:noFill/>
          <a:ln w="19050">
            <a:solidFill>
              <a:srgbClr val="E69A54"/>
            </a:solidFill>
            <a:prstDash val="solid"/>
          </a:ln>
        </p:spPr>
      </p:sp>
      <p:sp>
        <p:nvSpPr>
          <p:cNvPr id="58" name="FIG3_FINE_HISTORY__RECENT_WAVE_17">
            <a:extLst>
              <a:ext uri="{FF2B5EF4-FFF2-40B4-BE49-F238E27FC236}">
                <a16:creationId xmlns:a16="http://schemas.microsoft.com/office/drawing/2014/main" id="{709F658E-F9C7-4653-84B7-AFE89DDEBC3C}"/>
              </a:ext>
            </a:extLst>
          </p:cNvPr>
          <p:cNvSpPr>
            <a:spLocks noGrp="1"/>
          </p:cNvSpPr>
          <p:nvPr/>
        </p:nvSpPr>
        <p:spPr>
          <a:xfrm>
            <a:off x="2766172" y="2440305"/>
            <a:ext cx="119903" cy="95250"/>
          </a:xfrm>
          <a:prstGeom prst="line">
            <a:avLst/>
          </a:prstGeom>
          <a:noFill/>
          <a:ln w="19050">
            <a:solidFill>
              <a:srgbClr val="E69A54"/>
            </a:solidFill>
            <a:prstDash val="solid"/>
          </a:ln>
        </p:spPr>
      </p:sp>
      <p:sp>
        <p:nvSpPr>
          <p:cNvPr id="59" name="FIG3_FINE_HISTORY__LABEL">
            <a:extLst>
              <a:ext uri="{FF2B5EF4-FFF2-40B4-BE49-F238E27FC236}">
                <a16:creationId xmlns:a16="http://schemas.microsoft.com/office/drawing/2014/main" id="{58DA0A93-D05C-4629-9D00-9FA69D85C457}"/>
              </a:ext>
            </a:extLst>
          </p:cNvPr>
          <p:cNvSpPr>
            <a:spLocks noGrp="1"/>
          </p:cNvSpPr>
          <p:nvPr/>
        </p:nvSpPr>
        <p:spPr>
          <a:xfrm>
            <a:off x="885825" y="205740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77500" lnSpcReduction="20000"/>
          </a:bodyPr>
          <a:lstStyle/>
          <a:p>
            <a:pPr algn="l">
              <a:buNone/>
              <a:defRPr b="0" i="0">
                <a:solidFill>
                  <a:srgbClr val="E69A54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 i="0">
                <a:solidFill>
                  <a:srgbClr val="E69A54"/>
                </a:solidFill>
                <a:latin typeface="Times New Roman"/>
                <a:ea typeface="Times New Roman"/>
                <a:cs typeface="Times New Roman"/>
              </a:rPr>
              <a:t>Fine History</a:t>
            </a:r>
          </a:p>
        </p:txBody>
      </p:sp>
      <p:sp>
        <p:nvSpPr>
          <p:cNvPr id="60" name="FIG3_FINE_HISTORY__RECENT_LABEL">
            <a:extLst>
              <a:ext uri="{FF2B5EF4-FFF2-40B4-BE49-F238E27FC236}">
                <a16:creationId xmlns:a16="http://schemas.microsoft.com/office/drawing/2014/main" id="{A55DD52F-DF5F-4E85-81B5-4D456B664649}"/>
              </a:ext>
            </a:extLst>
          </p:cNvPr>
          <p:cNvSpPr>
            <a:spLocks noGrp="1"/>
          </p:cNvSpPr>
          <p:nvPr/>
        </p:nvSpPr>
        <p:spPr>
          <a:xfrm>
            <a:off x="2266950" y="2057400"/>
            <a:ext cx="781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63055" lnSpcReduction="20000"/>
          </a:bodyPr>
          <a:lstStyle/>
          <a:p>
            <a:pPr algn="ctr">
              <a:buNone/>
              <a:defRPr b="0" i="0">
                <a:solidFill>
                  <a:srgbClr val="E69A54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 i="0">
                <a:solidFill>
                  <a:srgbClr val="E69A54"/>
                </a:solidFill>
                <a:latin typeface="Times New Roman"/>
                <a:ea typeface="Times New Roman"/>
                <a:cs typeface="Times New Roman"/>
              </a:rPr>
              <a:t>Recent Fine</a:t>
            </a:r>
          </a:p>
        </p:txBody>
      </p:sp>
      <p:sp>
        <p:nvSpPr>
          <p:cNvPr id="61" name="FIG3_FINE_HISTORY__RECENT_META">
            <a:extLst>
              <a:ext uri="{FF2B5EF4-FFF2-40B4-BE49-F238E27FC236}">
                <a16:creationId xmlns:a16="http://schemas.microsoft.com/office/drawing/2014/main" id="{AFDC38CC-ED4F-4C1C-A51A-DC76D0A1E865}"/>
              </a:ext>
            </a:extLst>
          </p:cNvPr>
          <p:cNvSpPr>
            <a:spLocks noGrp="1"/>
          </p:cNvSpPr>
          <p:nvPr/>
        </p:nvSpPr>
        <p:spPr>
          <a:xfrm>
            <a:off x="2171700" y="2771775"/>
            <a:ext cx="895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63055" lnSpcReduction="20000"/>
          </a:bodyPr>
          <a:lstStyle/>
          <a:p>
            <a:pPr algn="ctr">
              <a:buNone/>
              <a:defRPr b="0" i="0">
                <a:solidFill>
                  <a:srgbClr val="5D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 i="0" dirty="0">
                <a:solidFill>
                  <a:srgbClr val="5D7280"/>
                </a:solidFill>
                <a:latin typeface="Times New Roman"/>
                <a:ea typeface="Times New Roman"/>
                <a:cs typeface="Times New Roman"/>
              </a:rPr>
              <a:t>24 steps ≈ 4 h</a:t>
            </a:r>
          </a:p>
        </p:txBody>
      </p:sp>
      <p:sp>
        <p:nvSpPr>
          <p:cNvPr id="62" name="FIG3_COARSE_HISTORY">
            <a:extLst>
              <a:ext uri="{FF2B5EF4-FFF2-40B4-BE49-F238E27FC236}">
                <a16:creationId xmlns:a16="http://schemas.microsoft.com/office/drawing/2014/main" id="{28D6BFA4-16C3-46FA-AFAE-EA8DCC6F4CE6}"/>
              </a:ext>
            </a:extLst>
          </p:cNvPr>
          <p:cNvSpPr>
            <a:spLocks noGrp="1"/>
          </p:cNvSpPr>
          <p:nvPr/>
        </p:nvSpPr>
        <p:spPr>
          <a:xfrm>
            <a:off x="6181725" y="2295525"/>
            <a:ext cx="2190750" cy="457200"/>
          </a:xfrm>
          <a:prstGeom prst="roundRect">
            <a:avLst>
              <a:gd name="adj" fmla="val 16667"/>
            </a:avLst>
          </a:prstGeom>
          <a:solidFill>
            <a:srgbClr val="E9F5F3"/>
          </a:solidFill>
          <a:ln w="10001">
            <a:solidFill>
              <a:srgbClr val="4F9A96"/>
            </a:solidFill>
            <a:prstDash val="solid"/>
          </a:ln>
        </p:spPr>
      </p:sp>
      <p:sp>
        <p:nvSpPr>
          <p:cNvPr id="63" name="FIG3_COARSE_HISTORY__WAVE_1">
            <a:extLst>
              <a:ext uri="{FF2B5EF4-FFF2-40B4-BE49-F238E27FC236}">
                <a16:creationId xmlns:a16="http://schemas.microsoft.com/office/drawing/2014/main" id="{87526293-39F5-4FDB-AFE4-82CE940CE0D8}"/>
              </a:ext>
            </a:extLst>
          </p:cNvPr>
          <p:cNvSpPr>
            <a:spLocks noGrp="1"/>
          </p:cNvSpPr>
          <p:nvPr/>
        </p:nvSpPr>
        <p:spPr>
          <a:xfrm flipV="1">
            <a:off x="6257925" y="2539365"/>
            <a:ext cx="135890" cy="34290"/>
          </a:xfrm>
          <a:prstGeom prst="line">
            <a:avLst/>
          </a:prstGeom>
          <a:noFill/>
          <a:ln w="19050">
            <a:solidFill>
              <a:srgbClr val="4F9A96"/>
            </a:solidFill>
            <a:prstDash val="solid"/>
          </a:ln>
        </p:spPr>
      </p:sp>
      <p:sp>
        <p:nvSpPr>
          <p:cNvPr id="64" name="FIG3_COARSE_HISTORY__WAVE_2">
            <a:extLst>
              <a:ext uri="{FF2B5EF4-FFF2-40B4-BE49-F238E27FC236}">
                <a16:creationId xmlns:a16="http://schemas.microsoft.com/office/drawing/2014/main" id="{C229E65F-997B-4896-8774-3DE694D04C93}"/>
              </a:ext>
            </a:extLst>
          </p:cNvPr>
          <p:cNvSpPr>
            <a:spLocks noGrp="1"/>
          </p:cNvSpPr>
          <p:nvPr/>
        </p:nvSpPr>
        <p:spPr>
          <a:xfrm flipV="1">
            <a:off x="6393815" y="2493645"/>
            <a:ext cx="135890" cy="45720"/>
          </a:xfrm>
          <a:prstGeom prst="line">
            <a:avLst/>
          </a:prstGeom>
          <a:noFill/>
          <a:ln w="19050">
            <a:solidFill>
              <a:srgbClr val="4F9A96"/>
            </a:solidFill>
            <a:prstDash val="solid"/>
          </a:ln>
        </p:spPr>
      </p:sp>
      <p:sp>
        <p:nvSpPr>
          <p:cNvPr id="65" name="FIG3_COARSE_HISTORY__WAVE_3">
            <a:extLst>
              <a:ext uri="{FF2B5EF4-FFF2-40B4-BE49-F238E27FC236}">
                <a16:creationId xmlns:a16="http://schemas.microsoft.com/office/drawing/2014/main" id="{4042D892-F76C-490D-AC3B-B33C1AF85222}"/>
              </a:ext>
            </a:extLst>
          </p:cNvPr>
          <p:cNvSpPr>
            <a:spLocks noGrp="1"/>
          </p:cNvSpPr>
          <p:nvPr/>
        </p:nvSpPr>
        <p:spPr>
          <a:xfrm flipV="1">
            <a:off x="6529705" y="2451735"/>
            <a:ext cx="135890" cy="41910"/>
          </a:xfrm>
          <a:prstGeom prst="line">
            <a:avLst/>
          </a:prstGeom>
          <a:noFill/>
          <a:ln w="19050">
            <a:solidFill>
              <a:srgbClr val="4F9A96"/>
            </a:solidFill>
            <a:prstDash val="solid"/>
          </a:ln>
        </p:spPr>
      </p:sp>
      <p:sp>
        <p:nvSpPr>
          <p:cNvPr id="66" name="FIG3_COARSE_HISTORY__WAVE_4">
            <a:extLst>
              <a:ext uri="{FF2B5EF4-FFF2-40B4-BE49-F238E27FC236}">
                <a16:creationId xmlns:a16="http://schemas.microsoft.com/office/drawing/2014/main" id="{B0E9F150-7C7B-48A8-A3E0-A371E85E9E1F}"/>
              </a:ext>
            </a:extLst>
          </p:cNvPr>
          <p:cNvSpPr>
            <a:spLocks noGrp="1"/>
          </p:cNvSpPr>
          <p:nvPr/>
        </p:nvSpPr>
        <p:spPr>
          <a:xfrm flipV="1">
            <a:off x="6665595" y="2440305"/>
            <a:ext cx="135890" cy="11430"/>
          </a:xfrm>
          <a:prstGeom prst="line">
            <a:avLst/>
          </a:prstGeom>
          <a:noFill/>
          <a:ln w="19050">
            <a:solidFill>
              <a:srgbClr val="4F9A96"/>
            </a:solidFill>
            <a:prstDash val="solid"/>
          </a:ln>
        </p:spPr>
      </p:sp>
      <p:sp>
        <p:nvSpPr>
          <p:cNvPr id="67" name="FIG3_COARSE_HISTORY__WAVE_5">
            <a:extLst>
              <a:ext uri="{FF2B5EF4-FFF2-40B4-BE49-F238E27FC236}">
                <a16:creationId xmlns:a16="http://schemas.microsoft.com/office/drawing/2014/main" id="{08CEC7B6-C919-4C69-B2A2-43686EFD605B}"/>
              </a:ext>
            </a:extLst>
          </p:cNvPr>
          <p:cNvSpPr>
            <a:spLocks noGrp="1"/>
          </p:cNvSpPr>
          <p:nvPr/>
        </p:nvSpPr>
        <p:spPr>
          <a:xfrm>
            <a:off x="6801485" y="2440305"/>
            <a:ext cx="135890" cy="30480"/>
          </a:xfrm>
          <a:prstGeom prst="line">
            <a:avLst/>
          </a:prstGeom>
          <a:noFill/>
          <a:ln w="19050">
            <a:solidFill>
              <a:srgbClr val="4F9A96"/>
            </a:solidFill>
            <a:prstDash val="solid"/>
          </a:ln>
        </p:spPr>
      </p:sp>
      <p:sp>
        <p:nvSpPr>
          <p:cNvPr id="68" name="FIG3_COARSE_HISTORY__WAVE_6">
            <a:extLst>
              <a:ext uri="{FF2B5EF4-FFF2-40B4-BE49-F238E27FC236}">
                <a16:creationId xmlns:a16="http://schemas.microsoft.com/office/drawing/2014/main" id="{BD882012-7A9C-48A2-A199-EC3342846CA4}"/>
              </a:ext>
            </a:extLst>
          </p:cNvPr>
          <p:cNvSpPr>
            <a:spLocks noGrp="1"/>
          </p:cNvSpPr>
          <p:nvPr/>
        </p:nvSpPr>
        <p:spPr>
          <a:xfrm>
            <a:off x="6937375" y="2470785"/>
            <a:ext cx="135890" cy="53340"/>
          </a:xfrm>
          <a:prstGeom prst="line">
            <a:avLst/>
          </a:prstGeom>
          <a:noFill/>
          <a:ln w="19050">
            <a:solidFill>
              <a:srgbClr val="4F9A96"/>
            </a:solidFill>
            <a:prstDash val="solid"/>
          </a:ln>
        </p:spPr>
      </p:sp>
      <p:sp>
        <p:nvSpPr>
          <p:cNvPr id="69" name="FIG3_COARSE_HISTORY__WAVE_7">
            <a:extLst>
              <a:ext uri="{FF2B5EF4-FFF2-40B4-BE49-F238E27FC236}">
                <a16:creationId xmlns:a16="http://schemas.microsoft.com/office/drawing/2014/main" id="{28E7084A-7586-4F32-BA7A-5F87DB7A467D}"/>
              </a:ext>
            </a:extLst>
          </p:cNvPr>
          <p:cNvSpPr>
            <a:spLocks noGrp="1"/>
          </p:cNvSpPr>
          <p:nvPr/>
        </p:nvSpPr>
        <p:spPr>
          <a:xfrm>
            <a:off x="7073265" y="2524125"/>
            <a:ext cx="135890" cy="34290"/>
          </a:xfrm>
          <a:prstGeom prst="line">
            <a:avLst/>
          </a:prstGeom>
          <a:noFill/>
          <a:ln w="19050">
            <a:solidFill>
              <a:srgbClr val="4F9A96"/>
            </a:solidFill>
            <a:prstDash val="solid"/>
          </a:ln>
        </p:spPr>
      </p:sp>
      <p:sp>
        <p:nvSpPr>
          <p:cNvPr id="70" name="FIG3_COARSE_HISTORY__WAVE_8">
            <a:extLst>
              <a:ext uri="{FF2B5EF4-FFF2-40B4-BE49-F238E27FC236}">
                <a16:creationId xmlns:a16="http://schemas.microsoft.com/office/drawing/2014/main" id="{67CBC556-A1EC-4E22-BDF9-59985A9A1989}"/>
              </a:ext>
            </a:extLst>
          </p:cNvPr>
          <p:cNvSpPr>
            <a:spLocks noGrp="1"/>
          </p:cNvSpPr>
          <p:nvPr/>
        </p:nvSpPr>
        <p:spPr>
          <a:xfrm flipV="1">
            <a:off x="7209155" y="2546985"/>
            <a:ext cx="135890" cy="11430"/>
          </a:xfrm>
          <a:prstGeom prst="line">
            <a:avLst/>
          </a:prstGeom>
          <a:noFill/>
          <a:ln w="19050">
            <a:solidFill>
              <a:srgbClr val="4F9A96"/>
            </a:solidFill>
            <a:prstDash val="solid"/>
          </a:ln>
        </p:spPr>
      </p:sp>
      <p:sp>
        <p:nvSpPr>
          <p:cNvPr id="71" name="FIG3_COARSE_HISTORY__WAVE_9">
            <a:extLst>
              <a:ext uri="{FF2B5EF4-FFF2-40B4-BE49-F238E27FC236}">
                <a16:creationId xmlns:a16="http://schemas.microsoft.com/office/drawing/2014/main" id="{44D9CBBE-183C-4442-BA13-2248194D6F8F}"/>
              </a:ext>
            </a:extLst>
          </p:cNvPr>
          <p:cNvSpPr>
            <a:spLocks noGrp="1"/>
          </p:cNvSpPr>
          <p:nvPr/>
        </p:nvSpPr>
        <p:spPr>
          <a:xfrm flipV="1">
            <a:off x="7345045" y="2501265"/>
            <a:ext cx="135890" cy="45720"/>
          </a:xfrm>
          <a:prstGeom prst="line">
            <a:avLst/>
          </a:prstGeom>
          <a:noFill/>
          <a:ln w="19050">
            <a:solidFill>
              <a:srgbClr val="4F9A96"/>
            </a:solidFill>
            <a:prstDash val="solid"/>
          </a:ln>
        </p:spPr>
      </p:sp>
      <p:sp>
        <p:nvSpPr>
          <p:cNvPr id="72" name="FIG3_COARSE_HISTORY__WAVE_10">
            <a:extLst>
              <a:ext uri="{FF2B5EF4-FFF2-40B4-BE49-F238E27FC236}">
                <a16:creationId xmlns:a16="http://schemas.microsoft.com/office/drawing/2014/main" id="{1240851A-3407-46A4-A382-41327EA1A5C6}"/>
              </a:ext>
            </a:extLst>
          </p:cNvPr>
          <p:cNvSpPr>
            <a:spLocks noGrp="1"/>
          </p:cNvSpPr>
          <p:nvPr/>
        </p:nvSpPr>
        <p:spPr>
          <a:xfrm flipV="1">
            <a:off x="7480935" y="2455545"/>
            <a:ext cx="135890" cy="45720"/>
          </a:xfrm>
          <a:prstGeom prst="line">
            <a:avLst/>
          </a:prstGeom>
          <a:noFill/>
          <a:ln w="19050">
            <a:solidFill>
              <a:srgbClr val="4F9A96"/>
            </a:solidFill>
            <a:prstDash val="solid"/>
          </a:ln>
        </p:spPr>
      </p:sp>
      <p:sp>
        <p:nvSpPr>
          <p:cNvPr id="73" name="FIG3_COARSE_HISTORY__WAVE_11">
            <a:extLst>
              <a:ext uri="{FF2B5EF4-FFF2-40B4-BE49-F238E27FC236}">
                <a16:creationId xmlns:a16="http://schemas.microsoft.com/office/drawing/2014/main" id="{68757B3B-9596-44C0-81CB-5EAEC4600686}"/>
              </a:ext>
            </a:extLst>
          </p:cNvPr>
          <p:cNvSpPr>
            <a:spLocks noGrp="1"/>
          </p:cNvSpPr>
          <p:nvPr/>
        </p:nvSpPr>
        <p:spPr>
          <a:xfrm flipV="1">
            <a:off x="7616825" y="2436495"/>
            <a:ext cx="135890" cy="19050"/>
          </a:xfrm>
          <a:prstGeom prst="line">
            <a:avLst/>
          </a:prstGeom>
          <a:noFill/>
          <a:ln w="19050">
            <a:solidFill>
              <a:srgbClr val="4F9A96"/>
            </a:solidFill>
            <a:prstDash val="solid"/>
          </a:ln>
        </p:spPr>
      </p:sp>
      <p:sp>
        <p:nvSpPr>
          <p:cNvPr id="74" name="FIG3_COARSE_HISTORY__WAVE_12">
            <a:extLst>
              <a:ext uri="{FF2B5EF4-FFF2-40B4-BE49-F238E27FC236}">
                <a16:creationId xmlns:a16="http://schemas.microsoft.com/office/drawing/2014/main" id="{6043EC1F-73EE-42A7-AA3C-4E010AE34B2C}"/>
              </a:ext>
            </a:extLst>
          </p:cNvPr>
          <p:cNvSpPr>
            <a:spLocks noGrp="1"/>
          </p:cNvSpPr>
          <p:nvPr/>
        </p:nvSpPr>
        <p:spPr>
          <a:xfrm>
            <a:off x="7752715" y="2436495"/>
            <a:ext cx="135890" cy="26670"/>
          </a:xfrm>
          <a:prstGeom prst="line">
            <a:avLst/>
          </a:prstGeom>
          <a:noFill/>
          <a:ln w="19050">
            <a:solidFill>
              <a:srgbClr val="4F9A96"/>
            </a:solidFill>
            <a:prstDash val="solid"/>
          </a:ln>
        </p:spPr>
      </p:sp>
      <p:sp>
        <p:nvSpPr>
          <p:cNvPr id="75" name="FIG3_COARSE_HISTORY__WAVE_13">
            <a:extLst>
              <a:ext uri="{FF2B5EF4-FFF2-40B4-BE49-F238E27FC236}">
                <a16:creationId xmlns:a16="http://schemas.microsoft.com/office/drawing/2014/main" id="{1C554F08-ABA9-4601-B14B-323019573CA5}"/>
              </a:ext>
            </a:extLst>
          </p:cNvPr>
          <p:cNvSpPr>
            <a:spLocks noGrp="1"/>
          </p:cNvSpPr>
          <p:nvPr/>
        </p:nvSpPr>
        <p:spPr>
          <a:xfrm>
            <a:off x="7888605" y="2463165"/>
            <a:ext cx="135890" cy="53340"/>
          </a:xfrm>
          <a:prstGeom prst="line">
            <a:avLst/>
          </a:prstGeom>
          <a:noFill/>
          <a:ln w="19050">
            <a:solidFill>
              <a:srgbClr val="4F9A96"/>
            </a:solidFill>
            <a:prstDash val="solid"/>
          </a:ln>
        </p:spPr>
      </p:sp>
      <p:sp>
        <p:nvSpPr>
          <p:cNvPr id="76" name="FIG3_COARSE_HISTORY__WAVE_14">
            <a:extLst>
              <a:ext uri="{FF2B5EF4-FFF2-40B4-BE49-F238E27FC236}">
                <a16:creationId xmlns:a16="http://schemas.microsoft.com/office/drawing/2014/main" id="{F9DD727B-12E2-43AE-B28B-16E977A533EE}"/>
              </a:ext>
            </a:extLst>
          </p:cNvPr>
          <p:cNvSpPr>
            <a:spLocks noGrp="1"/>
          </p:cNvSpPr>
          <p:nvPr/>
        </p:nvSpPr>
        <p:spPr>
          <a:xfrm>
            <a:off x="8024495" y="2516505"/>
            <a:ext cx="135890" cy="38100"/>
          </a:xfrm>
          <a:prstGeom prst="line">
            <a:avLst/>
          </a:prstGeom>
          <a:noFill/>
          <a:ln w="19050">
            <a:solidFill>
              <a:srgbClr val="4F9A96"/>
            </a:solidFill>
            <a:prstDash val="solid"/>
          </a:ln>
        </p:spPr>
      </p:sp>
      <p:sp>
        <p:nvSpPr>
          <p:cNvPr id="77" name="FIG3_COARSE_HISTORY__WAVE_15">
            <a:extLst>
              <a:ext uri="{FF2B5EF4-FFF2-40B4-BE49-F238E27FC236}">
                <a16:creationId xmlns:a16="http://schemas.microsoft.com/office/drawing/2014/main" id="{DA44F81C-5E8F-4FB1-B2CD-23E483204D8F}"/>
              </a:ext>
            </a:extLst>
          </p:cNvPr>
          <p:cNvSpPr>
            <a:spLocks noGrp="1"/>
          </p:cNvSpPr>
          <p:nvPr/>
        </p:nvSpPr>
        <p:spPr>
          <a:xfrm flipV="1">
            <a:off x="8160385" y="2531745"/>
            <a:ext cx="135890" cy="22860"/>
          </a:xfrm>
          <a:prstGeom prst="line">
            <a:avLst/>
          </a:prstGeom>
          <a:noFill/>
          <a:ln w="19050">
            <a:solidFill>
              <a:srgbClr val="4F9A96"/>
            </a:solidFill>
            <a:prstDash val="solid"/>
          </a:ln>
        </p:spPr>
      </p:sp>
      <p:sp>
        <p:nvSpPr>
          <p:cNvPr id="78" name="FIG3_COARSE_HISTORY__LABEL">
            <a:extLst>
              <a:ext uri="{FF2B5EF4-FFF2-40B4-BE49-F238E27FC236}">
                <a16:creationId xmlns:a16="http://schemas.microsoft.com/office/drawing/2014/main" id="{117F3FCB-FCC1-43C3-9A1A-A36F7C05F3B6}"/>
              </a:ext>
            </a:extLst>
          </p:cNvPr>
          <p:cNvSpPr>
            <a:spLocks noGrp="1"/>
          </p:cNvSpPr>
          <p:nvPr/>
        </p:nvSpPr>
        <p:spPr>
          <a:xfrm>
            <a:off x="6800850" y="205740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77500" lnSpcReduction="20000"/>
          </a:bodyPr>
          <a:lstStyle/>
          <a:p>
            <a:pPr algn="ctr">
              <a:buNone/>
              <a:defRPr b="0" i="0">
                <a:solidFill>
                  <a:srgbClr val="4F9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 i="0">
                <a:solidFill>
                  <a:srgbClr val="4F9A96"/>
                </a:solidFill>
                <a:latin typeface="Times New Roman"/>
                <a:ea typeface="Times New Roman"/>
                <a:cs typeface="Times New Roman"/>
              </a:rPr>
              <a:t>Coarse History</a:t>
            </a:r>
          </a:p>
        </p:txBody>
      </p:sp>
      <p:sp>
        <p:nvSpPr>
          <p:cNvPr id="79" name="FIG3_ATTN_MACRO_FINE">
            <a:extLst>
              <a:ext uri="{FF2B5EF4-FFF2-40B4-BE49-F238E27FC236}">
                <a16:creationId xmlns:a16="http://schemas.microsoft.com/office/drawing/2014/main" id="{488205FD-1273-46EC-99B9-DCCB04379F8E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590550" cy="5905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367B2"/>
            </a:solidFill>
            <a:prstDash val="solid"/>
          </a:ln>
        </p:spPr>
        <p:txBody>
          <a:bodyPr wrap="none" lIns="19050" tIns="9525" rIns="19050" bIns="9525" anchor="ctr">
            <a:normAutofit fontScale="93698"/>
          </a:bodyPr>
          <a:lstStyle/>
          <a:p>
            <a:pPr algn="ctr">
              <a:buNone/>
              <a:defRPr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Attn</a:t>
            </a:r>
          </a:p>
        </p:txBody>
      </p:sp>
      <p:sp>
        <p:nvSpPr>
          <p:cNvPr id="80" name="FIG3_ATTN_FINE_COARSE">
            <a:extLst>
              <a:ext uri="{FF2B5EF4-FFF2-40B4-BE49-F238E27FC236}">
                <a16:creationId xmlns:a16="http://schemas.microsoft.com/office/drawing/2014/main" id="{DEDC16F4-F643-40E9-BDF0-B8CDA0D34FCD}"/>
              </a:ext>
            </a:extLst>
          </p:cNvPr>
          <p:cNvSpPr>
            <a:spLocks noGrp="1"/>
          </p:cNvSpPr>
          <p:nvPr/>
        </p:nvSpPr>
        <p:spPr>
          <a:xfrm>
            <a:off x="5219700" y="2724150"/>
            <a:ext cx="590550" cy="5905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367B2"/>
            </a:solidFill>
            <a:prstDash val="solid"/>
          </a:ln>
        </p:spPr>
        <p:txBody>
          <a:bodyPr wrap="none" lIns="19050" tIns="9525" rIns="19050" bIns="9525" anchor="ctr">
            <a:normAutofit fontScale="93698"/>
          </a:bodyPr>
          <a:lstStyle/>
          <a:p>
            <a:pPr algn="ctr">
              <a:buNone/>
              <a:defRPr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Attn</a:t>
            </a:r>
          </a:p>
        </p:txBody>
      </p:sp>
      <p:sp>
        <p:nvSpPr>
          <p:cNvPr id="81" name="FIG3_ATTN_MACRO_FINE__Q">
            <a:extLst>
              <a:ext uri="{FF2B5EF4-FFF2-40B4-BE49-F238E27FC236}">
                <a16:creationId xmlns:a16="http://schemas.microsoft.com/office/drawing/2014/main" id="{45F5EE04-995E-4121-9A04-063D5924245E}"/>
              </a:ext>
            </a:extLst>
          </p:cNvPr>
          <p:cNvSpPr>
            <a:spLocks noGrp="1"/>
          </p:cNvSpPr>
          <p:nvPr/>
        </p:nvSpPr>
        <p:spPr>
          <a:xfrm>
            <a:off x="3322320" y="2771775"/>
            <a:ext cx="190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59583" lnSpcReduction="20000"/>
          </a:bodyPr>
          <a:lstStyle/>
          <a:p>
            <a:pPr algn="ctr">
              <a:buNone/>
              <a:defRPr b="1" i="0">
                <a:solidFill>
                  <a:srgbClr val="E69A54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 i="0">
                <a:solidFill>
                  <a:srgbClr val="E69A54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82" name="FIG3_ATTN_MACRO_FINE__KV">
            <a:extLst>
              <a:ext uri="{FF2B5EF4-FFF2-40B4-BE49-F238E27FC236}">
                <a16:creationId xmlns:a16="http://schemas.microsoft.com/office/drawing/2014/main" id="{5E8DEE79-FA30-419B-A192-0C6F5AF12D4F}"/>
              </a:ext>
            </a:extLst>
          </p:cNvPr>
          <p:cNvSpPr>
            <a:spLocks noGrp="1"/>
          </p:cNvSpPr>
          <p:nvPr/>
        </p:nvSpPr>
        <p:spPr>
          <a:xfrm>
            <a:off x="3771900" y="2552700"/>
            <a:ext cx="3238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59583" lnSpcReduction="20000"/>
          </a:bodyPr>
          <a:lstStyle/>
          <a:p>
            <a:pPr algn="ctr">
              <a:buNone/>
              <a:defRPr b="1" i="0">
                <a:solidFill>
                  <a:srgbClr val="8367B2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 i="0">
                <a:solidFill>
                  <a:srgbClr val="8367B2"/>
                </a:solidFill>
                <a:latin typeface="Times New Roman"/>
                <a:ea typeface="Times New Roman"/>
                <a:cs typeface="Times New Roman"/>
              </a:rPr>
              <a:t>K,V</a:t>
            </a:r>
          </a:p>
        </p:txBody>
      </p:sp>
      <p:sp>
        <p:nvSpPr>
          <p:cNvPr id="83" name="FIG3_ATTN_FINE_COARSE__Q">
            <a:extLst>
              <a:ext uri="{FF2B5EF4-FFF2-40B4-BE49-F238E27FC236}">
                <a16:creationId xmlns:a16="http://schemas.microsoft.com/office/drawing/2014/main" id="{259ADCC8-FC0B-4F40-9EF5-35E97E4E3CAE}"/>
              </a:ext>
            </a:extLst>
          </p:cNvPr>
          <p:cNvSpPr>
            <a:spLocks noGrp="1"/>
          </p:cNvSpPr>
          <p:nvPr/>
        </p:nvSpPr>
        <p:spPr>
          <a:xfrm>
            <a:off x="5863590" y="2872740"/>
            <a:ext cx="190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59583" lnSpcReduction="20000"/>
          </a:bodyPr>
          <a:lstStyle/>
          <a:p>
            <a:pPr algn="ctr">
              <a:buNone/>
              <a:defRPr b="1" i="0">
                <a:solidFill>
                  <a:srgbClr val="4F9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 i="0">
                <a:solidFill>
                  <a:srgbClr val="4F9A96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84" name="FIG3_ATTN_FINE_COARSE__KV">
            <a:extLst>
              <a:ext uri="{FF2B5EF4-FFF2-40B4-BE49-F238E27FC236}">
                <a16:creationId xmlns:a16="http://schemas.microsoft.com/office/drawing/2014/main" id="{5ED75468-914A-4DDB-B90E-1F17979D78C6}"/>
              </a:ext>
            </a:extLst>
          </p:cNvPr>
          <p:cNvSpPr>
            <a:spLocks noGrp="1"/>
          </p:cNvSpPr>
          <p:nvPr/>
        </p:nvSpPr>
        <p:spPr>
          <a:xfrm>
            <a:off x="4933950" y="2552700"/>
            <a:ext cx="3238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59583" lnSpcReduction="20000"/>
          </a:bodyPr>
          <a:lstStyle/>
          <a:p>
            <a:pPr algn="ctr">
              <a:buNone/>
              <a:defRPr b="1" i="0">
                <a:solidFill>
                  <a:srgbClr val="E69A54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 i="0">
                <a:solidFill>
                  <a:srgbClr val="E69A54"/>
                </a:solidFill>
                <a:latin typeface="Times New Roman"/>
                <a:ea typeface="Times New Roman"/>
                <a:cs typeface="Times New Roman"/>
              </a:rPr>
              <a:t>K,V</a:t>
            </a:r>
          </a:p>
        </p:txBody>
      </p:sp>
      <p:sp>
        <p:nvSpPr>
          <p:cNvPr id="85" name="FIG3_ATTN_MACRO_FINE__LEGEND">
            <a:extLst>
              <a:ext uri="{FF2B5EF4-FFF2-40B4-BE49-F238E27FC236}">
                <a16:creationId xmlns:a16="http://schemas.microsoft.com/office/drawing/2014/main" id="{0F917AEB-5BB2-4099-B34A-00A13D5BCC4B}"/>
              </a:ext>
            </a:extLst>
          </p:cNvPr>
          <p:cNvSpPr>
            <a:spLocks noGrp="1"/>
          </p:cNvSpPr>
          <p:nvPr/>
        </p:nvSpPr>
        <p:spPr>
          <a:xfrm>
            <a:off x="2705100" y="3364865"/>
            <a:ext cx="1428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56111" lnSpcReduction="20000"/>
          </a:bodyPr>
          <a:lstStyle/>
          <a:p>
            <a:pPr algn="ctr">
              <a:buNone/>
              <a:defRPr b="0" i="0">
                <a:solidFill>
                  <a:srgbClr val="5D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 i="0" dirty="0">
                <a:solidFill>
                  <a:srgbClr val="5D7280"/>
                </a:solidFill>
                <a:latin typeface="Times New Roman"/>
                <a:ea typeface="Times New Roman"/>
                <a:cs typeface="Times New Roman"/>
              </a:rPr>
              <a:t>Q: Fine · K,V: Macro</a:t>
            </a:r>
          </a:p>
        </p:txBody>
      </p:sp>
      <p:sp>
        <p:nvSpPr>
          <p:cNvPr id="86" name="FIG3_ATTN_FINE_COARSE__LEGEND">
            <a:extLst>
              <a:ext uri="{FF2B5EF4-FFF2-40B4-BE49-F238E27FC236}">
                <a16:creationId xmlns:a16="http://schemas.microsoft.com/office/drawing/2014/main" id="{A6B0AF09-ED78-4D0A-8F0F-233E2AED89CC}"/>
              </a:ext>
            </a:extLst>
          </p:cNvPr>
          <p:cNvSpPr>
            <a:spLocks noGrp="1"/>
          </p:cNvSpPr>
          <p:nvPr/>
        </p:nvSpPr>
        <p:spPr>
          <a:xfrm>
            <a:off x="5162550" y="3380105"/>
            <a:ext cx="1581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56111" lnSpcReduction="20000"/>
          </a:bodyPr>
          <a:lstStyle/>
          <a:p>
            <a:pPr algn="ctr">
              <a:buNone/>
              <a:defRPr b="0" i="0">
                <a:solidFill>
                  <a:srgbClr val="5D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 i="0" dirty="0">
                <a:solidFill>
                  <a:srgbClr val="5D7280"/>
                </a:solidFill>
                <a:latin typeface="Times New Roman"/>
                <a:ea typeface="Times New Roman"/>
                <a:cs typeface="Times New Roman"/>
              </a:rPr>
              <a:t>Q: Coarse · K,V: Recent Fine</a:t>
            </a:r>
          </a:p>
        </p:txBody>
      </p:sp>
      <p:cxnSp>
        <p:nvCxnSpPr>
          <p:cNvPr id="493" name="直接箭头连接符 224"/>
          <p:cNvCxnSpPr>
            <a:stCxn id="35" idx="3"/>
            <a:endCxn id="79" idx="2"/>
          </p:cNvCxnSpPr>
          <p:nvPr/>
        </p:nvCxnSpPr>
        <p:spPr>
          <a:xfrm>
            <a:off x="2962275" y="2524125"/>
            <a:ext cx="523875" cy="495300"/>
          </a:xfrm>
          <a:prstGeom prst="straightConnector1">
            <a:avLst/>
          </a:prstGeom>
          <a:ln w="16193">
            <a:solidFill>
              <a:srgbClr val="E69A5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94" name="连接符: 肘形 225"/>
          <p:cNvCxnSpPr>
            <a:stCxn id="26" idx="2"/>
            <a:endCxn id="79" idx="0"/>
          </p:cNvCxnSpPr>
          <p:nvPr/>
        </p:nvCxnSpPr>
        <p:spPr>
          <a:xfrm flipH="1">
            <a:off x="3781425" y="1314450"/>
            <a:ext cx="1219200" cy="1409700"/>
          </a:xfrm>
          <a:prstGeom prst="bentConnector4">
            <a:avLst>
              <a:gd name="adj1" fmla="val 0"/>
              <a:gd name="adj2" fmla="val 50000"/>
            </a:avLst>
          </a:prstGeom>
          <a:ln w="16193">
            <a:solidFill>
              <a:srgbClr val="8367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95" name="直接箭头连接符 226"/>
          <p:cNvCxnSpPr>
            <a:stCxn id="62" idx="1"/>
            <a:endCxn id="80" idx="6"/>
          </p:cNvCxnSpPr>
          <p:nvPr/>
        </p:nvCxnSpPr>
        <p:spPr>
          <a:xfrm flipH="1">
            <a:off x="5810250" y="2524125"/>
            <a:ext cx="371475" cy="495300"/>
          </a:xfrm>
          <a:prstGeom prst="straightConnector1">
            <a:avLst/>
          </a:prstGeom>
          <a:ln w="16193">
            <a:solidFill>
              <a:srgbClr val="4F9A9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96" name="连接符: 曲线 227"/>
          <p:cNvCxnSpPr>
            <a:stCxn id="35" idx="3"/>
            <a:endCxn id="80" idx="2"/>
          </p:cNvCxnSpPr>
          <p:nvPr/>
        </p:nvCxnSpPr>
        <p:spPr>
          <a:xfrm>
            <a:off x="2962275" y="2438400"/>
            <a:ext cx="2257425" cy="581025"/>
          </a:xfrm>
          <a:prstGeom prst="curvedConnector4">
            <a:avLst/>
          </a:prstGeom>
          <a:ln w="13811">
            <a:solidFill>
              <a:srgbClr val="E69A5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91" name="FIG3_GATE">
            <a:extLst>
              <a:ext uri="{FF2B5EF4-FFF2-40B4-BE49-F238E27FC236}">
                <a16:creationId xmlns:a16="http://schemas.microsoft.com/office/drawing/2014/main" id="{59469C68-AA33-46C1-BBC8-5293CA8C1765}"/>
              </a:ext>
            </a:extLst>
          </p:cNvPr>
          <p:cNvSpPr>
            <a:spLocks noGrp="1"/>
          </p:cNvSpPr>
          <p:nvPr/>
        </p:nvSpPr>
        <p:spPr>
          <a:xfrm>
            <a:off x="4362450" y="3495675"/>
            <a:ext cx="571500" cy="400050"/>
          </a:xfrm>
          <a:prstGeom prst="diamond">
            <a:avLst/>
          </a:prstGeom>
          <a:solidFill>
            <a:srgbClr val="F3EEF9"/>
          </a:solidFill>
          <a:ln w="13335">
            <a:solidFill>
              <a:srgbClr val="8367B2"/>
            </a:solidFill>
            <a:prstDash val="solid"/>
          </a:ln>
        </p:spPr>
        <p:txBody>
          <a:bodyPr wrap="none" lIns="19050" tIns="9525" rIns="19050" bIns="9525" anchor="ctr">
            <a:normAutofit fontScale="73472" lnSpcReduction="20000"/>
          </a:bodyPr>
          <a:lstStyle/>
          <a:p>
            <a:pPr algn="ctr">
              <a:buNone/>
              <a:defRPr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 i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cxnSp>
        <p:nvCxnSpPr>
          <p:cNvPr id="498" name="直接箭头连接符 229"/>
          <p:cNvCxnSpPr>
            <a:stCxn id="79" idx="4"/>
            <a:endCxn id="91" idx="0"/>
          </p:cNvCxnSpPr>
          <p:nvPr/>
        </p:nvCxnSpPr>
        <p:spPr>
          <a:xfrm>
            <a:off x="3781425" y="3314700"/>
            <a:ext cx="866775" cy="180975"/>
          </a:xfrm>
          <a:prstGeom prst="straightConnector1">
            <a:avLst/>
          </a:prstGeom>
          <a:ln w="15240">
            <a:solidFill>
              <a:srgbClr val="8367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99" name="直接箭头连接符 230"/>
          <p:cNvCxnSpPr>
            <a:stCxn id="80" idx="4"/>
            <a:endCxn id="91" idx="0"/>
          </p:cNvCxnSpPr>
          <p:nvPr/>
        </p:nvCxnSpPr>
        <p:spPr>
          <a:xfrm flipH="1">
            <a:off x="4648200" y="3314700"/>
            <a:ext cx="866775" cy="180975"/>
          </a:xfrm>
          <a:prstGeom prst="straightConnector1">
            <a:avLst/>
          </a:prstGeom>
          <a:ln w="15240">
            <a:solidFill>
              <a:srgbClr val="8367B2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94" name="FIG3_UPDATED_FINE">
            <a:extLst>
              <a:ext uri="{FF2B5EF4-FFF2-40B4-BE49-F238E27FC236}">
                <a16:creationId xmlns:a16="http://schemas.microsoft.com/office/drawing/2014/main" id="{03C424F7-D39F-45B6-B676-50F4BCE68880}"/>
              </a:ext>
            </a:extLst>
          </p:cNvPr>
          <p:cNvSpPr>
            <a:spLocks noGrp="1"/>
          </p:cNvSpPr>
          <p:nvPr/>
        </p:nvSpPr>
        <p:spPr>
          <a:xfrm>
            <a:off x="1676400" y="4305300"/>
            <a:ext cx="2286000" cy="542925"/>
          </a:xfrm>
          <a:prstGeom prst="roundRect">
            <a:avLst>
              <a:gd name="adj" fmla="val 14035"/>
            </a:avLst>
          </a:prstGeom>
          <a:solidFill>
            <a:srgbClr val="FFF1E3"/>
          </a:solidFill>
          <a:ln w="10001">
            <a:solidFill>
              <a:srgbClr val="E69A54"/>
            </a:solidFill>
            <a:prstDash val="solid"/>
          </a:ln>
        </p:spPr>
      </p:sp>
      <p:sp>
        <p:nvSpPr>
          <p:cNvPr id="95" name="FIG3_UPDATED_FINE__LABEL">
            <a:extLst>
              <a:ext uri="{FF2B5EF4-FFF2-40B4-BE49-F238E27FC236}">
                <a16:creationId xmlns:a16="http://schemas.microsoft.com/office/drawing/2014/main" id="{EDAAC6B3-7B09-410D-B06D-743443882FEA}"/>
              </a:ext>
            </a:extLst>
          </p:cNvPr>
          <p:cNvSpPr>
            <a:spLocks noGrp="1"/>
          </p:cNvSpPr>
          <p:nvPr/>
        </p:nvSpPr>
        <p:spPr>
          <a:xfrm>
            <a:off x="1752600" y="4333875"/>
            <a:ext cx="11620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59583" lnSpcReduction="20000"/>
          </a:bodyPr>
          <a:lstStyle/>
          <a:p>
            <a:pPr algn="l">
              <a:buNone/>
              <a:defRPr b="0" i="0">
                <a:solidFill>
                  <a:srgbClr val="E69A54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 i="0" dirty="0">
                <a:solidFill>
                  <a:srgbClr val="E69A54"/>
                </a:solidFill>
                <a:latin typeface="Times New Roman"/>
                <a:ea typeface="Times New Roman"/>
                <a:cs typeface="Times New Roman"/>
              </a:rPr>
              <a:t>Updated Fine</a:t>
            </a:r>
          </a:p>
        </p:txBody>
      </p:sp>
      <p:sp>
        <p:nvSpPr>
          <p:cNvPr id="96" name="FIG3_UPDATED_FINE__STATE">
            <a:extLst>
              <a:ext uri="{FF2B5EF4-FFF2-40B4-BE49-F238E27FC236}">
                <a16:creationId xmlns:a16="http://schemas.microsoft.com/office/drawing/2014/main" id="{3077092A-9AFE-49AD-9A09-61E8365C33D3}"/>
              </a:ext>
            </a:extLst>
          </p:cNvPr>
          <p:cNvSpPr>
            <a:spLocks noGrp="1"/>
          </p:cNvSpPr>
          <p:nvPr/>
        </p:nvSpPr>
        <p:spPr>
          <a:xfrm>
            <a:off x="1783080" y="4480687"/>
            <a:ext cx="2133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>
              <a:defRPr sz="788" b="0" i="0">
                <a:solidFill>
                  <a:srgbClr val="D783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 dirty="0">
                <a:solidFill>
                  <a:srgbClr val="D7833D"/>
                </a:solidFill>
                <a:latin typeface="Times New Roman"/>
                <a:ea typeface="Times New Roman"/>
                <a:cs typeface="Times New Roman"/>
              </a:rPr>
              <a:t>H</a:t>
            </a:r>
            <a:r>
              <a:rPr sz="500" b="0" i="1" dirty="0">
                <a:solidFill>
                  <a:srgbClr val="D7833D"/>
                </a:solidFill>
                <a:latin typeface="Times New Roman"/>
                <a:ea typeface="Times New Roman"/>
                <a:cs typeface="Times New Roman"/>
              </a:rPr>
              <a:t>f</a:t>
            </a:r>
            <a:r>
              <a:rPr lang="en-US" sz="600" b="0" i="1" dirty="0">
                <a:solidFill>
                  <a:srgbClr val="D7833D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88" b="0" i="0" dirty="0">
                <a:solidFill>
                  <a:srgbClr val="D7833D"/>
                </a:solidFill>
                <a:latin typeface="Times New Roman"/>
                <a:ea typeface="Times New Roman"/>
                <a:cs typeface="Times New Roman"/>
              </a:rPr>
              <a:t>′ </a:t>
            </a:r>
            <a:r>
              <a:rPr sz="900" b="0" i="0" dirty="0">
                <a:solidFill>
                  <a:srgbClr val="D7833D"/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 sz="788" b="0" i="0" dirty="0">
                <a:solidFill>
                  <a:srgbClr val="D7833D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b="0" i="1" dirty="0" err="1">
                <a:solidFill>
                  <a:srgbClr val="D7833D"/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lang="en-US" altLang="zh-CN" sz="500" i="1" dirty="0" err="1">
                <a:solidFill>
                  <a:srgbClr val="D7833D"/>
                </a:solidFill>
                <a:latin typeface="Times New Roman"/>
                <a:ea typeface="Times New Roman"/>
                <a:cs typeface="Times New Roman"/>
              </a:rPr>
              <a:t>f</a:t>
            </a:r>
            <a:r>
              <a:rPr lang="en-US" altLang="zh-CN" sz="500" dirty="0">
                <a:solidFill>
                  <a:srgbClr val="D7833D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b="0" i="0" dirty="0">
                <a:solidFill>
                  <a:srgbClr val="D7833D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lang="en-US" altLang="zh-CN" sz="900" dirty="0">
                <a:solidFill>
                  <a:srgbClr val="D7833D"/>
                </a:solidFill>
                <a:latin typeface="Times New Roman"/>
                <a:ea typeface="Times New Roman"/>
                <a:cs typeface="Times New Roman"/>
              </a:rPr>
              <a:t>H</a:t>
            </a:r>
            <a:r>
              <a:rPr lang="en-US" altLang="zh-CN" sz="500" i="1" dirty="0">
                <a:solidFill>
                  <a:srgbClr val="D7833D"/>
                </a:solidFill>
                <a:latin typeface="Times New Roman"/>
                <a:ea typeface="Times New Roman"/>
                <a:cs typeface="Times New Roman"/>
              </a:rPr>
              <a:t>f</a:t>
            </a:r>
            <a:r>
              <a:rPr lang="en-US" altLang="zh-CN" sz="700" dirty="0">
                <a:solidFill>
                  <a:srgbClr val="D7833D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b="0" i="0" dirty="0">
                <a:solidFill>
                  <a:srgbClr val="D7833D"/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sz="788" b="0" i="0" dirty="0">
                <a:solidFill>
                  <a:srgbClr val="D7833D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b="0" i="0" dirty="0">
                <a:solidFill>
                  <a:srgbClr val="D7833D"/>
                </a:solidFill>
                <a:latin typeface="Times New Roman"/>
                <a:ea typeface="Times New Roman"/>
                <a:cs typeface="Times New Roman"/>
              </a:rPr>
              <a:t>G</a:t>
            </a:r>
            <a:r>
              <a:rPr sz="788" b="0" i="0" dirty="0">
                <a:solidFill>
                  <a:srgbClr val="D7833D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b="0" i="0" dirty="0">
                <a:solidFill>
                  <a:srgbClr val="D7833D"/>
                </a:solidFill>
                <a:latin typeface="Times New Roman"/>
                <a:ea typeface="Times New Roman"/>
                <a:cs typeface="Times New Roman"/>
              </a:rPr>
              <a:t>⊙</a:t>
            </a:r>
            <a:r>
              <a:rPr sz="788" b="0" i="0" dirty="0">
                <a:solidFill>
                  <a:srgbClr val="D7833D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b="0" i="0" dirty="0" err="1">
                <a:solidFill>
                  <a:srgbClr val="D7833D"/>
                </a:solidFill>
                <a:latin typeface="Times New Roman"/>
                <a:ea typeface="Times New Roman"/>
                <a:cs typeface="Times New Roman"/>
              </a:rPr>
              <a:t>O</a:t>
            </a:r>
            <a:r>
              <a:rPr sz="500" b="0" i="1" dirty="0" err="1">
                <a:solidFill>
                  <a:srgbClr val="D7833D"/>
                </a:solidFill>
                <a:latin typeface="Times New Roman"/>
                <a:ea typeface="Times New Roman"/>
                <a:cs typeface="Times New Roman"/>
              </a:rPr>
              <a:t>c→f</a:t>
            </a:r>
            <a:r>
              <a:rPr sz="900" b="0" i="0" dirty="0">
                <a:solidFill>
                  <a:srgbClr val="D7833D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97" name="FIG3_UPDATED_FINE__FEATURE_1">
            <a:extLst>
              <a:ext uri="{FF2B5EF4-FFF2-40B4-BE49-F238E27FC236}">
                <a16:creationId xmlns:a16="http://schemas.microsoft.com/office/drawing/2014/main" id="{90198003-BF36-49FF-B622-ABEBDB1252C9}"/>
              </a:ext>
            </a:extLst>
          </p:cNvPr>
          <p:cNvSpPr>
            <a:spLocks noGrp="1"/>
          </p:cNvSpPr>
          <p:nvPr/>
        </p:nvSpPr>
        <p:spPr>
          <a:xfrm flipV="1">
            <a:off x="1771650" y="4657344"/>
            <a:ext cx="123265" cy="88392"/>
          </a:xfrm>
          <a:prstGeom prst="line">
            <a:avLst/>
          </a:prstGeom>
          <a:noFill/>
          <a:ln w="15240">
            <a:solidFill>
              <a:srgbClr val="E69A54"/>
            </a:solidFill>
            <a:prstDash val="solid"/>
          </a:ln>
        </p:spPr>
      </p:sp>
      <p:sp>
        <p:nvSpPr>
          <p:cNvPr id="98" name="FIG3_UPDATED_FINE__FEATURE_2">
            <a:extLst>
              <a:ext uri="{FF2B5EF4-FFF2-40B4-BE49-F238E27FC236}">
                <a16:creationId xmlns:a16="http://schemas.microsoft.com/office/drawing/2014/main" id="{D8C55914-CAB7-40B7-9FD0-0976A4B4090F}"/>
              </a:ext>
            </a:extLst>
          </p:cNvPr>
          <p:cNvSpPr>
            <a:spLocks noGrp="1"/>
          </p:cNvSpPr>
          <p:nvPr/>
        </p:nvSpPr>
        <p:spPr>
          <a:xfrm>
            <a:off x="1894915" y="4657344"/>
            <a:ext cx="123265" cy="132588"/>
          </a:xfrm>
          <a:prstGeom prst="line">
            <a:avLst/>
          </a:prstGeom>
          <a:noFill/>
          <a:ln w="15240">
            <a:solidFill>
              <a:srgbClr val="E69A54"/>
            </a:solidFill>
            <a:prstDash val="solid"/>
          </a:ln>
        </p:spPr>
      </p:sp>
      <p:sp>
        <p:nvSpPr>
          <p:cNvPr id="99" name="FIG3_UPDATED_FINE__FEATURE_3">
            <a:extLst>
              <a:ext uri="{FF2B5EF4-FFF2-40B4-BE49-F238E27FC236}">
                <a16:creationId xmlns:a16="http://schemas.microsoft.com/office/drawing/2014/main" id="{77E8C8D1-BABC-4A18-8784-83FA66608096}"/>
              </a:ext>
            </a:extLst>
          </p:cNvPr>
          <p:cNvSpPr>
            <a:spLocks noGrp="1"/>
          </p:cNvSpPr>
          <p:nvPr/>
        </p:nvSpPr>
        <p:spPr>
          <a:xfrm flipV="1">
            <a:off x="2018179" y="4696016"/>
            <a:ext cx="123265" cy="93917"/>
          </a:xfrm>
          <a:prstGeom prst="line">
            <a:avLst/>
          </a:prstGeom>
          <a:noFill/>
          <a:ln w="15240">
            <a:solidFill>
              <a:srgbClr val="E69A54"/>
            </a:solidFill>
            <a:prstDash val="solid"/>
          </a:ln>
        </p:spPr>
      </p:sp>
      <p:sp>
        <p:nvSpPr>
          <p:cNvPr id="100" name="FIG3_UPDATED_FINE__FEATURE_4">
            <a:extLst>
              <a:ext uri="{FF2B5EF4-FFF2-40B4-BE49-F238E27FC236}">
                <a16:creationId xmlns:a16="http://schemas.microsoft.com/office/drawing/2014/main" id="{C0B1CFEB-95D9-40B5-8F7B-4949CE76AD85}"/>
              </a:ext>
            </a:extLst>
          </p:cNvPr>
          <p:cNvSpPr>
            <a:spLocks noGrp="1"/>
          </p:cNvSpPr>
          <p:nvPr/>
        </p:nvSpPr>
        <p:spPr>
          <a:xfrm>
            <a:off x="2141444" y="4696016"/>
            <a:ext cx="123265" cy="77343"/>
          </a:xfrm>
          <a:prstGeom prst="line">
            <a:avLst/>
          </a:prstGeom>
          <a:noFill/>
          <a:ln w="15240">
            <a:solidFill>
              <a:srgbClr val="E69A54"/>
            </a:solidFill>
            <a:prstDash val="solid"/>
          </a:ln>
        </p:spPr>
      </p:sp>
      <p:sp>
        <p:nvSpPr>
          <p:cNvPr id="101" name="FIG3_UPDATED_FINE__FEATURE_5">
            <a:extLst>
              <a:ext uri="{FF2B5EF4-FFF2-40B4-BE49-F238E27FC236}">
                <a16:creationId xmlns:a16="http://schemas.microsoft.com/office/drawing/2014/main" id="{798EB9D6-FAA6-4E52-A51D-8A345A1C478D}"/>
              </a:ext>
            </a:extLst>
          </p:cNvPr>
          <p:cNvSpPr>
            <a:spLocks noGrp="1"/>
          </p:cNvSpPr>
          <p:nvPr/>
        </p:nvSpPr>
        <p:spPr>
          <a:xfrm flipV="1">
            <a:off x="2264709" y="4640771"/>
            <a:ext cx="123265" cy="132588"/>
          </a:xfrm>
          <a:prstGeom prst="line">
            <a:avLst/>
          </a:prstGeom>
          <a:noFill/>
          <a:ln w="15240">
            <a:solidFill>
              <a:srgbClr val="E69A54"/>
            </a:solidFill>
            <a:prstDash val="solid"/>
          </a:ln>
        </p:spPr>
      </p:sp>
      <p:sp>
        <p:nvSpPr>
          <p:cNvPr id="102" name="FIG3_UPDATED_FINE__FEATURE_6">
            <a:extLst>
              <a:ext uri="{FF2B5EF4-FFF2-40B4-BE49-F238E27FC236}">
                <a16:creationId xmlns:a16="http://schemas.microsoft.com/office/drawing/2014/main" id="{22F6548C-62A1-4590-A987-23C43713A789}"/>
              </a:ext>
            </a:extLst>
          </p:cNvPr>
          <p:cNvSpPr>
            <a:spLocks noGrp="1"/>
          </p:cNvSpPr>
          <p:nvPr/>
        </p:nvSpPr>
        <p:spPr>
          <a:xfrm>
            <a:off x="2387974" y="4640771"/>
            <a:ext cx="123265" cy="171259"/>
          </a:xfrm>
          <a:prstGeom prst="line">
            <a:avLst/>
          </a:prstGeom>
          <a:noFill/>
          <a:ln w="15240">
            <a:solidFill>
              <a:srgbClr val="E69A54"/>
            </a:solidFill>
            <a:prstDash val="solid"/>
          </a:ln>
        </p:spPr>
      </p:sp>
      <p:sp>
        <p:nvSpPr>
          <p:cNvPr id="103" name="FIG3_UPDATED_FINE__FEATURE_7">
            <a:extLst>
              <a:ext uri="{FF2B5EF4-FFF2-40B4-BE49-F238E27FC236}">
                <a16:creationId xmlns:a16="http://schemas.microsoft.com/office/drawing/2014/main" id="{4974B642-1F7E-4C55-9836-2E0EFC9CA317}"/>
              </a:ext>
            </a:extLst>
          </p:cNvPr>
          <p:cNvSpPr>
            <a:spLocks noGrp="1"/>
          </p:cNvSpPr>
          <p:nvPr/>
        </p:nvSpPr>
        <p:spPr>
          <a:xfrm flipV="1">
            <a:off x="2511238" y="4707065"/>
            <a:ext cx="123265" cy="104965"/>
          </a:xfrm>
          <a:prstGeom prst="line">
            <a:avLst/>
          </a:prstGeom>
          <a:noFill/>
          <a:ln w="15240">
            <a:solidFill>
              <a:srgbClr val="E69A54"/>
            </a:solidFill>
            <a:prstDash val="solid"/>
          </a:ln>
        </p:spPr>
      </p:sp>
      <p:sp>
        <p:nvSpPr>
          <p:cNvPr id="104" name="FIG3_UPDATED_FINE__FEATURE_8">
            <a:extLst>
              <a:ext uri="{FF2B5EF4-FFF2-40B4-BE49-F238E27FC236}">
                <a16:creationId xmlns:a16="http://schemas.microsoft.com/office/drawing/2014/main" id="{929E470D-25C0-4F03-A48C-43C6833929BF}"/>
              </a:ext>
            </a:extLst>
          </p:cNvPr>
          <p:cNvSpPr>
            <a:spLocks noGrp="1"/>
          </p:cNvSpPr>
          <p:nvPr/>
        </p:nvSpPr>
        <p:spPr>
          <a:xfrm>
            <a:off x="2634503" y="4707065"/>
            <a:ext cx="123265" cy="60769"/>
          </a:xfrm>
          <a:prstGeom prst="line">
            <a:avLst/>
          </a:prstGeom>
          <a:noFill/>
          <a:ln w="15240">
            <a:solidFill>
              <a:srgbClr val="E69A54"/>
            </a:solidFill>
            <a:prstDash val="solid"/>
          </a:ln>
        </p:spPr>
      </p:sp>
      <p:sp>
        <p:nvSpPr>
          <p:cNvPr id="105" name="FIG3_UPDATED_FINE__FEATURE_9">
            <a:extLst>
              <a:ext uri="{FF2B5EF4-FFF2-40B4-BE49-F238E27FC236}">
                <a16:creationId xmlns:a16="http://schemas.microsoft.com/office/drawing/2014/main" id="{0B985771-98D3-474C-B0D3-F84987728656}"/>
              </a:ext>
            </a:extLst>
          </p:cNvPr>
          <p:cNvSpPr>
            <a:spLocks noGrp="1"/>
          </p:cNvSpPr>
          <p:nvPr/>
        </p:nvSpPr>
        <p:spPr>
          <a:xfrm flipV="1">
            <a:off x="2757768" y="4676680"/>
            <a:ext cx="123265" cy="91154"/>
          </a:xfrm>
          <a:prstGeom prst="line">
            <a:avLst/>
          </a:prstGeom>
          <a:noFill/>
          <a:ln w="15240">
            <a:solidFill>
              <a:srgbClr val="E69A54"/>
            </a:solidFill>
            <a:prstDash val="solid"/>
          </a:ln>
        </p:spPr>
      </p:sp>
      <p:sp>
        <p:nvSpPr>
          <p:cNvPr id="106" name="FIG3_UPDATED_FINE__FEATURE_10">
            <a:extLst>
              <a:ext uri="{FF2B5EF4-FFF2-40B4-BE49-F238E27FC236}">
                <a16:creationId xmlns:a16="http://schemas.microsoft.com/office/drawing/2014/main" id="{BC6214B3-16BE-428D-920B-6DD5F27CEDA6}"/>
              </a:ext>
            </a:extLst>
          </p:cNvPr>
          <p:cNvSpPr>
            <a:spLocks noGrp="1"/>
          </p:cNvSpPr>
          <p:nvPr/>
        </p:nvSpPr>
        <p:spPr>
          <a:xfrm>
            <a:off x="2881032" y="4676680"/>
            <a:ext cx="123265" cy="121539"/>
          </a:xfrm>
          <a:prstGeom prst="line">
            <a:avLst/>
          </a:prstGeom>
          <a:noFill/>
          <a:ln w="15240">
            <a:solidFill>
              <a:srgbClr val="E69A54"/>
            </a:solidFill>
            <a:prstDash val="solid"/>
          </a:ln>
        </p:spPr>
      </p:sp>
      <p:sp>
        <p:nvSpPr>
          <p:cNvPr id="107" name="FIG3_UPDATED_FINE__FEATURE_11">
            <a:extLst>
              <a:ext uri="{FF2B5EF4-FFF2-40B4-BE49-F238E27FC236}">
                <a16:creationId xmlns:a16="http://schemas.microsoft.com/office/drawing/2014/main" id="{E3136DB7-8970-4966-A3D0-BA4BDA5AC719}"/>
              </a:ext>
            </a:extLst>
          </p:cNvPr>
          <p:cNvSpPr>
            <a:spLocks noGrp="1"/>
          </p:cNvSpPr>
          <p:nvPr/>
        </p:nvSpPr>
        <p:spPr>
          <a:xfrm flipV="1">
            <a:off x="3004297" y="4720876"/>
            <a:ext cx="123265" cy="77343"/>
          </a:xfrm>
          <a:prstGeom prst="line">
            <a:avLst/>
          </a:prstGeom>
          <a:noFill/>
          <a:ln w="15240">
            <a:solidFill>
              <a:srgbClr val="E69A54"/>
            </a:solidFill>
            <a:prstDash val="solid"/>
          </a:ln>
        </p:spPr>
      </p:sp>
      <p:sp>
        <p:nvSpPr>
          <p:cNvPr id="108" name="FIG3_UPDATED_FINE__FEATURE_12">
            <a:extLst>
              <a:ext uri="{FF2B5EF4-FFF2-40B4-BE49-F238E27FC236}">
                <a16:creationId xmlns:a16="http://schemas.microsoft.com/office/drawing/2014/main" id="{ADA6F031-9E73-4D3C-9381-692A3A32A2E3}"/>
              </a:ext>
            </a:extLst>
          </p:cNvPr>
          <p:cNvSpPr>
            <a:spLocks noGrp="1"/>
          </p:cNvSpPr>
          <p:nvPr/>
        </p:nvSpPr>
        <p:spPr>
          <a:xfrm flipV="1">
            <a:off x="3127562" y="4646295"/>
            <a:ext cx="123265" cy="74581"/>
          </a:xfrm>
          <a:prstGeom prst="line">
            <a:avLst/>
          </a:prstGeom>
          <a:noFill/>
          <a:ln w="15240">
            <a:solidFill>
              <a:srgbClr val="E69A54"/>
            </a:solidFill>
            <a:prstDash val="solid"/>
          </a:ln>
        </p:spPr>
      </p:sp>
      <p:sp>
        <p:nvSpPr>
          <p:cNvPr id="109" name="FIG3_UPDATED_FINE__FEATURE_13">
            <a:extLst>
              <a:ext uri="{FF2B5EF4-FFF2-40B4-BE49-F238E27FC236}">
                <a16:creationId xmlns:a16="http://schemas.microsoft.com/office/drawing/2014/main" id="{C4BEBA75-2688-4346-9766-8141F7E8F2CC}"/>
              </a:ext>
            </a:extLst>
          </p:cNvPr>
          <p:cNvSpPr>
            <a:spLocks noGrp="1"/>
          </p:cNvSpPr>
          <p:nvPr/>
        </p:nvSpPr>
        <p:spPr>
          <a:xfrm>
            <a:off x="3250826" y="4646295"/>
            <a:ext cx="123265" cy="110490"/>
          </a:xfrm>
          <a:prstGeom prst="line">
            <a:avLst/>
          </a:prstGeom>
          <a:noFill/>
          <a:ln w="15240">
            <a:solidFill>
              <a:srgbClr val="E69A54"/>
            </a:solidFill>
            <a:prstDash val="solid"/>
          </a:ln>
        </p:spPr>
      </p:sp>
      <p:sp>
        <p:nvSpPr>
          <p:cNvPr id="110" name="FIG3_UPDATED_FINE__FEATURE_14">
            <a:extLst>
              <a:ext uri="{FF2B5EF4-FFF2-40B4-BE49-F238E27FC236}">
                <a16:creationId xmlns:a16="http://schemas.microsoft.com/office/drawing/2014/main" id="{6264A67A-5955-4EBF-8BD2-C3488940FA49}"/>
              </a:ext>
            </a:extLst>
          </p:cNvPr>
          <p:cNvSpPr>
            <a:spLocks noGrp="1"/>
          </p:cNvSpPr>
          <p:nvPr/>
        </p:nvSpPr>
        <p:spPr>
          <a:xfrm flipV="1">
            <a:off x="3374091" y="4690491"/>
            <a:ext cx="123265" cy="66294"/>
          </a:xfrm>
          <a:prstGeom prst="line">
            <a:avLst/>
          </a:prstGeom>
          <a:noFill/>
          <a:ln w="15240">
            <a:solidFill>
              <a:srgbClr val="E69A54"/>
            </a:solidFill>
            <a:prstDash val="solid"/>
          </a:ln>
        </p:spPr>
      </p:sp>
      <p:sp>
        <p:nvSpPr>
          <p:cNvPr id="111" name="FIG3_UPDATED_FINE__FEATURE_15">
            <a:extLst>
              <a:ext uri="{FF2B5EF4-FFF2-40B4-BE49-F238E27FC236}">
                <a16:creationId xmlns:a16="http://schemas.microsoft.com/office/drawing/2014/main" id="{4884C77F-6DD5-412E-8780-58429B09A3D7}"/>
              </a:ext>
            </a:extLst>
          </p:cNvPr>
          <p:cNvSpPr>
            <a:spLocks noGrp="1"/>
          </p:cNvSpPr>
          <p:nvPr/>
        </p:nvSpPr>
        <p:spPr>
          <a:xfrm>
            <a:off x="3497356" y="4690491"/>
            <a:ext cx="123265" cy="93917"/>
          </a:xfrm>
          <a:prstGeom prst="line">
            <a:avLst/>
          </a:prstGeom>
          <a:noFill/>
          <a:ln w="15240">
            <a:solidFill>
              <a:srgbClr val="E69A54"/>
            </a:solidFill>
            <a:prstDash val="solid"/>
          </a:ln>
        </p:spPr>
      </p:sp>
      <p:sp>
        <p:nvSpPr>
          <p:cNvPr id="112" name="FIG3_UPDATED_FINE__FEATURE_16">
            <a:extLst>
              <a:ext uri="{FF2B5EF4-FFF2-40B4-BE49-F238E27FC236}">
                <a16:creationId xmlns:a16="http://schemas.microsoft.com/office/drawing/2014/main" id="{DD3F421E-06D4-418C-AED6-94CBC63CA7B0}"/>
              </a:ext>
            </a:extLst>
          </p:cNvPr>
          <p:cNvSpPr>
            <a:spLocks noGrp="1"/>
          </p:cNvSpPr>
          <p:nvPr/>
        </p:nvSpPr>
        <p:spPr>
          <a:xfrm flipV="1">
            <a:off x="3620621" y="4668393"/>
            <a:ext cx="123265" cy="116015"/>
          </a:xfrm>
          <a:prstGeom prst="line">
            <a:avLst/>
          </a:prstGeom>
          <a:noFill/>
          <a:ln w="15240">
            <a:solidFill>
              <a:srgbClr val="E69A54"/>
            </a:solidFill>
            <a:prstDash val="solid"/>
          </a:ln>
        </p:spPr>
      </p:sp>
      <p:sp>
        <p:nvSpPr>
          <p:cNvPr id="113" name="FIG3_UPDATED_FINE__FEATURE_17">
            <a:extLst>
              <a:ext uri="{FF2B5EF4-FFF2-40B4-BE49-F238E27FC236}">
                <a16:creationId xmlns:a16="http://schemas.microsoft.com/office/drawing/2014/main" id="{8AF2BB17-D199-474B-8E3D-1D3E76C2839F}"/>
              </a:ext>
            </a:extLst>
          </p:cNvPr>
          <p:cNvSpPr>
            <a:spLocks noGrp="1"/>
          </p:cNvSpPr>
          <p:nvPr/>
        </p:nvSpPr>
        <p:spPr>
          <a:xfrm>
            <a:off x="3743885" y="4668393"/>
            <a:ext cx="123265" cy="69056"/>
          </a:xfrm>
          <a:prstGeom prst="line">
            <a:avLst/>
          </a:prstGeom>
          <a:noFill/>
          <a:ln w="15240">
            <a:solidFill>
              <a:srgbClr val="E69A54"/>
            </a:solidFill>
            <a:prstDash val="solid"/>
          </a:ln>
        </p:spPr>
      </p:sp>
      <p:sp>
        <p:nvSpPr>
          <p:cNvPr id="114" name="FIG3_UPDATED_COARSE">
            <a:extLst>
              <a:ext uri="{FF2B5EF4-FFF2-40B4-BE49-F238E27FC236}">
                <a16:creationId xmlns:a16="http://schemas.microsoft.com/office/drawing/2014/main" id="{70993366-13FB-4121-93AC-179D014230EE}"/>
              </a:ext>
            </a:extLst>
          </p:cNvPr>
          <p:cNvSpPr>
            <a:spLocks noGrp="1"/>
          </p:cNvSpPr>
          <p:nvPr/>
        </p:nvSpPr>
        <p:spPr>
          <a:xfrm>
            <a:off x="5181600" y="4305300"/>
            <a:ext cx="2286000" cy="542925"/>
          </a:xfrm>
          <a:prstGeom prst="roundRect">
            <a:avLst>
              <a:gd name="adj" fmla="val 14035"/>
            </a:avLst>
          </a:prstGeom>
          <a:solidFill>
            <a:srgbClr val="E9F5F3"/>
          </a:solidFill>
          <a:ln w="10001">
            <a:solidFill>
              <a:srgbClr val="4F9A96"/>
            </a:solidFill>
            <a:prstDash val="solid"/>
          </a:ln>
        </p:spPr>
      </p:sp>
      <p:sp>
        <p:nvSpPr>
          <p:cNvPr id="115" name="FIG3_UPDATED_COARSE__LABEL">
            <a:extLst>
              <a:ext uri="{FF2B5EF4-FFF2-40B4-BE49-F238E27FC236}">
                <a16:creationId xmlns:a16="http://schemas.microsoft.com/office/drawing/2014/main" id="{8C6F9104-5FBA-4AF0-8DFD-D448B9F414F2}"/>
              </a:ext>
            </a:extLst>
          </p:cNvPr>
          <p:cNvSpPr>
            <a:spLocks noGrp="1"/>
          </p:cNvSpPr>
          <p:nvPr/>
        </p:nvSpPr>
        <p:spPr>
          <a:xfrm>
            <a:off x="5257800" y="4333875"/>
            <a:ext cx="11620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59583" lnSpcReduction="20000"/>
          </a:bodyPr>
          <a:lstStyle/>
          <a:p>
            <a:pPr algn="l">
              <a:buNone/>
              <a:defRPr b="0" i="0">
                <a:solidFill>
                  <a:srgbClr val="4F9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 i="0">
                <a:solidFill>
                  <a:srgbClr val="4F9A96"/>
                </a:solidFill>
                <a:latin typeface="Times New Roman"/>
                <a:ea typeface="Times New Roman"/>
                <a:cs typeface="Times New Roman"/>
              </a:rPr>
              <a:t>Updated Coarse</a:t>
            </a:r>
          </a:p>
        </p:txBody>
      </p:sp>
      <p:sp>
        <p:nvSpPr>
          <p:cNvPr id="116" name="FIG3_UPDATED_COARSE__STATE">
            <a:extLst>
              <a:ext uri="{FF2B5EF4-FFF2-40B4-BE49-F238E27FC236}">
                <a16:creationId xmlns:a16="http://schemas.microsoft.com/office/drawing/2014/main" id="{BF3A0F63-2D42-442A-A63C-6C21C86E3DDE}"/>
              </a:ext>
            </a:extLst>
          </p:cNvPr>
          <p:cNvSpPr>
            <a:spLocks noGrp="1"/>
          </p:cNvSpPr>
          <p:nvPr/>
        </p:nvSpPr>
        <p:spPr>
          <a:xfrm>
            <a:off x="5288280" y="4481195"/>
            <a:ext cx="2133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>
              <a:defRPr sz="788" b="0" i="0">
                <a:solidFill>
                  <a:srgbClr val="3E908C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900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H</a:t>
            </a:r>
            <a:r>
              <a:rPr lang="en-US" altLang="zh-CN" sz="500" i="1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788" b="0" i="0" dirty="0">
                <a:solidFill>
                  <a:srgbClr val="3E908C"/>
                </a:solidFill>
                <a:latin typeface="Times New Roman"/>
                <a:ea typeface="Times New Roman"/>
                <a:cs typeface="Times New Roman"/>
              </a:rPr>
              <a:t>′ </a:t>
            </a:r>
            <a:r>
              <a:rPr sz="900" b="0" i="0" dirty="0">
                <a:solidFill>
                  <a:srgbClr val="3E908C"/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 sz="788" b="0" i="0" dirty="0">
                <a:solidFill>
                  <a:srgbClr val="3E908C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b="0" i="1" dirty="0">
                <a:solidFill>
                  <a:srgbClr val="3E908C"/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lang="en-US" altLang="zh-CN" sz="500" i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lang="en-US" altLang="zh-CN" sz="8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b="0" i="0" dirty="0">
                <a:solidFill>
                  <a:srgbClr val="3E908C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lang="en-US" altLang="zh-CN" sz="900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H</a:t>
            </a:r>
            <a:r>
              <a:rPr lang="en-US" altLang="zh-CN" sz="500" i="1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900" b="0" i="0" dirty="0">
                <a:solidFill>
                  <a:srgbClr val="3E908C"/>
                </a:solidFill>
                <a:latin typeface="Times New Roman"/>
                <a:ea typeface="Times New Roman"/>
                <a:cs typeface="Times New Roman"/>
              </a:rPr>
              <a:t>+ (1−G) ⊙ </a:t>
            </a:r>
            <a:r>
              <a:rPr sz="900" b="0" i="0" dirty="0" err="1">
                <a:solidFill>
                  <a:srgbClr val="3E908C"/>
                </a:solidFill>
                <a:latin typeface="Times New Roman"/>
                <a:ea typeface="Times New Roman"/>
                <a:cs typeface="Times New Roman"/>
              </a:rPr>
              <a:t>O</a:t>
            </a:r>
            <a:r>
              <a:rPr sz="500" b="0" i="1" dirty="0" err="1">
                <a:solidFill>
                  <a:srgbClr val="3E908C"/>
                </a:solidFill>
                <a:latin typeface="Times New Roman"/>
                <a:ea typeface="Times New Roman"/>
                <a:cs typeface="Times New Roman"/>
              </a:rPr>
              <a:t>f→c</a:t>
            </a:r>
            <a:r>
              <a:rPr sz="900" b="0" i="0" dirty="0">
                <a:solidFill>
                  <a:srgbClr val="3E908C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117" name="FIG3_UPDATED_COARSE__FEATURE_1">
            <a:extLst>
              <a:ext uri="{FF2B5EF4-FFF2-40B4-BE49-F238E27FC236}">
                <a16:creationId xmlns:a16="http://schemas.microsoft.com/office/drawing/2014/main" id="{CEA0708F-2647-4E3A-92AA-5861BBCE3EF6}"/>
              </a:ext>
            </a:extLst>
          </p:cNvPr>
          <p:cNvSpPr>
            <a:spLocks noGrp="1"/>
          </p:cNvSpPr>
          <p:nvPr/>
        </p:nvSpPr>
        <p:spPr>
          <a:xfrm flipV="1">
            <a:off x="5276850" y="4740212"/>
            <a:ext cx="139700" cy="24860"/>
          </a:xfrm>
          <a:prstGeom prst="line">
            <a:avLst/>
          </a:prstGeom>
          <a:noFill/>
          <a:ln w="18098">
            <a:solidFill>
              <a:srgbClr val="4F9A96"/>
            </a:solidFill>
            <a:prstDash val="solid"/>
          </a:ln>
        </p:spPr>
      </p:sp>
      <p:sp>
        <p:nvSpPr>
          <p:cNvPr id="118" name="FIG3_UPDATED_COARSE__FEATURE_2">
            <a:extLst>
              <a:ext uri="{FF2B5EF4-FFF2-40B4-BE49-F238E27FC236}">
                <a16:creationId xmlns:a16="http://schemas.microsoft.com/office/drawing/2014/main" id="{AB435BD5-78A1-436C-B016-417E824CDE57}"/>
              </a:ext>
            </a:extLst>
          </p:cNvPr>
          <p:cNvSpPr>
            <a:spLocks noGrp="1"/>
          </p:cNvSpPr>
          <p:nvPr/>
        </p:nvSpPr>
        <p:spPr>
          <a:xfrm flipV="1">
            <a:off x="5416550" y="4707065"/>
            <a:ext cx="139700" cy="33147"/>
          </a:xfrm>
          <a:prstGeom prst="line">
            <a:avLst/>
          </a:prstGeom>
          <a:noFill/>
          <a:ln w="18098">
            <a:solidFill>
              <a:srgbClr val="4F9A96"/>
            </a:solidFill>
            <a:prstDash val="solid"/>
          </a:ln>
        </p:spPr>
      </p:sp>
      <p:sp>
        <p:nvSpPr>
          <p:cNvPr id="119" name="FIG3_UPDATED_COARSE__FEATURE_3">
            <a:extLst>
              <a:ext uri="{FF2B5EF4-FFF2-40B4-BE49-F238E27FC236}">
                <a16:creationId xmlns:a16="http://schemas.microsoft.com/office/drawing/2014/main" id="{568FCAFA-1B7D-4A69-8902-7324F4BB77E9}"/>
              </a:ext>
            </a:extLst>
          </p:cNvPr>
          <p:cNvSpPr>
            <a:spLocks noGrp="1"/>
          </p:cNvSpPr>
          <p:nvPr/>
        </p:nvSpPr>
        <p:spPr>
          <a:xfrm flipV="1">
            <a:off x="5556250" y="4676680"/>
            <a:ext cx="139700" cy="30385"/>
          </a:xfrm>
          <a:prstGeom prst="line">
            <a:avLst/>
          </a:prstGeom>
          <a:noFill/>
          <a:ln w="18098">
            <a:solidFill>
              <a:srgbClr val="4F9A96"/>
            </a:solidFill>
            <a:prstDash val="solid"/>
          </a:ln>
        </p:spPr>
      </p:sp>
      <p:sp>
        <p:nvSpPr>
          <p:cNvPr id="120" name="FIG3_UPDATED_COARSE__FEATURE_4">
            <a:extLst>
              <a:ext uri="{FF2B5EF4-FFF2-40B4-BE49-F238E27FC236}">
                <a16:creationId xmlns:a16="http://schemas.microsoft.com/office/drawing/2014/main" id="{2AAD848D-0361-42C0-959A-0976EB2AF50A}"/>
              </a:ext>
            </a:extLst>
          </p:cNvPr>
          <p:cNvSpPr>
            <a:spLocks noGrp="1"/>
          </p:cNvSpPr>
          <p:nvPr/>
        </p:nvSpPr>
        <p:spPr>
          <a:xfrm flipV="1">
            <a:off x="5695950" y="4668393"/>
            <a:ext cx="139700" cy="8287"/>
          </a:xfrm>
          <a:prstGeom prst="line">
            <a:avLst/>
          </a:prstGeom>
          <a:noFill/>
          <a:ln w="18098">
            <a:solidFill>
              <a:srgbClr val="4F9A96"/>
            </a:solidFill>
            <a:prstDash val="solid"/>
          </a:ln>
        </p:spPr>
      </p:sp>
      <p:sp>
        <p:nvSpPr>
          <p:cNvPr id="121" name="FIG3_UPDATED_COARSE__FEATURE_5">
            <a:extLst>
              <a:ext uri="{FF2B5EF4-FFF2-40B4-BE49-F238E27FC236}">
                <a16:creationId xmlns:a16="http://schemas.microsoft.com/office/drawing/2014/main" id="{B5BF58A6-FE49-46E5-ACDB-CE93409D2ED0}"/>
              </a:ext>
            </a:extLst>
          </p:cNvPr>
          <p:cNvSpPr>
            <a:spLocks noGrp="1"/>
          </p:cNvSpPr>
          <p:nvPr/>
        </p:nvSpPr>
        <p:spPr>
          <a:xfrm>
            <a:off x="5835650" y="4668393"/>
            <a:ext cx="139700" cy="22098"/>
          </a:xfrm>
          <a:prstGeom prst="line">
            <a:avLst/>
          </a:prstGeom>
          <a:noFill/>
          <a:ln w="18098">
            <a:solidFill>
              <a:srgbClr val="4F9A96"/>
            </a:solidFill>
            <a:prstDash val="solid"/>
          </a:ln>
        </p:spPr>
      </p:sp>
      <p:sp>
        <p:nvSpPr>
          <p:cNvPr id="122" name="FIG3_UPDATED_COARSE__FEATURE_6">
            <a:extLst>
              <a:ext uri="{FF2B5EF4-FFF2-40B4-BE49-F238E27FC236}">
                <a16:creationId xmlns:a16="http://schemas.microsoft.com/office/drawing/2014/main" id="{D7D6330D-FD7A-431B-BC38-DBA3994E2260}"/>
              </a:ext>
            </a:extLst>
          </p:cNvPr>
          <p:cNvSpPr>
            <a:spLocks noGrp="1"/>
          </p:cNvSpPr>
          <p:nvPr/>
        </p:nvSpPr>
        <p:spPr>
          <a:xfrm>
            <a:off x="5975350" y="4690491"/>
            <a:ext cx="139700" cy="38672"/>
          </a:xfrm>
          <a:prstGeom prst="line">
            <a:avLst/>
          </a:prstGeom>
          <a:noFill/>
          <a:ln w="18098">
            <a:solidFill>
              <a:srgbClr val="4F9A96"/>
            </a:solidFill>
            <a:prstDash val="solid"/>
          </a:ln>
        </p:spPr>
      </p:sp>
      <p:sp>
        <p:nvSpPr>
          <p:cNvPr id="123" name="FIG3_UPDATED_COARSE__FEATURE_7">
            <a:extLst>
              <a:ext uri="{FF2B5EF4-FFF2-40B4-BE49-F238E27FC236}">
                <a16:creationId xmlns:a16="http://schemas.microsoft.com/office/drawing/2014/main" id="{E12CE0AC-593D-41E4-9E84-ECE656D5ED17}"/>
              </a:ext>
            </a:extLst>
          </p:cNvPr>
          <p:cNvSpPr>
            <a:spLocks noGrp="1"/>
          </p:cNvSpPr>
          <p:nvPr/>
        </p:nvSpPr>
        <p:spPr>
          <a:xfrm>
            <a:off x="6115050" y="4729163"/>
            <a:ext cx="139700" cy="24860"/>
          </a:xfrm>
          <a:prstGeom prst="line">
            <a:avLst/>
          </a:prstGeom>
          <a:noFill/>
          <a:ln w="18098">
            <a:solidFill>
              <a:srgbClr val="4F9A96"/>
            </a:solidFill>
            <a:prstDash val="solid"/>
          </a:ln>
        </p:spPr>
      </p:sp>
      <p:sp>
        <p:nvSpPr>
          <p:cNvPr id="124" name="FIG3_UPDATED_COARSE__FEATURE_8">
            <a:extLst>
              <a:ext uri="{FF2B5EF4-FFF2-40B4-BE49-F238E27FC236}">
                <a16:creationId xmlns:a16="http://schemas.microsoft.com/office/drawing/2014/main" id="{C06335F9-FD46-4C84-AC77-9349EADA5EAE}"/>
              </a:ext>
            </a:extLst>
          </p:cNvPr>
          <p:cNvSpPr>
            <a:spLocks noGrp="1"/>
          </p:cNvSpPr>
          <p:nvPr/>
        </p:nvSpPr>
        <p:spPr>
          <a:xfrm flipV="1">
            <a:off x="6254750" y="4745736"/>
            <a:ext cx="139700" cy="8287"/>
          </a:xfrm>
          <a:prstGeom prst="line">
            <a:avLst/>
          </a:prstGeom>
          <a:noFill/>
          <a:ln w="18098">
            <a:solidFill>
              <a:srgbClr val="4F9A96"/>
            </a:solidFill>
            <a:prstDash val="solid"/>
          </a:ln>
        </p:spPr>
      </p:sp>
      <p:sp>
        <p:nvSpPr>
          <p:cNvPr id="125" name="FIG3_UPDATED_COARSE__FEATURE_9">
            <a:extLst>
              <a:ext uri="{FF2B5EF4-FFF2-40B4-BE49-F238E27FC236}">
                <a16:creationId xmlns:a16="http://schemas.microsoft.com/office/drawing/2014/main" id="{B2A47D14-C6E2-4948-BD6B-F3B0F25A91E7}"/>
              </a:ext>
            </a:extLst>
          </p:cNvPr>
          <p:cNvSpPr>
            <a:spLocks noGrp="1"/>
          </p:cNvSpPr>
          <p:nvPr/>
        </p:nvSpPr>
        <p:spPr>
          <a:xfrm flipV="1">
            <a:off x="6394450" y="4712589"/>
            <a:ext cx="139700" cy="33147"/>
          </a:xfrm>
          <a:prstGeom prst="line">
            <a:avLst/>
          </a:prstGeom>
          <a:noFill/>
          <a:ln w="18098">
            <a:solidFill>
              <a:srgbClr val="4F9A96"/>
            </a:solidFill>
            <a:prstDash val="solid"/>
          </a:ln>
        </p:spPr>
      </p:sp>
      <p:sp>
        <p:nvSpPr>
          <p:cNvPr id="126" name="FIG3_UPDATED_COARSE__FEATURE_10">
            <a:extLst>
              <a:ext uri="{FF2B5EF4-FFF2-40B4-BE49-F238E27FC236}">
                <a16:creationId xmlns:a16="http://schemas.microsoft.com/office/drawing/2014/main" id="{B11370A2-082F-4439-B613-142B2B5CECA5}"/>
              </a:ext>
            </a:extLst>
          </p:cNvPr>
          <p:cNvSpPr>
            <a:spLocks noGrp="1"/>
          </p:cNvSpPr>
          <p:nvPr/>
        </p:nvSpPr>
        <p:spPr>
          <a:xfrm flipV="1">
            <a:off x="6534150" y="4679442"/>
            <a:ext cx="139700" cy="33147"/>
          </a:xfrm>
          <a:prstGeom prst="line">
            <a:avLst/>
          </a:prstGeom>
          <a:noFill/>
          <a:ln w="18098">
            <a:solidFill>
              <a:srgbClr val="4F9A96"/>
            </a:solidFill>
            <a:prstDash val="solid"/>
          </a:ln>
        </p:spPr>
      </p:sp>
      <p:sp>
        <p:nvSpPr>
          <p:cNvPr id="127" name="FIG3_UPDATED_COARSE__FEATURE_11">
            <a:extLst>
              <a:ext uri="{FF2B5EF4-FFF2-40B4-BE49-F238E27FC236}">
                <a16:creationId xmlns:a16="http://schemas.microsoft.com/office/drawing/2014/main" id="{6084B031-2B76-4F5C-ABC0-D4A468172B21}"/>
              </a:ext>
            </a:extLst>
          </p:cNvPr>
          <p:cNvSpPr>
            <a:spLocks noGrp="1"/>
          </p:cNvSpPr>
          <p:nvPr/>
        </p:nvSpPr>
        <p:spPr>
          <a:xfrm flipV="1">
            <a:off x="6673850" y="4665631"/>
            <a:ext cx="139700" cy="13811"/>
          </a:xfrm>
          <a:prstGeom prst="line">
            <a:avLst/>
          </a:prstGeom>
          <a:noFill/>
          <a:ln w="18098">
            <a:solidFill>
              <a:srgbClr val="4F9A96"/>
            </a:solidFill>
            <a:prstDash val="solid"/>
          </a:ln>
        </p:spPr>
      </p:sp>
      <p:sp>
        <p:nvSpPr>
          <p:cNvPr id="128" name="FIG3_UPDATED_COARSE__FEATURE_12">
            <a:extLst>
              <a:ext uri="{FF2B5EF4-FFF2-40B4-BE49-F238E27FC236}">
                <a16:creationId xmlns:a16="http://schemas.microsoft.com/office/drawing/2014/main" id="{26D81AD0-8925-4A30-AFBD-815387FE2F11}"/>
              </a:ext>
            </a:extLst>
          </p:cNvPr>
          <p:cNvSpPr>
            <a:spLocks noGrp="1"/>
          </p:cNvSpPr>
          <p:nvPr/>
        </p:nvSpPr>
        <p:spPr>
          <a:xfrm>
            <a:off x="6813550" y="4665631"/>
            <a:ext cx="139700" cy="19336"/>
          </a:xfrm>
          <a:prstGeom prst="line">
            <a:avLst/>
          </a:prstGeom>
          <a:noFill/>
          <a:ln w="18098">
            <a:solidFill>
              <a:srgbClr val="4F9A96"/>
            </a:solidFill>
            <a:prstDash val="solid"/>
          </a:ln>
        </p:spPr>
      </p:sp>
      <p:sp>
        <p:nvSpPr>
          <p:cNvPr id="129" name="FIG3_UPDATED_COARSE__FEATURE_13">
            <a:extLst>
              <a:ext uri="{FF2B5EF4-FFF2-40B4-BE49-F238E27FC236}">
                <a16:creationId xmlns:a16="http://schemas.microsoft.com/office/drawing/2014/main" id="{71BCF755-9461-4EB8-988B-5900935C95F0}"/>
              </a:ext>
            </a:extLst>
          </p:cNvPr>
          <p:cNvSpPr>
            <a:spLocks noGrp="1"/>
          </p:cNvSpPr>
          <p:nvPr/>
        </p:nvSpPr>
        <p:spPr>
          <a:xfrm>
            <a:off x="6953250" y="4684967"/>
            <a:ext cx="139700" cy="38672"/>
          </a:xfrm>
          <a:prstGeom prst="line">
            <a:avLst/>
          </a:prstGeom>
          <a:noFill/>
          <a:ln w="18098">
            <a:solidFill>
              <a:srgbClr val="4F9A96"/>
            </a:solidFill>
            <a:prstDash val="solid"/>
          </a:ln>
        </p:spPr>
      </p:sp>
      <p:sp>
        <p:nvSpPr>
          <p:cNvPr id="130" name="FIG3_UPDATED_COARSE__FEATURE_14">
            <a:extLst>
              <a:ext uri="{FF2B5EF4-FFF2-40B4-BE49-F238E27FC236}">
                <a16:creationId xmlns:a16="http://schemas.microsoft.com/office/drawing/2014/main" id="{88CB71F0-C70D-46E5-8F9A-86C70EC84364}"/>
              </a:ext>
            </a:extLst>
          </p:cNvPr>
          <p:cNvSpPr>
            <a:spLocks noGrp="1"/>
          </p:cNvSpPr>
          <p:nvPr/>
        </p:nvSpPr>
        <p:spPr>
          <a:xfrm>
            <a:off x="7092950" y="4723638"/>
            <a:ext cx="139700" cy="27622"/>
          </a:xfrm>
          <a:prstGeom prst="line">
            <a:avLst/>
          </a:prstGeom>
          <a:noFill/>
          <a:ln w="18098">
            <a:solidFill>
              <a:srgbClr val="4F9A96"/>
            </a:solidFill>
            <a:prstDash val="solid"/>
          </a:ln>
        </p:spPr>
      </p:sp>
      <p:sp>
        <p:nvSpPr>
          <p:cNvPr id="131" name="FIG3_UPDATED_COARSE__FEATURE_15">
            <a:extLst>
              <a:ext uri="{FF2B5EF4-FFF2-40B4-BE49-F238E27FC236}">
                <a16:creationId xmlns:a16="http://schemas.microsoft.com/office/drawing/2014/main" id="{856ED98C-AAEB-4AB8-8E67-85D1F6113242}"/>
              </a:ext>
            </a:extLst>
          </p:cNvPr>
          <p:cNvSpPr>
            <a:spLocks noGrp="1"/>
          </p:cNvSpPr>
          <p:nvPr/>
        </p:nvSpPr>
        <p:spPr>
          <a:xfrm flipV="1">
            <a:off x="7232650" y="4734687"/>
            <a:ext cx="139700" cy="16574"/>
          </a:xfrm>
          <a:prstGeom prst="line">
            <a:avLst/>
          </a:prstGeom>
          <a:noFill/>
          <a:ln w="18098">
            <a:solidFill>
              <a:srgbClr val="4F9A96"/>
            </a:solidFill>
            <a:prstDash val="solid"/>
          </a:ln>
        </p:spPr>
      </p:sp>
      <p:cxnSp>
        <p:nvCxnSpPr>
          <p:cNvPr id="538" name="直接箭头连接符 269"/>
          <p:cNvCxnSpPr>
            <a:stCxn id="91" idx="2"/>
            <a:endCxn id="94" idx="0"/>
          </p:cNvCxnSpPr>
          <p:nvPr/>
        </p:nvCxnSpPr>
        <p:spPr>
          <a:xfrm flipH="1">
            <a:off x="2819400" y="3895725"/>
            <a:ext cx="1828800" cy="409575"/>
          </a:xfrm>
          <a:prstGeom prst="straightConnector1">
            <a:avLst/>
          </a:prstGeom>
          <a:ln w="16193">
            <a:solidFill>
              <a:srgbClr val="E69A5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39" name="直接箭头连接符 270"/>
          <p:cNvCxnSpPr>
            <a:stCxn id="91" idx="2"/>
            <a:endCxn id="114" idx="0"/>
          </p:cNvCxnSpPr>
          <p:nvPr/>
        </p:nvCxnSpPr>
        <p:spPr>
          <a:xfrm>
            <a:off x="4648200" y="3895725"/>
            <a:ext cx="1676400" cy="409575"/>
          </a:xfrm>
          <a:prstGeom prst="straightConnector1">
            <a:avLst/>
          </a:prstGeom>
          <a:ln w="16193">
            <a:solidFill>
              <a:srgbClr val="4F9A9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34" name="FIG3_GATE__G_LABEL">
            <a:extLst>
              <a:ext uri="{FF2B5EF4-FFF2-40B4-BE49-F238E27FC236}">
                <a16:creationId xmlns:a16="http://schemas.microsoft.com/office/drawing/2014/main" id="{76C8CD9B-5C1C-4DA0-B99B-205DF42293C6}"/>
              </a:ext>
            </a:extLst>
          </p:cNvPr>
          <p:cNvSpPr>
            <a:spLocks noGrp="1"/>
          </p:cNvSpPr>
          <p:nvPr/>
        </p:nvSpPr>
        <p:spPr>
          <a:xfrm>
            <a:off x="3848100" y="4133850"/>
            <a:ext cx="2286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56111" lnSpcReduction="20000"/>
          </a:bodyPr>
          <a:lstStyle/>
          <a:p>
            <a:pPr algn="ctr">
              <a:buNone/>
              <a:defRPr b="0" i="0">
                <a:solidFill>
                  <a:srgbClr val="E69A54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 i="0">
                <a:solidFill>
                  <a:srgbClr val="E69A54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135" name="FIG3_GATE__ONE_G_LABEL">
            <a:extLst>
              <a:ext uri="{FF2B5EF4-FFF2-40B4-BE49-F238E27FC236}">
                <a16:creationId xmlns:a16="http://schemas.microsoft.com/office/drawing/2014/main" id="{58C1AA44-FECE-4B88-A274-7FB6CC655AF8}"/>
              </a:ext>
            </a:extLst>
          </p:cNvPr>
          <p:cNvSpPr>
            <a:spLocks noGrp="1"/>
          </p:cNvSpPr>
          <p:nvPr/>
        </p:nvSpPr>
        <p:spPr>
          <a:xfrm>
            <a:off x="5067300" y="4133850"/>
            <a:ext cx="323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56111" lnSpcReduction="20000"/>
          </a:bodyPr>
          <a:lstStyle/>
          <a:p>
            <a:pPr algn="ctr">
              <a:buNone/>
              <a:defRPr b="0" i="0">
                <a:solidFill>
                  <a:srgbClr val="4F9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 i="0">
                <a:solidFill>
                  <a:srgbClr val="4F9A96"/>
                </a:solidFill>
                <a:latin typeface="Times New Roman"/>
                <a:ea typeface="Times New Roman"/>
                <a:cs typeface="Times New Roman"/>
              </a:rPr>
              <a:t>1-G</a:t>
            </a:r>
          </a:p>
        </p:txBody>
      </p:sp>
      <p:sp>
        <p:nvSpPr>
          <p:cNvPr id="138" name="FIG3__SEPARATE_NOTE">
            <a:extLst>
              <a:ext uri="{FF2B5EF4-FFF2-40B4-BE49-F238E27FC236}">
                <a16:creationId xmlns:a16="http://schemas.microsoft.com/office/drawing/2014/main" id="{563360E6-692C-42F0-9AF2-C0593A09588C}"/>
              </a:ext>
            </a:extLst>
          </p:cNvPr>
          <p:cNvSpPr>
            <a:spLocks noGrp="1"/>
          </p:cNvSpPr>
          <p:nvPr/>
        </p:nvSpPr>
        <p:spPr>
          <a:xfrm>
            <a:off x="2962275" y="4905375"/>
            <a:ext cx="3219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63055" lnSpcReduction="20000"/>
          </a:bodyPr>
          <a:lstStyle/>
          <a:p>
            <a:pPr algn="ctr">
              <a:buNone/>
              <a:defRPr b="0" i="0">
                <a:solidFill>
                  <a:srgbClr val="5D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0" i="0" dirty="0">
                <a:solidFill>
                  <a:srgbClr val="5D7280"/>
                </a:solidFill>
                <a:latin typeface="Times New Roman"/>
                <a:ea typeface="Times New Roman"/>
                <a:cs typeface="Times New Roman"/>
              </a:rPr>
              <a:t>Fine and coarse representations remain separate.</a:t>
            </a:r>
          </a:p>
        </p:txBody>
      </p:sp>
      <p:sp>
        <p:nvSpPr>
          <p:cNvPr id="404" name="FIG3_GATE__HF_ROUTE_ANCHOR">
            <a:extLst>
              <a:ext uri="{FF2B5EF4-FFF2-40B4-BE49-F238E27FC236}">
                <a16:creationId xmlns:a16="http://schemas.microsoft.com/office/drawing/2014/main" id="{041895D8-3CE6-41CB-9EB1-76AD8489CB04}"/>
              </a:ext>
            </a:extLst>
          </p:cNvPr>
          <p:cNvSpPr>
            <a:spLocks noGrp="1"/>
          </p:cNvSpPr>
          <p:nvPr/>
        </p:nvSpPr>
        <p:spPr>
          <a:xfrm>
            <a:off x="2057400" y="36861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544" name="FIG3_GATE__HF_DIRECT_INPUT_STEM"/>
          <p:cNvCxnSpPr>
            <a:stCxn id="35" idx="2"/>
            <a:endCxn id="404" idx="0"/>
          </p:cNvCxnSpPr>
          <p:nvPr/>
        </p:nvCxnSpPr>
        <p:spPr>
          <a:xfrm>
            <a:off x="1866900" y="2752725"/>
            <a:ext cx="200025" cy="933450"/>
          </a:xfrm>
          <a:prstGeom prst="bentConnector4">
            <a:avLst>
              <a:gd name="adj1" fmla="val 0"/>
              <a:gd name="adj2" fmla="val 50000"/>
            </a:avLst>
          </a:prstGeom>
          <a:ln w="13335">
            <a:solidFill>
              <a:srgbClr val="E69A54"/>
            </a:solidFill>
            <a:prstDash val="solid"/>
          </a:ln>
        </p:spPr>
      </p:cxnSp>
      <p:cxnSp>
        <p:nvCxnSpPr>
          <p:cNvPr id="545" name="FIG3_GATE__HF_DIRECT_INPUT_HEAD"/>
          <p:cNvCxnSpPr>
            <a:stCxn id="404" idx="6"/>
            <a:endCxn id="91" idx="1"/>
          </p:cNvCxnSpPr>
          <p:nvPr/>
        </p:nvCxnSpPr>
        <p:spPr>
          <a:xfrm>
            <a:off x="2076450" y="3695700"/>
            <a:ext cx="2286000" cy="0"/>
          </a:xfrm>
          <a:prstGeom prst="straightConnector1">
            <a:avLst/>
          </a:prstGeom>
          <a:ln w="13335">
            <a:solidFill>
              <a:srgbClr val="E69A54"/>
            </a:solidFill>
            <a:prstDash val="solid"/>
            <a:tailEnd type="triangle" w="sm" len="sm"/>
          </a:ln>
        </p:spPr>
      </p:cxnSp>
      <p:sp>
        <p:nvSpPr>
          <p:cNvPr id="407" name="FIG3_GATE__HF_INPUT_LABEL">
            <a:extLst>
              <a:ext uri="{FF2B5EF4-FFF2-40B4-BE49-F238E27FC236}">
                <a16:creationId xmlns:a16="http://schemas.microsoft.com/office/drawing/2014/main" id="{5F81AA27-48CA-4845-8E44-A6AF28025079}"/>
              </a:ext>
            </a:extLst>
          </p:cNvPr>
          <p:cNvSpPr>
            <a:spLocks noGrp="1"/>
          </p:cNvSpPr>
          <p:nvPr/>
        </p:nvSpPr>
        <p:spPr>
          <a:xfrm>
            <a:off x="3038475" y="3514725"/>
            <a:ext cx="285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840" b="1">
                <a:solidFill>
                  <a:srgbClr val="E69A54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1100" dirty="0">
                <a:solidFill>
                  <a:srgbClr val="D7833D"/>
                </a:solidFill>
                <a:latin typeface="Times New Roman"/>
                <a:ea typeface="Times New Roman"/>
                <a:cs typeface="Times New Roman"/>
              </a:rPr>
              <a:t>H</a:t>
            </a:r>
            <a:r>
              <a:rPr lang="en-US" altLang="zh-CN" sz="800" i="1" dirty="0">
                <a:solidFill>
                  <a:srgbClr val="D7833D"/>
                </a:solidFill>
                <a:latin typeface="Times New Roman"/>
                <a:ea typeface="Times New Roman"/>
                <a:cs typeface="Times New Roman"/>
              </a:rPr>
              <a:t>f</a:t>
            </a:r>
            <a:endParaRPr sz="1100" b="1" dirty="0">
              <a:solidFill>
                <a:srgbClr val="E69A54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0144606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ST-MGPrompt Scientific">
      <a:dk1>
        <a:srgbClr val="000000"/>
      </a:dk1>
      <a:lt1>
        <a:srgbClr val="FFFFFF"/>
      </a:lt1>
      <a:dk2>
        <a:srgbClr val="17232C"/>
      </a:dk2>
      <a:lt2>
        <a:srgbClr val="EEF2F4"/>
      </a:lt2>
      <a:accent1>
        <a:srgbClr val="4F9A96"/>
      </a:accent1>
      <a:accent2>
        <a:srgbClr val="E69A54"/>
      </a:accent2>
      <a:accent3>
        <a:srgbClr val="8367B2"/>
      </a:accent3>
      <a:accent4>
        <a:srgbClr val="B76F68"/>
      </a:accent4>
      <a:accent5>
        <a:srgbClr val="6F8795"/>
      </a:accent5>
      <a:accent6>
        <a:srgbClr val="4A8B6F"/>
      </a:accent6>
      <a:hlink>
        <a:srgbClr val="8367B2"/>
      </a:hlink>
      <a:folHlink>
        <a:srgbClr val="B76F6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-MGPrompt Scientif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34343" dir="3378596">
              <a:srgbClr val="23343D">
                <a:alpha val="10000"/>
              </a:srgbClr>
            </a:outerShdw>
          </a:effectLst>
        </a:effectStyle>
        <a:effectStyle>
          <a:effectLst>
            <a:outerShdw blurRad="76200" dist="34343" dir="3378596">
              <a:srgbClr val="23343D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ST-MGPrompt Scientific">
      <a:dk1>
        <a:srgbClr val="000000"/>
      </a:dk1>
      <a:lt1>
        <a:srgbClr val="FFFFFF"/>
      </a:lt1>
      <a:dk2>
        <a:srgbClr val="17232C"/>
      </a:dk2>
      <a:lt2>
        <a:srgbClr val="EEF2F4"/>
      </a:lt2>
      <a:accent1>
        <a:srgbClr val="4F9A96"/>
      </a:accent1>
      <a:accent2>
        <a:srgbClr val="E69A54"/>
      </a:accent2>
      <a:accent3>
        <a:srgbClr val="8367B2"/>
      </a:accent3>
      <a:accent4>
        <a:srgbClr val="B76F68"/>
      </a:accent4>
      <a:accent5>
        <a:srgbClr val="6F8795"/>
      </a:accent5>
      <a:accent6>
        <a:srgbClr val="4A8B6F"/>
      </a:accent6>
      <a:hlink>
        <a:srgbClr val="8367B2"/>
      </a:hlink>
      <a:folHlink>
        <a:srgbClr val="B76F6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-MGPrompt Scientif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34343" dir="3378596">
              <a:srgbClr val="23343D">
                <a:alpha val="10000"/>
              </a:srgbClr>
            </a:outerShdw>
          </a:effectLst>
        </a:effectStyle>
        <a:effectStyle>
          <a:effectLst>
            <a:outerShdw blurRad="76200" dist="34343" dir="3378596">
              <a:srgbClr val="23343D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112</Words>
  <Application>Microsoft Office PowerPoint</Application>
  <DocSecurity>0</DocSecurity>
  <PresentationFormat>自定义</PresentationFormat>
  <Paragraphs>33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Calibri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人 好</cp:lastModifiedBy>
  <cp:revision>2</cp:revision>
  <dcterms:created xsi:type="dcterms:W3CDTF">2026-08-16T14:40:26Z</dcterms:created>
  <dcterms:modified xsi:type="dcterms:W3CDTF">2026-08-18T06:37:45Z</dcterms:modified>
</cp:coreProperties>
</file>