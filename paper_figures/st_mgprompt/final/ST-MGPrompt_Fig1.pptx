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9144000" cy="10287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23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D:/PaperProject/GyxPaper2/custom_models/src/st_mgprompt/model.py</a:t>
            </a:r>
          </a:p>
          <a:p>
            <a:r>
              <a:t>- D:/PaperProject/GyxPaper2/custom_models/src/st_mgprompt/volatility_patching.py</a:t>
            </a:r>
          </a:p>
          <a:p>
            <a:r>
              <a:t>- D:/PaperProject/GyxPaper2/custom_models/src/st_mgprompt/temporal_layers.py</a:t>
            </a:r>
          </a:p>
          <a:p>
            <a:r>
              <a:t>- D:/PaperProject/GyxPaper2/custom_models/src/st_mgprompt/cross_fusion.py</a:t>
            </a:r>
          </a:p>
          <a:p>
            <a:r>
              <a:t>- D:/PaperProject/GyxPaper2/custom_models/src/st_mgprompt/decoder.py</a:t>
            </a:r>
          </a:p>
          <a:p>
            <a:r>
              <a:t>- D:/PaperProject/GyxPaper2/custom_models/src/st_mgprompt/losses.py</a:t>
            </a:r>
          </a:p>
          <a:p>
            <a:r>
              <a:t>- D:/PaperProject/GyxPaper2/custom_models/src/st_mgprompt/experiment_protocol.py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1_PANEL_A__BACKGROUND">
            <a:extLst>
              <a:ext uri="{FF2B5EF4-FFF2-40B4-BE49-F238E27FC236}">
                <a16:creationId xmlns:a16="http://schemas.microsoft.com/office/drawing/2014/main" id="{276EA26D-C3D4-4DC7-A93C-EF7B68FE5BFA}"/>
              </a:ext>
            </a:extLst>
          </p:cNvPr>
          <p:cNvSpPr>
            <a:spLocks noGrp="1"/>
          </p:cNvSpPr>
          <p:nvPr/>
        </p:nvSpPr>
        <p:spPr>
          <a:xfrm>
            <a:off x="190500" y="586740"/>
            <a:ext cx="4000500" cy="4499610"/>
          </a:xfrm>
          <a:prstGeom prst="roundRect">
            <a:avLst>
              <a:gd name="adj" fmla="val 4286"/>
            </a:avLst>
          </a:prstGeom>
          <a:solidFill>
            <a:srgbClr val="F4F8FB"/>
          </a:solidFill>
          <a:ln w="12859">
            <a:solidFill>
              <a:srgbClr val="9AB7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" name="FIG1_PANEL_A__TITLE">
            <a:extLst>
              <a:ext uri="{FF2B5EF4-FFF2-40B4-BE49-F238E27FC236}">
                <a16:creationId xmlns:a16="http://schemas.microsoft.com/office/drawing/2014/main" id="{A4C9AC80-B221-4835-B60C-0FDE8E80F9DA}"/>
              </a:ext>
            </a:extLst>
          </p:cNvPr>
          <p:cNvSpPr>
            <a:spLocks noGrp="1"/>
          </p:cNvSpPr>
          <p:nvPr/>
        </p:nvSpPr>
        <p:spPr>
          <a:xfrm>
            <a:off x="247650" y="681630"/>
            <a:ext cx="3886200" cy="3715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800" b="1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1. Feature Input and</a:t>
            </a:r>
          </a:p>
          <a:p>
            <a:pPr algn="ctr">
              <a:lnSpc>
                <a:spcPct val="95000"/>
              </a:lnSpc>
              <a:buNone/>
              <a:defRPr sz="1800" b="1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Temporal Decomposition</a:t>
            </a:r>
          </a:p>
        </p:txBody>
      </p:sp>
      <p:sp>
        <p:nvSpPr>
          <p:cNvPr id="10" name="FIG1_PANEL_A__INPUT__SHEET_2">
            <a:extLst>
              <a:ext uri="{FF2B5EF4-FFF2-40B4-BE49-F238E27FC236}">
                <a16:creationId xmlns:a16="http://schemas.microsoft.com/office/drawing/2014/main" id="{9FED193D-029A-49E4-9D7F-61B48BF36CA8}"/>
              </a:ext>
            </a:extLst>
          </p:cNvPr>
          <p:cNvSpPr>
            <a:spLocks noGrp="1"/>
          </p:cNvSpPr>
          <p:nvPr/>
        </p:nvSpPr>
        <p:spPr>
          <a:xfrm>
            <a:off x="561975" y="1191569"/>
            <a:ext cx="971550" cy="384834"/>
          </a:xfrm>
          <a:prstGeom prst="roundRect">
            <a:avLst>
              <a:gd name="adj" fmla="val 6897"/>
            </a:avLst>
          </a:prstGeom>
          <a:solidFill>
            <a:srgbClr val="E5EDF2"/>
          </a:solidFill>
          <a:ln w="9525">
            <a:solidFill>
              <a:srgbClr val="6F8795"/>
            </a:solidFill>
            <a:prstDash val="solid"/>
          </a:ln>
        </p:spPr>
      </p:sp>
      <p:sp>
        <p:nvSpPr>
          <p:cNvPr id="11" name="FIG1_PANEL_A__INPUT__SHEET_1">
            <a:extLst>
              <a:ext uri="{FF2B5EF4-FFF2-40B4-BE49-F238E27FC236}">
                <a16:creationId xmlns:a16="http://schemas.microsoft.com/office/drawing/2014/main" id="{400E2F54-CDF7-4EB1-97CB-69DF37C8BEAA}"/>
              </a:ext>
            </a:extLst>
          </p:cNvPr>
          <p:cNvSpPr>
            <a:spLocks noGrp="1"/>
          </p:cNvSpPr>
          <p:nvPr/>
        </p:nvSpPr>
        <p:spPr>
          <a:xfrm>
            <a:off x="476250" y="1224744"/>
            <a:ext cx="971550" cy="384834"/>
          </a:xfrm>
          <a:prstGeom prst="roundRect">
            <a:avLst>
              <a:gd name="adj" fmla="val 6897"/>
            </a:avLst>
          </a:prstGeom>
          <a:solidFill>
            <a:srgbClr val="E5EDF2"/>
          </a:solidFill>
          <a:ln w="9525">
            <a:solidFill>
              <a:srgbClr val="6F8795"/>
            </a:solidFill>
            <a:prstDash val="solid"/>
          </a:ln>
        </p:spPr>
      </p:sp>
      <p:sp>
        <p:nvSpPr>
          <p:cNvPr id="12" name="FIG1_PANEL_A__INPUT__SHEET_0">
            <a:extLst>
              <a:ext uri="{FF2B5EF4-FFF2-40B4-BE49-F238E27FC236}">
                <a16:creationId xmlns:a16="http://schemas.microsoft.com/office/drawing/2014/main" id="{484CB5BA-A23D-4F3E-A8AC-37B0785AC721}"/>
              </a:ext>
            </a:extLst>
          </p:cNvPr>
          <p:cNvSpPr>
            <a:spLocks noGrp="1"/>
          </p:cNvSpPr>
          <p:nvPr/>
        </p:nvSpPr>
        <p:spPr>
          <a:xfrm>
            <a:off x="390525" y="1257919"/>
            <a:ext cx="971550" cy="384834"/>
          </a:xfrm>
          <a:prstGeom prst="roundRect">
            <a:avLst>
              <a:gd name="adj" fmla="val 6897"/>
            </a:avLst>
          </a:prstGeom>
          <a:solidFill>
            <a:srgbClr val="E5EDF2"/>
          </a:solidFill>
          <a:ln w="9525">
            <a:solidFill>
              <a:srgbClr val="6F8795"/>
            </a:solidFill>
            <a:prstDash val="solid"/>
          </a:ln>
        </p:spPr>
      </p:sp>
      <p:sp>
        <p:nvSpPr>
          <p:cNvPr id="13" name="FIG1_PANEL_A__INPUT__GRID_V_1">
            <a:extLst>
              <a:ext uri="{FF2B5EF4-FFF2-40B4-BE49-F238E27FC236}">
                <a16:creationId xmlns:a16="http://schemas.microsoft.com/office/drawing/2014/main" id="{3CAB6AC8-9661-4B4F-BE87-BDFA78428D00}"/>
              </a:ext>
            </a:extLst>
          </p:cNvPr>
          <p:cNvSpPr>
            <a:spLocks noGrp="1"/>
          </p:cNvSpPr>
          <p:nvPr/>
        </p:nvSpPr>
        <p:spPr>
          <a:xfrm>
            <a:off x="633413" y="1257919"/>
            <a:ext cx="1430" cy="384834"/>
          </a:xfrm>
          <a:prstGeom prst="line">
            <a:avLst/>
          </a:prstGeom>
          <a:noFill/>
          <a:ln w="6191">
            <a:solidFill>
              <a:srgbClr val="6F8795"/>
            </a:solidFill>
            <a:prstDash val="solid"/>
          </a:ln>
        </p:spPr>
      </p:sp>
      <p:sp>
        <p:nvSpPr>
          <p:cNvPr id="14" name="FIG1_PANEL_A__INPUT__GRID_V_2">
            <a:extLst>
              <a:ext uri="{FF2B5EF4-FFF2-40B4-BE49-F238E27FC236}">
                <a16:creationId xmlns:a16="http://schemas.microsoft.com/office/drawing/2014/main" id="{76E9525B-4D6E-41FF-AC82-ED52225669FF}"/>
              </a:ext>
            </a:extLst>
          </p:cNvPr>
          <p:cNvSpPr>
            <a:spLocks noGrp="1"/>
          </p:cNvSpPr>
          <p:nvPr/>
        </p:nvSpPr>
        <p:spPr>
          <a:xfrm>
            <a:off x="876300" y="1257919"/>
            <a:ext cx="1430" cy="384834"/>
          </a:xfrm>
          <a:prstGeom prst="line">
            <a:avLst/>
          </a:prstGeom>
          <a:noFill/>
          <a:ln w="6191">
            <a:solidFill>
              <a:srgbClr val="6F8795"/>
            </a:solidFill>
            <a:prstDash val="solid"/>
          </a:ln>
        </p:spPr>
      </p:sp>
      <p:sp>
        <p:nvSpPr>
          <p:cNvPr id="15" name="FIG1_PANEL_A__INPUT__GRID_V_3">
            <a:extLst>
              <a:ext uri="{FF2B5EF4-FFF2-40B4-BE49-F238E27FC236}">
                <a16:creationId xmlns:a16="http://schemas.microsoft.com/office/drawing/2014/main" id="{5B3D4A60-8F5F-406C-AF7C-A33F60EC82DD}"/>
              </a:ext>
            </a:extLst>
          </p:cNvPr>
          <p:cNvSpPr>
            <a:spLocks noGrp="1"/>
          </p:cNvSpPr>
          <p:nvPr/>
        </p:nvSpPr>
        <p:spPr>
          <a:xfrm>
            <a:off x="1119188" y="1257919"/>
            <a:ext cx="1430" cy="384834"/>
          </a:xfrm>
          <a:prstGeom prst="line">
            <a:avLst/>
          </a:prstGeom>
          <a:noFill/>
          <a:ln w="6191">
            <a:solidFill>
              <a:srgbClr val="6F8795"/>
            </a:solidFill>
            <a:prstDash val="solid"/>
          </a:ln>
        </p:spPr>
      </p:sp>
      <p:sp>
        <p:nvSpPr>
          <p:cNvPr id="16" name="FIG1_PANEL_A__INPUT__GRID_H_1">
            <a:extLst>
              <a:ext uri="{FF2B5EF4-FFF2-40B4-BE49-F238E27FC236}">
                <a16:creationId xmlns:a16="http://schemas.microsoft.com/office/drawing/2014/main" id="{56E924A0-A8B0-4670-850E-F3966E9C3E55}"/>
              </a:ext>
            </a:extLst>
          </p:cNvPr>
          <p:cNvSpPr>
            <a:spLocks noGrp="1"/>
          </p:cNvSpPr>
          <p:nvPr/>
        </p:nvSpPr>
        <p:spPr>
          <a:xfrm>
            <a:off x="390525" y="1386197"/>
            <a:ext cx="971550" cy="664"/>
          </a:xfrm>
          <a:prstGeom prst="line">
            <a:avLst/>
          </a:prstGeom>
          <a:noFill/>
          <a:ln w="6191">
            <a:solidFill>
              <a:srgbClr val="6F8795"/>
            </a:solidFill>
            <a:prstDash val="solid"/>
          </a:ln>
        </p:spPr>
      </p:sp>
      <p:sp>
        <p:nvSpPr>
          <p:cNvPr id="17" name="FIG1_PANEL_A__INPUT__GRID_H_2">
            <a:extLst>
              <a:ext uri="{FF2B5EF4-FFF2-40B4-BE49-F238E27FC236}">
                <a16:creationId xmlns:a16="http://schemas.microsoft.com/office/drawing/2014/main" id="{FC23CB04-FAFF-4939-8645-DEE21C2E202F}"/>
              </a:ext>
            </a:extLst>
          </p:cNvPr>
          <p:cNvSpPr>
            <a:spLocks noGrp="1"/>
          </p:cNvSpPr>
          <p:nvPr/>
        </p:nvSpPr>
        <p:spPr>
          <a:xfrm>
            <a:off x="390525" y="1514475"/>
            <a:ext cx="971550" cy="664"/>
          </a:xfrm>
          <a:prstGeom prst="line">
            <a:avLst/>
          </a:prstGeom>
          <a:noFill/>
          <a:ln w="6191">
            <a:solidFill>
              <a:srgbClr val="6F8795"/>
            </a:solidFill>
            <a:prstDash val="solid"/>
          </a:ln>
        </p:spPr>
      </p:sp>
      <p:sp>
        <p:nvSpPr>
          <p:cNvPr id="18" name="FIG1_PANEL_A__INPUT_LABEL">
            <a:extLst>
              <a:ext uri="{FF2B5EF4-FFF2-40B4-BE49-F238E27FC236}">
                <a16:creationId xmlns:a16="http://schemas.microsoft.com/office/drawing/2014/main" id="{93A6B2AC-CCD3-4FCE-BD63-80873F2BA2A0}"/>
              </a:ext>
            </a:extLst>
          </p:cNvPr>
          <p:cNvSpPr>
            <a:spLocks noGrp="1"/>
          </p:cNvSpPr>
          <p:nvPr/>
        </p:nvSpPr>
        <p:spPr>
          <a:xfrm>
            <a:off x="295275" y="16573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Historical</a:t>
            </a:r>
          </a:p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Wind-Farm Input</a:t>
            </a:r>
          </a:p>
        </p:txBody>
      </p:sp>
      <p:sp>
        <p:nvSpPr>
          <p:cNvPr id="19" name="FIG1_PANEL_A__INPUT_META">
            <a:extLst>
              <a:ext uri="{FF2B5EF4-FFF2-40B4-BE49-F238E27FC236}">
                <a16:creationId xmlns:a16="http://schemas.microsoft.com/office/drawing/2014/main" id="{3BB85742-0FBC-4527-AD22-DE2197AF849E}"/>
              </a:ext>
            </a:extLst>
          </p:cNvPr>
          <p:cNvSpPr>
            <a:spLocks noGrp="1"/>
          </p:cNvSpPr>
          <p:nvPr/>
        </p:nvSpPr>
        <p:spPr>
          <a:xfrm>
            <a:off x="361950" y="1971675"/>
            <a:ext cx="1123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rPr>
              <a:t>134 turbines</a:t>
            </a:r>
          </a:p>
          <a:p>
            <a:pPr algn="ctr">
              <a:lnSpc>
                <a:spcPct val="95000"/>
              </a:lnSpc>
              <a:buNone/>
              <a:defRPr sz="1050" b="0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rPr>
              <a:t>16 variables</a:t>
            </a:r>
          </a:p>
        </p:txBody>
      </p:sp>
      <p:sp>
        <p:nvSpPr>
          <p:cNvPr id="20" name="FIG1_PANEL_A__PROJECTION">
            <a:extLst>
              <a:ext uri="{FF2B5EF4-FFF2-40B4-BE49-F238E27FC236}">
                <a16:creationId xmlns:a16="http://schemas.microsoft.com/office/drawing/2014/main" id="{19FC4B72-8218-4A39-83E2-4D99CB8BC10B}"/>
              </a:ext>
            </a:extLst>
          </p:cNvPr>
          <p:cNvSpPr>
            <a:spLocks noGrp="1"/>
          </p:cNvSpPr>
          <p:nvPr/>
        </p:nvSpPr>
        <p:spPr>
          <a:xfrm>
            <a:off x="1610679" y="1291317"/>
            <a:ext cx="864393" cy="330411"/>
          </a:xfrm>
          <a:prstGeom prst="chevron">
            <a:avLst/>
          </a:prstGeom>
          <a:solidFill>
            <a:srgbClr val="E5EDF2"/>
          </a:solidFill>
          <a:ln w="12383">
            <a:solidFill>
              <a:srgbClr val="6F8795"/>
            </a:solidFill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4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endParaRPr sz="900" dirty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FIG1_PANEL_A__PROJECTION_LABEL">
            <a:extLst>
              <a:ext uri="{FF2B5EF4-FFF2-40B4-BE49-F238E27FC236}">
                <a16:creationId xmlns:a16="http://schemas.microsoft.com/office/drawing/2014/main" id="{5E38AED1-9E3E-4EE0-99F1-10CB7A913EB5}"/>
              </a:ext>
            </a:extLst>
          </p:cNvPr>
          <p:cNvSpPr>
            <a:spLocks noGrp="1"/>
          </p:cNvSpPr>
          <p:nvPr/>
        </p:nvSpPr>
        <p:spPr>
          <a:xfrm>
            <a:off x="1428750" y="167386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4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Shared Input Projection</a:t>
            </a:r>
          </a:p>
        </p:txBody>
      </p:sp>
      <p:sp>
        <p:nvSpPr>
          <p:cNvPr id="22" name="FIG1_PANEL_A__DECOMP">
            <a:extLst>
              <a:ext uri="{FF2B5EF4-FFF2-40B4-BE49-F238E27FC236}">
                <a16:creationId xmlns:a16="http://schemas.microsoft.com/office/drawing/2014/main" id="{A198E761-88FA-4E45-9A7A-26528164B680}"/>
              </a:ext>
            </a:extLst>
          </p:cNvPr>
          <p:cNvSpPr>
            <a:spLocks noGrp="1"/>
          </p:cNvSpPr>
          <p:nvPr/>
        </p:nvSpPr>
        <p:spPr>
          <a:xfrm>
            <a:off x="2947988" y="1257919"/>
            <a:ext cx="1028700" cy="42464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859">
            <a:solidFill>
              <a:srgbClr val="6F879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Fine</a:t>
            </a:r>
          </a:p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Coarse</a:t>
            </a:r>
          </a:p>
        </p:txBody>
      </p:sp>
      <p:sp>
        <p:nvSpPr>
          <p:cNvPr id="23" name="FIG1_PANEL_A__DECOMP_LABEL">
            <a:extLst>
              <a:ext uri="{FF2B5EF4-FFF2-40B4-BE49-F238E27FC236}">
                <a16:creationId xmlns:a16="http://schemas.microsoft.com/office/drawing/2014/main" id="{44ACC2D0-2874-4F8B-A76A-575CC0400B70}"/>
              </a:ext>
            </a:extLst>
          </p:cNvPr>
          <p:cNvSpPr>
            <a:spLocks noGrp="1"/>
          </p:cNvSpPr>
          <p:nvPr/>
        </p:nvSpPr>
        <p:spPr>
          <a:xfrm>
            <a:off x="2800350" y="1695450"/>
            <a:ext cx="133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4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Same-Time-Axis Fixed Dual-Granularity Decomposition</a:t>
            </a:r>
          </a:p>
        </p:txBody>
      </p:sp>
      <p:sp>
        <p:nvSpPr>
          <p:cNvPr id="24" name="FIG1_PANEL_A__TIMELINE">
            <a:extLst>
              <a:ext uri="{FF2B5EF4-FFF2-40B4-BE49-F238E27FC236}">
                <a16:creationId xmlns:a16="http://schemas.microsoft.com/office/drawing/2014/main" id="{35F072AC-3DD1-4559-B4F3-64EC6C4CD991}"/>
              </a:ext>
            </a:extLst>
          </p:cNvPr>
          <p:cNvSpPr>
            <a:spLocks noGrp="1"/>
          </p:cNvSpPr>
          <p:nvPr/>
        </p:nvSpPr>
        <p:spPr>
          <a:xfrm>
            <a:off x="433388" y="2273084"/>
            <a:ext cx="3443288" cy="664"/>
          </a:xfrm>
          <a:prstGeom prst="line">
            <a:avLst/>
          </a:prstGeom>
          <a:noFill/>
          <a:ln w="11906">
            <a:solidFill>
              <a:srgbClr val="6F8795"/>
            </a:solidFill>
            <a:prstDash val="solid"/>
          </a:ln>
        </p:spPr>
      </p:sp>
      <p:sp>
        <p:nvSpPr>
          <p:cNvPr id="25" name="FIG1_PANEL_A__TICK_0">
            <a:extLst>
              <a:ext uri="{FF2B5EF4-FFF2-40B4-BE49-F238E27FC236}">
                <a16:creationId xmlns:a16="http://schemas.microsoft.com/office/drawing/2014/main" id="{805EBDFB-B638-4142-A025-B05B4E185B8F}"/>
              </a:ext>
            </a:extLst>
          </p:cNvPr>
          <p:cNvSpPr>
            <a:spLocks noGrp="1"/>
          </p:cNvSpPr>
          <p:nvPr/>
        </p:nvSpPr>
        <p:spPr>
          <a:xfrm>
            <a:off x="433388" y="2246543"/>
            <a:ext cx="1430" cy="53080"/>
          </a:xfrm>
          <a:prstGeom prst="line">
            <a:avLst/>
          </a:prstGeom>
          <a:noFill/>
          <a:ln w="7620">
            <a:solidFill>
              <a:srgbClr val="6F8795"/>
            </a:solidFill>
            <a:prstDash val="solid"/>
          </a:ln>
        </p:spPr>
      </p:sp>
      <p:sp>
        <p:nvSpPr>
          <p:cNvPr id="26" name="FIG1_PANEL_A__TICK_1">
            <a:extLst>
              <a:ext uri="{FF2B5EF4-FFF2-40B4-BE49-F238E27FC236}">
                <a16:creationId xmlns:a16="http://schemas.microsoft.com/office/drawing/2014/main" id="{AE887B5D-973C-4595-B9E2-81F1579D0054}"/>
              </a:ext>
            </a:extLst>
          </p:cNvPr>
          <p:cNvSpPr>
            <a:spLocks noGrp="1"/>
          </p:cNvSpPr>
          <p:nvPr/>
        </p:nvSpPr>
        <p:spPr>
          <a:xfrm>
            <a:off x="719138" y="2246543"/>
            <a:ext cx="1430" cy="53080"/>
          </a:xfrm>
          <a:prstGeom prst="line">
            <a:avLst/>
          </a:prstGeom>
          <a:noFill/>
          <a:ln w="7620">
            <a:solidFill>
              <a:srgbClr val="6F8795"/>
            </a:solidFill>
            <a:prstDash val="solid"/>
          </a:ln>
        </p:spPr>
      </p:sp>
      <p:sp>
        <p:nvSpPr>
          <p:cNvPr id="27" name="FIG1_PANEL_A__TICK_2">
            <a:extLst>
              <a:ext uri="{FF2B5EF4-FFF2-40B4-BE49-F238E27FC236}">
                <a16:creationId xmlns:a16="http://schemas.microsoft.com/office/drawing/2014/main" id="{3D72F5FC-579B-424D-9281-3BB509D5E6E5}"/>
              </a:ext>
            </a:extLst>
          </p:cNvPr>
          <p:cNvSpPr>
            <a:spLocks noGrp="1"/>
          </p:cNvSpPr>
          <p:nvPr/>
        </p:nvSpPr>
        <p:spPr>
          <a:xfrm>
            <a:off x="1004888" y="2246543"/>
            <a:ext cx="1430" cy="53080"/>
          </a:xfrm>
          <a:prstGeom prst="line">
            <a:avLst/>
          </a:prstGeom>
          <a:noFill/>
          <a:ln w="7620">
            <a:solidFill>
              <a:srgbClr val="6F8795"/>
            </a:solidFill>
            <a:prstDash val="solid"/>
          </a:ln>
        </p:spPr>
      </p:sp>
      <p:sp>
        <p:nvSpPr>
          <p:cNvPr id="28" name="FIG1_PANEL_A__TICK_3">
            <a:extLst>
              <a:ext uri="{FF2B5EF4-FFF2-40B4-BE49-F238E27FC236}">
                <a16:creationId xmlns:a16="http://schemas.microsoft.com/office/drawing/2014/main" id="{C3D2F51A-88AE-4708-A712-DCEF2BB5D744}"/>
              </a:ext>
            </a:extLst>
          </p:cNvPr>
          <p:cNvSpPr>
            <a:spLocks noGrp="1"/>
          </p:cNvSpPr>
          <p:nvPr/>
        </p:nvSpPr>
        <p:spPr>
          <a:xfrm>
            <a:off x="1290638" y="2246543"/>
            <a:ext cx="1430" cy="53080"/>
          </a:xfrm>
          <a:prstGeom prst="line">
            <a:avLst/>
          </a:prstGeom>
          <a:noFill/>
          <a:ln w="7620">
            <a:solidFill>
              <a:srgbClr val="6F8795"/>
            </a:solidFill>
            <a:prstDash val="solid"/>
          </a:ln>
        </p:spPr>
      </p:sp>
      <p:sp>
        <p:nvSpPr>
          <p:cNvPr id="29" name="FIG1_PANEL_A__TICK_4">
            <a:extLst>
              <a:ext uri="{FF2B5EF4-FFF2-40B4-BE49-F238E27FC236}">
                <a16:creationId xmlns:a16="http://schemas.microsoft.com/office/drawing/2014/main" id="{DF000A65-D08D-46FD-9E15-398CCC132114}"/>
              </a:ext>
            </a:extLst>
          </p:cNvPr>
          <p:cNvSpPr>
            <a:spLocks noGrp="1"/>
          </p:cNvSpPr>
          <p:nvPr/>
        </p:nvSpPr>
        <p:spPr>
          <a:xfrm>
            <a:off x="1576388" y="2246543"/>
            <a:ext cx="1430" cy="53080"/>
          </a:xfrm>
          <a:prstGeom prst="line">
            <a:avLst/>
          </a:prstGeom>
          <a:noFill/>
          <a:ln w="7620">
            <a:solidFill>
              <a:srgbClr val="6F8795"/>
            </a:solidFill>
            <a:prstDash val="solid"/>
          </a:ln>
        </p:spPr>
      </p:sp>
      <p:sp>
        <p:nvSpPr>
          <p:cNvPr id="30" name="FIG1_PANEL_A__TICK_5">
            <a:extLst>
              <a:ext uri="{FF2B5EF4-FFF2-40B4-BE49-F238E27FC236}">
                <a16:creationId xmlns:a16="http://schemas.microsoft.com/office/drawing/2014/main" id="{247ACD9B-9E01-4F59-A1F1-C485D5FA8488}"/>
              </a:ext>
            </a:extLst>
          </p:cNvPr>
          <p:cNvSpPr>
            <a:spLocks noGrp="1"/>
          </p:cNvSpPr>
          <p:nvPr/>
        </p:nvSpPr>
        <p:spPr>
          <a:xfrm>
            <a:off x="1862138" y="2246543"/>
            <a:ext cx="1430" cy="53080"/>
          </a:xfrm>
          <a:prstGeom prst="line">
            <a:avLst/>
          </a:prstGeom>
          <a:noFill/>
          <a:ln w="7620">
            <a:solidFill>
              <a:srgbClr val="6F8795"/>
            </a:solidFill>
            <a:prstDash val="solid"/>
          </a:ln>
        </p:spPr>
      </p:sp>
      <p:sp>
        <p:nvSpPr>
          <p:cNvPr id="31" name="FIG1_PANEL_A__TICK_6">
            <a:extLst>
              <a:ext uri="{FF2B5EF4-FFF2-40B4-BE49-F238E27FC236}">
                <a16:creationId xmlns:a16="http://schemas.microsoft.com/office/drawing/2014/main" id="{309F7F30-BA20-4D9F-B3F9-14A4343E9365}"/>
              </a:ext>
            </a:extLst>
          </p:cNvPr>
          <p:cNvSpPr>
            <a:spLocks noGrp="1"/>
          </p:cNvSpPr>
          <p:nvPr/>
        </p:nvSpPr>
        <p:spPr>
          <a:xfrm>
            <a:off x="2147888" y="2246543"/>
            <a:ext cx="1430" cy="53080"/>
          </a:xfrm>
          <a:prstGeom prst="line">
            <a:avLst/>
          </a:prstGeom>
          <a:noFill/>
          <a:ln w="7620">
            <a:solidFill>
              <a:srgbClr val="6F8795"/>
            </a:solidFill>
            <a:prstDash val="solid"/>
          </a:ln>
        </p:spPr>
      </p:sp>
      <p:sp>
        <p:nvSpPr>
          <p:cNvPr id="32" name="FIG1_PANEL_A__TICK_7">
            <a:extLst>
              <a:ext uri="{FF2B5EF4-FFF2-40B4-BE49-F238E27FC236}">
                <a16:creationId xmlns:a16="http://schemas.microsoft.com/office/drawing/2014/main" id="{D7683482-3AFC-4462-8E3A-070C934F8A49}"/>
              </a:ext>
            </a:extLst>
          </p:cNvPr>
          <p:cNvSpPr>
            <a:spLocks noGrp="1"/>
          </p:cNvSpPr>
          <p:nvPr/>
        </p:nvSpPr>
        <p:spPr>
          <a:xfrm>
            <a:off x="2433638" y="2246543"/>
            <a:ext cx="1430" cy="53080"/>
          </a:xfrm>
          <a:prstGeom prst="line">
            <a:avLst/>
          </a:prstGeom>
          <a:noFill/>
          <a:ln w="7620">
            <a:solidFill>
              <a:srgbClr val="6F8795"/>
            </a:solidFill>
            <a:prstDash val="solid"/>
          </a:ln>
        </p:spPr>
      </p:sp>
      <p:sp>
        <p:nvSpPr>
          <p:cNvPr id="33" name="FIG1_PANEL_A__TICK_8">
            <a:extLst>
              <a:ext uri="{FF2B5EF4-FFF2-40B4-BE49-F238E27FC236}">
                <a16:creationId xmlns:a16="http://schemas.microsoft.com/office/drawing/2014/main" id="{956BA9DA-0B49-484F-8BC3-BAD5D3AE51CB}"/>
              </a:ext>
            </a:extLst>
          </p:cNvPr>
          <p:cNvSpPr>
            <a:spLocks noGrp="1"/>
          </p:cNvSpPr>
          <p:nvPr/>
        </p:nvSpPr>
        <p:spPr>
          <a:xfrm>
            <a:off x="2719388" y="2246543"/>
            <a:ext cx="1430" cy="53080"/>
          </a:xfrm>
          <a:prstGeom prst="line">
            <a:avLst/>
          </a:prstGeom>
          <a:noFill/>
          <a:ln w="7620">
            <a:solidFill>
              <a:srgbClr val="6F8795"/>
            </a:solidFill>
            <a:prstDash val="solid"/>
          </a:ln>
        </p:spPr>
      </p:sp>
      <p:sp>
        <p:nvSpPr>
          <p:cNvPr id="34" name="FIG1_PANEL_A__TICK_9">
            <a:extLst>
              <a:ext uri="{FF2B5EF4-FFF2-40B4-BE49-F238E27FC236}">
                <a16:creationId xmlns:a16="http://schemas.microsoft.com/office/drawing/2014/main" id="{BC79AF48-9E7E-4837-8460-CC3E004750BC}"/>
              </a:ext>
            </a:extLst>
          </p:cNvPr>
          <p:cNvSpPr>
            <a:spLocks noGrp="1"/>
          </p:cNvSpPr>
          <p:nvPr/>
        </p:nvSpPr>
        <p:spPr>
          <a:xfrm>
            <a:off x="3005138" y="2246543"/>
            <a:ext cx="1430" cy="53080"/>
          </a:xfrm>
          <a:prstGeom prst="line">
            <a:avLst/>
          </a:prstGeom>
          <a:noFill/>
          <a:ln w="7620">
            <a:solidFill>
              <a:srgbClr val="6F8795"/>
            </a:solidFill>
            <a:prstDash val="solid"/>
          </a:ln>
        </p:spPr>
      </p:sp>
      <p:sp>
        <p:nvSpPr>
          <p:cNvPr id="35" name="FIG1_PANEL_A__TICK_10">
            <a:extLst>
              <a:ext uri="{FF2B5EF4-FFF2-40B4-BE49-F238E27FC236}">
                <a16:creationId xmlns:a16="http://schemas.microsoft.com/office/drawing/2014/main" id="{388DCBDD-19BC-49B8-A425-6972DF28412C}"/>
              </a:ext>
            </a:extLst>
          </p:cNvPr>
          <p:cNvSpPr>
            <a:spLocks noGrp="1"/>
          </p:cNvSpPr>
          <p:nvPr/>
        </p:nvSpPr>
        <p:spPr>
          <a:xfrm>
            <a:off x="3290888" y="2246543"/>
            <a:ext cx="1430" cy="53080"/>
          </a:xfrm>
          <a:prstGeom prst="line">
            <a:avLst/>
          </a:prstGeom>
          <a:noFill/>
          <a:ln w="7620">
            <a:solidFill>
              <a:srgbClr val="6F8795"/>
            </a:solidFill>
            <a:prstDash val="solid"/>
          </a:ln>
        </p:spPr>
      </p:sp>
      <p:sp>
        <p:nvSpPr>
          <p:cNvPr id="36" name="FIG1_PANEL_A__TICK_11">
            <a:extLst>
              <a:ext uri="{FF2B5EF4-FFF2-40B4-BE49-F238E27FC236}">
                <a16:creationId xmlns:a16="http://schemas.microsoft.com/office/drawing/2014/main" id="{99D5FC8C-9228-45E7-B9C5-C25BE4F1C9E7}"/>
              </a:ext>
            </a:extLst>
          </p:cNvPr>
          <p:cNvSpPr>
            <a:spLocks noGrp="1"/>
          </p:cNvSpPr>
          <p:nvPr/>
        </p:nvSpPr>
        <p:spPr>
          <a:xfrm>
            <a:off x="3576638" y="2246543"/>
            <a:ext cx="1430" cy="53080"/>
          </a:xfrm>
          <a:prstGeom prst="line">
            <a:avLst/>
          </a:prstGeom>
          <a:noFill/>
          <a:ln w="7620">
            <a:solidFill>
              <a:srgbClr val="6F8795"/>
            </a:solidFill>
            <a:prstDash val="solid"/>
          </a:ln>
        </p:spPr>
      </p:sp>
      <p:sp>
        <p:nvSpPr>
          <p:cNvPr id="37" name="FIG1_PANEL_A__TICK_12">
            <a:extLst>
              <a:ext uri="{FF2B5EF4-FFF2-40B4-BE49-F238E27FC236}">
                <a16:creationId xmlns:a16="http://schemas.microsoft.com/office/drawing/2014/main" id="{1B30B169-3A12-476E-A4D1-7352C6E70003}"/>
              </a:ext>
            </a:extLst>
          </p:cNvPr>
          <p:cNvSpPr>
            <a:spLocks noGrp="1"/>
          </p:cNvSpPr>
          <p:nvPr/>
        </p:nvSpPr>
        <p:spPr>
          <a:xfrm>
            <a:off x="3862388" y="2246543"/>
            <a:ext cx="1430" cy="53080"/>
          </a:xfrm>
          <a:prstGeom prst="line">
            <a:avLst/>
          </a:prstGeom>
          <a:noFill/>
          <a:ln w="7620">
            <a:solidFill>
              <a:srgbClr val="6F8795"/>
            </a:solidFill>
            <a:prstDash val="solid"/>
          </a:ln>
        </p:spPr>
      </p:sp>
      <p:sp>
        <p:nvSpPr>
          <p:cNvPr id="38" name="FIG1_PANEL_A__SAME_TIME">
            <a:extLst>
              <a:ext uri="{FF2B5EF4-FFF2-40B4-BE49-F238E27FC236}">
                <a16:creationId xmlns:a16="http://schemas.microsoft.com/office/drawing/2014/main" id="{6E0130DA-E738-4D5E-B2F2-F4A607A3C8E1}"/>
              </a:ext>
            </a:extLst>
          </p:cNvPr>
          <p:cNvSpPr>
            <a:spLocks noGrp="1"/>
          </p:cNvSpPr>
          <p:nvPr/>
        </p:nvSpPr>
        <p:spPr>
          <a:xfrm>
            <a:off x="1619250" y="2105025"/>
            <a:ext cx="2333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6F879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6F8795"/>
                </a:solidFill>
                <a:latin typeface="Times New Roman"/>
                <a:ea typeface="Times New Roman"/>
                <a:cs typeface="Times New Roman"/>
              </a:rPr>
              <a:t>Same-Time-Axis · 144 timestamps</a:t>
            </a:r>
          </a:p>
        </p:txBody>
      </p:sp>
      <p:sp>
        <p:nvSpPr>
          <p:cNvPr id="39" name="FIG1_PANEL_A__FINE_LABEL">
            <a:extLst>
              <a:ext uri="{FF2B5EF4-FFF2-40B4-BE49-F238E27FC236}">
                <a16:creationId xmlns:a16="http://schemas.microsoft.com/office/drawing/2014/main" id="{40EEBD53-6EB2-45F3-A9E1-CB95C4B4FC9A}"/>
              </a:ext>
            </a:extLst>
          </p:cNvPr>
          <p:cNvSpPr>
            <a:spLocks noGrp="1"/>
          </p:cNvSpPr>
          <p:nvPr/>
        </p:nvSpPr>
        <p:spPr>
          <a:xfrm>
            <a:off x="376238" y="2324100"/>
            <a:ext cx="628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rPr>
              <a:t>Fine</a:t>
            </a:r>
          </a:p>
        </p:txBody>
      </p:sp>
      <p:sp>
        <p:nvSpPr>
          <p:cNvPr id="57" name="FIG1_PANEL_A__FINE_METHOD">
            <a:extLst>
              <a:ext uri="{FF2B5EF4-FFF2-40B4-BE49-F238E27FC236}">
                <a16:creationId xmlns:a16="http://schemas.microsoft.com/office/drawing/2014/main" id="{FD7781D4-7C20-4CB5-8D98-C78D83835FD1}"/>
              </a:ext>
            </a:extLst>
          </p:cNvPr>
          <p:cNvSpPr>
            <a:spLocks noGrp="1"/>
          </p:cNvSpPr>
          <p:nvPr/>
        </p:nvSpPr>
        <p:spPr>
          <a:xfrm>
            <a:off x="567690" y="2585356"/>
            <a:ext cx="3171825" cy="199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4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Causal </a:t>
            </a:r>
            <a:r>
              <a:rPr sz="1100" b="0" dirty="0" err="1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Depthwise</a:t>
            </a:r>
            <a:r>
              <a:rPr sz="11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 Separable TCN</a:t>
            </a:r>
          </a:p>
        </p:txBody>
      </p:sp>
      <p:sp>
        <p:nvSpPr>
          <p:cNvPr id="59" name="FIG1_PANEL_A__FINE_RESIDUAL">
            <a:extLst>
              <a:ext uri="{FF2B5EF4-FFF2-40B4-BE49-F238E27FC236}">
                <a16:creationId xmlns:a16="http://schemas.microsoft.com/office/drawing/2014/main" id="{3CCF98CC-3741-4916-9E18-2F4A238CA29E}"/>
              </a:ext>
            </a:extLst>
          </p:cNvPr>
          <p:cNvSpPr>
            <a:spLocks noGrp="1"/>
          </p:cNvSpPr>
          <p:nvPr/>
        </p:nvSpPr>
        <p:spPr>
          <a:xfrm>
            <a:off x="567689" y="2847120"/>
            <a:ext cx="3277550" cy="2587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4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Scale-Learned Residual Connection</a:t>
            </a:r>
          </a:p>
        </p:txBody>
      </p:sp>
      <p:sp>
        <p:nvSpPr>
          <p:cNvPr id="60" name="FIG1_PANEL_A__FINE_OUT">
            <a:extLst>
              <a:ext uri="{FF2B5EF4-FFF2-40B4-BE49-F238E27FC236}">
                <a16:creationId xmlns:a16="http://schemas.microsoft.com/office/drawing/2014/main" id="{BBF0EB03-B199-4DFC-919F-0D1FDFF96A06}"/>
              </a:ext>
            </a:extLst>
          </p:cNvPr>
          <p:cNvSpPr>
            <a:spLocks noGrp="1"/>
          </p:cNvSpPr>
          <p:nvPr/>
        </p:nvSpPr>
        <p:spPr>
          <a:xfrm>
            <a:off x="855726" y="3209925"/>
            <a:ext cx="2614613" cy="209550"/>
          </a:xfrm>
          <a:prstGeom prst="roundRect">
            <a:avLst>
              <a:gd name="adj" fmla="val 26667"/>
            </a:avLst>
          </a:prstGeom>
          <a:solidFill>
            <a:srgbClr val="FCEAD8"/>
          </a:solidFill>
          <a:ln w="10478">
            <a:solidFill>
              <a:srgbClr val="E69A54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Fine representation</a:t>
            </a:r>
          </a:p>
        </p:txBody>
      </p:sp>
      <p:sp>
        <p:nvSpPr>
          <p:cNvPr id="61" name="FIG1_PANEL_A__COARSE_LABEL">
            <a:extLst>
              <a:ext uri="{FF2B5EF4-FFF2-40B4-BE49-F238E27FC236}">
                <a16:creationId xmlns:a16="http://schemas.microsoft.com/office/drawing/2014/main" id="{23021C69-B971-4EA8-9818-8CD057DB5A9F}"/>
              </a:ext>
            </a:extLst>
          </p:cNvPr>
          <p:cNvSpPr>
            <a:spLocks noGrp="1"/>
          </p:cNvSpPr>
          <p:nvPr/>
        </p:nvSpPr>
        <p:spPr>
          <a:xfrm>
            <a:off x="347663" y="3505200"/>
            <a:ext cx="7715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rPr>
              <a:t>Coarse</a:t>
            </a:r>
          </a:p>
        </p:txBody>
      </p:sp>
      <p:sp>
        <p:nvSpPr>
          <p:cNvPr id="113" name="FIG1_PANEL_A__COARSE_METHOD">
            <a:extLst>
              <a:ext uri="{FF2B5EF4-FFF2-40B4-BE49-F238E27FC236}">
                <a16:creationId xmlns:a16="http://schemas.microsoft.com/office/drawing/2014/main" id="{F4608903-8C6D-4038-813C-D40D782AC62D}"/>
              </a:ext>
            </a:extLst>
          </p:cNvPr>
          <p:cNvSpPr>
            <a:spLocks noGrp="1"/>
          </p:cNvSpPr>
          <p:nvPr/>
        </p:nvSpPr>
        <p:spPr>
          <a:xfrm>
            <a:off x="447674" y="4011470"/>
            <a:ext cx="3353276" cy="2056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4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Multi-Window Causal Rolling Mean</a:t>
            </a:r>
          </a:p>
        </p:txBody>
      </p:sp>
      <p:sp>
        <p:nvSpPr>
          <p:cNvPr id="116" name="FIG1_PANEL_A__COARSE_RESIDUAL">
            <a:extLst>
              <a:ext uri="{FF2B5EF4-FFF2-40B4-BE49-F238E27FC236}">
                <a16:creationId xmlns:a16="http://schemas.microsoft.com/office/drawing/2014/main" id="{72BE95C2-A900-4677-B26B-92DC1FA586F2}"/>
              </a:ext>
            </a:extLst>
          </p:cNvPr>
          <p:cNvSpPr>
            <a:spLocks noGrp="1"/>
          </p:cNvSpPr>
          <p:nvPr/>
        </p:nvSpPr>
        <p:spPr>
          <a:xfrm>
            <a:off x="542924" y="4305561"/>
            <a:ext cx="3325172" cy="2587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4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Scale-Learned Residual Connection</a:t>
            </a:r>
          </a:p>
        </p:txBody>
      </p:sp>
      <p:sp>
        <p:nvSpPr>
          <p:cNvPr id="117" name="FIG1_PANEL_A__COARSE_OUT">
            <a:extLst>
              <a:ext uri="{FF2B5EF4-FFF2-40B4-BE49-F238E27FC236}">
                <a16:creationId xmlns:a16="http://schemas.microsoft.com/office/drawing/2014/main" id="{E5DE004F-81B3-4891-8A8D-790D073F7C2D}"/>
              </a:ext>
            </a:extLst>
          </p:cNvPr>
          <p:cNvSpPr>
            <a:spLocks noGrp="1"/>
          </p:cNvSpPr>
          <p:nvPr/>
        </p:nvSpPr>
        <p:spPr>
          <a:xfrm>
            <a:off x="853440" y="4657725"/>
            <a:ext cx="2614613" cy="209550"/>
          </a:xfrm>
          <a:prstGeom prst="roundRect">
            <a:avLst>
              <a:gd name="adj" fmla="val 26667"/>
            </a:avLst>
          </a:prstGeom>
          <a:solidFill>
            <a:srgbClr val="DDF2EF"/>
          </a:solidFill>
          <a:ln w="10478">
            <a:solidFill>
              <a:srgbClr val="4F9A96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Coarse representation</a:t>
            </a:r>
          </a:p>
        </p:txBody>
      </p:sp>
      <p:sp>
        <p:nvSpPr>
          <p:cNvPr id="121" name="FIG1_PANEL_A__FLOW_2__LINE">
            <a:extLst>
              <a:ext uri="{FF2B5EF4-FFF2-40B4-BE49-F238E27FC236}">
                <a16:creationId xmlns:a16="http://schemas.microsoft.com/office/drawing/2014/main" id="{B2787070-5F1A-4E84-831F-EA23B5825352}"/>
              </a:ext>
            </a:extLst>
          </p:cNvPr>
          <p:cNvSpPr>
            <a:spLocks noGrp="1"/>
          </p:cNvSpPr>
          <p:nvPr/>
        </p:nvSpPr>
        <p:spPr>
          <a:xfrm>
            <a:off x="2536508" y="1470241"/>
            <a:ext cx="371475" cy="664"/>
          </a:xfrm>
          <a:prstGeom prst="line">
            <a:avLst/>
          </a:prstGeom>
          <a:noFill/>
          <a:ln w="24289">
            <a:solidFill>
              <a:srgbClr val="6F8795"/>
            </a:solidFill>
            <a:prstDash val="solid"/>
          </a:ln>
        </p:spPr>
      </p:sp>
      <p:sp>
        <p:nvSpPr>
          <p:cNvPr id="122" name="FIG1_PANEL_A__FLOW_2__HEAD">
            <a:extLst>
              <a:ext uri="{FF2B5EF4-FFF2-40B4-BE49-F238E27FC236}">
                <a16:creationId xmlns:a16="http://schemas.microsoft.com/office/drawing/2014/main" id="{2BCEF2C1-E9C1-4861-B047-A9F23BF067DF}"/>
              </a:ext>
            </a:extLst>
          </p:cNvPr>
          <p:cNvSpPr>
            <a:spLocks noGrp="1"/>
          </p:cNvSpPr>
          <p:nvPr/>
        </p:nvSpPr>
        <p:spPr>
          <a:xfrm rot="5400000">
            <a:off x="2838450" y="1437066"/>
            <a:ext cx="142875" cy="66351"/>
          </a:xfrm>
          <a:prstGeom prst="triangle">
            <a:avLst/>
          </a:prstGeom>
          <a:solidFill>
            <a:srgbClr val="6F8795"/>
          </a:solidFill>
          <a:ln w="4763">
            <a:solidFill>
              <a:srgbClr val="6F8795"/>
            </a:solidFill>
            <a:prstDash val="solid"/>
          </a:ln>
        </p:spPr>
      </p:sp>
      <p:sp>
        <p:nvSpPr>
          <p:cNvPr id="4" name="FIG1_PANEL_B__BACKGROUND">
            <a:extLst>
              <a:ext uri="{FF2B5EF4-FFF2-40B4-BE49-F238E27FC236}">
                <a16:creationId xmlns:a16="http://schemas.microsoft.com/office/drawing/2014/main" id="{8544368E-9950-4D1B-9719-905DB4292F58}"/>
              </a:ext>
            </a:extLst>
          </p:cNvPr>
          <p:cNvSpPr>
            <a:spLocks noGrp="1"/>
          </p:cNvSpPr>
          <p:nvPr/>
        </p:nvSpPr>
        <p:spPr>
          <a:xfrm>
            <a:off x="4457700" y="586740"/>
            <a:ext cx="4495800" cy="4499610"/>
          </a:xfrm>
          <a:prstGeom prst="roundRect">
            <a:avLst>
              <a:gd name="adj" fmla="val 4138"/>
            </a:avLst>
          </a:prstGeom>
          <a:solidFill>
            <a:srgbClr val="F0FAF8"/>
          </a:solidFill>
          <a:ln w="12859">
            <a:solidFill>
              <a:srgbClr val="86B9B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" name="FIG1_PANEL_B__TITLE">
            <a:extLst>
              <a:ext uri="{FF2B5EF4-FFF2-40B4-BE49-F238E27FC236}">
                <a16:creationId xmlns:a16="http://schemas.microsoft.com/office/drawing/2014/main" id="{2438B34E-EE8D-4FC6-AB26-D6A8D844BF86}"/>
              </a:ext>
            </a:extLst>
          </p:cNvPr>
          <p:cNvSpPr>
            <a:spLocks noGrp="1"/>
          </p:cNvSpPr>
          <p:nvPr/>
        </p:nvSpPr>
        <p:spPr>
          <a:xfrm>
            <a:off x="4519711" y="700540"/>
            <a:ext cx="4371778" cy="3715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800" b="1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2.Dual-Semantic Graph-</a:t>
            </a:r>
          </a:p>
          <a:p>
            <a:pPr algn="ctr">
              <a:lnSpc>
                <a:spcPct val="95000"/>
              </a:lnSpc>
              <a:buNone/>
              <a:defRPr sz="1800" b="1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Temporal Encoding</a:t>
            </a:r>
          </a:p>
        </p:txBody>
      </p:sp>
      <p:sp>
        <p:nvSpPr>
          <p:cNvPr id="123" name="FIG1_PANEL_B__MICRO_LANE">
            <a:extLst>
              <a:ext uri="{FF2B5EF4-FFF2-40B4-BE49-F238E27FC236}">
                <a16:creationId xmlns:a16="http://schemas.microsoft.com/office/drawing/2014/main" id="{429FED22-BF1E-4536-9EA1-FEE9B6F3D97C}"/>
              </a:ext>
            </a:extLst>
          </p:cNvPr>
          <p:cNvSpPr>
            <a:spLocks noGrp="1"/>
          </p:cNvSpPr>
          <p:nvPr/>
        </p:nvSpPr>
        <p:spPr>
          <a:xfrm>
            <a:off x="4643733" y="1216533"/>
            <a:ext cx="1364243" cy="2129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lnSpc>
                <a:spcPct val="95000"/>
              </a:lnSpc>
              <a:buNone/>
              <a:defRPr sz="1200" b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rPr>
              <a:t>Fine / Micro</a:t>
            </a:r>
          </a:p>
        </p:txBody>
      </p:sp>
      <p:sp>
        <p:nvSpPr>
          <p:cNvPr id="124" name="FIG1_PANEL_B__MICRO_GRAPH_ANCHOR">
            <a:extLst>
              <a:ext uri="{FF2B5EF4-FFF2-40B4-BE49-F238E27FC236}">
                <a16:creationId xmlns:a16="http://schemas.microsoft.com/office/drawing/2014/main" id="{61B935E0-0A4F-4819-91E1-743580AB488D}"/>
              </a:ext>
            </a:extLst>
          </p:cNvPr>
          <p:cNvSpPr>
            <a:spLocks noGrp="1"/>
          </p:cNvSpPr>
          <p:nvPr/>
        </p:nvSpPr>
        <p:spPr>
          <a:xfrm>
            <a:off x="4690241" y="1454087"/>
            <a:ext cx="961171" cy="638937"/>
          </a:xfrm>
          <a:prstGeom prst="roundRect">
            <a:avLst>
              <a:gd name="adj" fmla="val 12903"/>
            </a:avLst>
          </a:prstGeom>
          <a:noFill/>
          <a:ln w="11906">
            <a:noFill/>
            <a:prstDash val="solid"/>
          </a:ln>
        </p:spPr>
      </p:sp>
      <p:sp>
        <p:nvSpPr>
          <p:cNvPr id="125" name="FIG1_PANEL_B__MICRO_GRAPH__EDGE_0_1">
            <a:extLst>
              <a:ext uri="{FF2B5EF4-FFF2-40B4-BE49-F238E27FC236}">
                <a16:creationId xmlns:a16="http://schemas.microsoft.com/office/drawing/2014/main" id="{67E57E85-05BD-4051-9038-219C369B7144}"/>
              </a:ext>
            </a:extLst>
          </p:cNvPr>
          <p:cNvSpPr>
            <a:spLocks noGrp="1"/>
          </p:cNvSpPr>
          <p:nvPr/>
        </p:nvSpPr>
        <p:spPr>
          <a:xfrm flipV="1">
            <a:off x="4817984" y="1583512"/>
            <a:ext cx="197195" cy="176936"/>
          </a:xfrm>
          <a:prstGeom prst="line">
            <a:avLst/>
          </a:prstGeom>
          <a:noFill/>
          <a:ln w="14764">
            <a:solidFill>
              <a:srgbClr val="E69A54"/>
            </a:solidFill>
            <a:prstDash val="solid"/>
          </a:ln>
        </p:spPr>
      </p:sp>
      <p:sp>
        <p:nvSpPr>
          <p:cNvPr id="126" name="FIG1_PANEL_B__MICRO_GRAPH__EDGE_0_2">
            <a:extLst>
              <a:ext uri="{FF2B5EF4-FFF2-40B4-BE49-F238E27FC236}">
                <a16:creationId xmlns:a16="http://schemas.microsoft.com/office/drawing/2014/main" id="{CDBA4C43-42D1-452B-B577-22144B333F26}"/>
              </a:ext>
            </a:extLst>
          </p:cNvPr>
          <p:cNvSpPr>
            <a:spLocks noGrp="1"/>
          </p:cNvSpPr>
          <p:nvPr/>
        </p:nvSpPr>
        <p:spPr>
          <a:xfrm>
            <a:off x="4817984" y="1760449"/>
            <a:ext cx="287577" cy="39319"/>
          </a:xfrm>
          <a:prstGeom prst="line">
            <a:avLst/>
          </a:prstGeom>
          <a:noFill/>
          <a:ln w="14764">
            <a:solidFill>
              <a:srgbClr val="E69A54"/>
            </a:solidFill>
            <a:prstDash val="solid"/>
          </a:ln>
        </p:spPr>
      </p:sp>
      <p:sp>
        <p:nvSpPr>
          <p:cNvPr id="127" name="FIG1_PANEL_B__MICRO_GRAPH__EDGE_1_2">
            <a:extLst>
              <a:ext uri="{FF2B5EF4-FFF2-40B4-BE49-F238E27FC236}">
                <a16:creationId xmlns:a16="http://schemas.microsoft.com/office/drawing/2014/main" id="{35BCA887-42FB-49AC-9E00-180FB9ED954B}"/>
              </a:ext>
            </a:extLst>
          </p:cNvPr>
          <p:cNvSpPr>
            <a:spLocks noGrp="1"/>
          </p:cNvSpPr>
          <p:nvPr/>
        </p:nvSpPr>
        <p:spPr>
          <a:xfrm>
            <a:off x="5015179" y="1583512"/>
            <a:ext cx="90381" cy="216256"/>
          </a:xfrm>
          <a:prstGeom prst="line">
            <a:avLst/>
          </a:prstGeom>
          <a:noFill/>
          <a:ln w="14764">
            <a:solidFill>
              <a:srgbClr val="E69A54"/>
            </a:solidFill>
            <a:prstDash val="solid"/>
          </a:ln>
        </p:spPr>
      </p:sp>
      <p:sp>
        <p:nvSpPr>
          <p:cNvPr id="128" name="FIG1_PANEL_B__MICRO_GRAPH__EDGE_1_3">
            <a:extLst>
              <a:ext uri="{FF2B5EF4-FFF2-40B4-BE49-F238E27FC236}">
                <a16:creationId xmlns:a16="http://schemas.microsoft.com/office/drawing/2014/main" id="{5A85662B-9ECA-4C0C-9CA0-96C42C335D62}"/>
              </a:ext>
            </a:extLst>
          </p:cNvPr>
          <p:cNvSpPr>
            <a:spLocks noGrp="1"/>
          </p:cNvSpPr>
          <p:nvPr/>
        </p:nvSpPr>
        <p:spPr>
          <a:xfrm>
            <a:off x="5015179" y="1583512"/>
            <a:ext cx="287577" cy="19660"/>
          </a:xfrm>
          <a:prstGeom prst="line">
            <a:avLst/>
          </a:prstGeom>
          <a:noFill/>
          <a:ln w="14764">
            <a:solidFill>
              <a:srgbClr val="E69A54"/>
            </a:solidFill>
            <a:prstDash val="solid"/>
          </a:ln>
        </p:spPr>
      </p:sp>
      <p:sp>
        <p:nvSpPr>
          <p:cNvPr id="129" name="FIG1_PANEL_B__MICRO_GRAPH__EDGE_2_3">
            <a:extLst>
              <a:ext uri="{FF2B5EF4-FFF2-40B4-BE49-F238E27FC236}">
                <a16:creationId xmlns:a16="http://schemas.microsoft.com/office/drawing/2014/main" id="{3D8B6B3B-4E2F-4054-8C73-F44F90310E6B}"/>
              </a:ext>
            </a:extLst>
          </p:cNvPr>
          <p:cNvSpPr>
            <a:spLocks noGrp="1"/>
          </p:cNvSpPr>
          <p:nvPr/>
        </p:nvSpPr>
        <p:spPr>
          <a:xfrm flipV="1">
            <a:off x="5105561" y="1603172"/>
            <a:ext cx="197195" cy="196596"/>
          </a:xfrm>
          <a:prstGeom prst="line">
            <a:avLst/>
          </a:prstGeom>
          <a:noFill/>
          <a:ln w="14764">
            <a:solidFill>
              <a:srgbClr val="E69A54"/>
            </a:solidFill>
            <a:prstDash val="solid"/>
          </a:ln>
        </p:spPr>
      </p:sp>
      <p:sp>
        <p:nvSpPr>
          <p:cNvPr id="130" name="FIG1_PANEL_B__MICRO_GRAPH__EDGE_2_4">
            <a:extLst>
              <a:ext uri="{FF2B5EF4-FFF2-40B4-BE49-F238E27FC236}">
                <a16:creationId xmlns:a16="http://schemas.microsoft.com/office/drawing/2014/main" id="{35BCBFBB-CAAA-461E-A111-39503120937B}"/>
              </a:ext>
            </a:extLst>
          </p:cNvPr>
          <p:cNvSpPr>
            <a:spLocks noGrp="1"/>
          </p:cNvSpPr>
          <p:nvPr/>
        </p:nvSpPr>
        <p:spPr>
          <a:xfrm>
            <a:off x="5105561" y="1799768"/>
            <a:ext cx="271143" cy="39319"/>
          </a:xfrm>
          <a:prstGeom prst="line">
            <a:avLst/>
          </a:prstGeom>
          <a:noFill/>
          <a:ln w="14764">
            <a:solidFill>
              <a:srgbClr val="E69A54"/>
            </a:solidFill>
            <a:prstDash val="solid"/>
          </a:ln>
        </p:spPr>
      </p:sp>
      <p:sp>
        <p:nvSpPr>
          <p:cNvPr id="131" name="FIG1_PANEL_B__MICRO_GRAPH__EDGE_3_5">
            <a:extLst>
              <a:ext uri="{FF2B5EF4-FFF2-40B4-BE49-F238E27FC236}">
                <a16:creationId xmlns:a16="http://schemas.microsoft.com/office/drawing/2014/main" id="{476FCE23-B5F1-4B87-B7F0-40064D3DB38F}"/>
              </a:ext>
            </a:extLst>
          </p:cNvPr>
          <p:cNvSpPr>
            <a:spLocks noGrp="1"/>
          </p:cNvSpPr>
          <p:nvPr/>
        </p:nvSpPr>
        <p:spPr>
          <a:xfrm>
            <a:off x="5302756" y="1603172"/>
            <a:ext cx="221845" cy="117958"/>
          </a:xfrm>
          <a:prstGeom prst="line">
            <a:avLst/>
          </a:prstGeom>
          <a:noFill/>
          <a:ln w="14764">
            <a:solidFill>
              <a:srgbClr val="E69A54"/>
            </a:solidFill>
            <a:prstDash val="solid"/>
          </a:ln>
        </p:spPr>
      </p:sp>
      <p:sp>
        <p:nvSpPr>
          <p:cNvPr id="132" name="FIG1_PANEL_B__MICRO_GRAPH__EDGE_4_5">
            <a:extLst>
              <a:ext uri="{FF2B5EF4-FFF2-40B4-BE49-F238E27FC236}">
                <a16:creationId xmlns:a16="http://schemas.microsoft.com/office/drawing/2014/main" id="{DD857CDC-4DF8-4970-820F-EB5DF453E8F4}"/>
              </a:ext>
            </a:extLst>
          </p:cNvPr>
          <p:cNvSpPr>
            <a:spLocks noGrp="1"/>
          </p:cNvSpPr>
          <p:nvPr/>
        </p:nvSpPr>
        <p:spPr>
          <a:xfrm flipV="1">
            <a:off x="5376704" y="1721129"/>
            <a:ext cx="147897" cy="117958"/>
          </a:xfrm>
          <a:prstGeom prst="line">
            <a:avLst/>
          </a:prstGeom>
          <a:noFill/>
          <a:ln w="14764">
            <a:solidFill>
              <a:srgbClr val="E69A54"/>
            </a:solidFill>
            <a:prstDash val="solid"/>
          </a:ln>
        </p:spPr>
      </p:sp>
      <p:sp>
        <p:nvSpPr>
          <p:cNvPr id="133" name="FIG1_PANEL_B__MICRO_GRAPH__EDGE_1_5">
            <a:extLst>
              <a:ext uri="{FF2B5EF4-FFF2-40B4-BE49-F238E27FC236}">
                <a16:creationId xmlns:a16="http://schemas.microsoft.com/office/drawing/2014/main" id="{F3B76F81-8E2C-43A7-8480-0B6F100A9113}"/>
              </a:ext>
            </a:extLst>
          </p:cNvPr>
          <p:cNvSpPr>
            <a:spLocks noGrp="1"/>
          </p:cNvSpPr>
          <p:nvPr/>
        </p:nvSpPr>
        <p:spPr>
          <a:xfrm>
            <a:off x="5015179" y="1583512"/>
            <a:ext cx="509421" cy="137617"/>
          </a:xfrm>
          <a:prstGeom prst="line">
            <a:avLst/>
          </a:prstGeom>
          <a:noFill/>
          <a:ln w="14764">
            <a:solidFill>
              <a:srgbClr val="E69A54"/>
            </a:solidFill>
            <a:prstDash val="solid"/>
          </a:ln>
        </p:spPr>
      </p:sp>
      <p:sp>
        <p:nvSpPr>
          <p:cNvPr id="134" name="FIG1_PANEL_B__MICRO_GRAPH__NODE_1">
            <a:extLst>
              <a:ext uri="{FF2B5EF4-FFF2-40B4-BE49-F238E27FC236}">
                <a16:creationId xmlns:a16="http://schemas.microsoft.com/office/drawing/2014/main" id="{55FDB59F-E2BC-4942-93A8-6531C6F67164}"/>
              </a:ext>
            </a:extLst>
          </p:cNvPr>
          <p:cNvSpPr>
            <a:spLocks noGrp="1"/>
          </p:cNvSpPr>
          <p:nvPr/>
        </p:nvSpPr>
        <p:spPr>
          <a:xfrm>
            <a:off x="4732259" y="1674724"/>
            <a:ext cx="171450" cy="1714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E69A54"/>
            </a:solidFill>
            <a:prstDash val="solid"/>
          </a:ln>
        </p:spPr>
      </p:sp>
      <p:sp>
        <p:nvSpPr>
          <p:cNvPr id="135" name="FIG1_PANEL_B__MICRO_GRAPH__NODE_2">
            <a:extLst>
              <a:ext uri="{FF2B5EF4-FFF2-40B4-BE49-F238E27FC236}">
                <a16:creationId xmlns:a16="http://schemas.microsoft.com/office/drawing/2014/main" id="{713522B0-05B8-4B7E-B7B8-15FB9EFA6EC9}"/>
              </a:ext>
            </a:extLst>
          </p:cNvPr>
          <p:cNvSpPr>
            <a:spLocks noGrp="1"/>
          </p:cNvSpPr>
          <p:nvPr/>
        </p:nvSpPr>
        <p:spPr>
          <a:xfrm>
            <a:off x="4929454" y="1497787"/>
            <a:ext cx="171450" cy="1714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E69A54"/>
            </a:solidFill>
            <a:prstDash val="solid"/>
          </a:ln>
        </p:spPr>
      </p:sp>
      <p:sp>
        <p:nvSpPr>
          <p:cNvPr id="136" name="FIG1_PANEL_B__MICRO_GRAPH__NODE_3">
            <a:extLst>
              <a:ext uri="{FF2B5EF4-FFF2-40B4-BE49-F238E27FC236}">
                <a16:creationId xmlns:a16="http://schemas.microsoft.com/office/drawing/2014/main" id="{03B3437A-F2AE-4FB1-9BAC-14BA41A50965}"/>
              </a:ext>
            </a:extLst>
          </p:cNvPr>
          <p:cNvSpPr>
            <a:spLocks noGrp="1"/>
          </p:cNvSpPr>
          <p:nvPr/>
        </p:nvSpPr>
        <p:spPr>
          <a:xfrm>
            <a:off x="5019836" y="1714043"/>
            <a:ext cx="171450" cy="1714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E69A54"/>
            </a:solidFill>
            <a:prstDash val="solid"/>
          </a:ln>
        </p:spPr>
      </p:sp>
      <p:sp>
        <p:nvSpPr>
          <p:cNvPr id="137" name="FIG1_PANEL_B__MICRO_GRAPH__NODE_4">
            <a:extLst>
              <a:ext uri="{FF2B5EF4-FFF2-40B4-BE49-F238E27FC236}">
                <a16:creationId xmlns:a16="http://schemas.microsoft.com/office/drawing/2014/main" id="{3A0768CA-E369-4D1B-88A3-C90DA382DFFA}"/>
              </a:ext>
            </a:extLst>
          </p:cNvPr>
          <p:cNvSpPr>
            <a:spLocks noGrp="1"/>
          </p:cNvSpPr>
          <p:nvPr/>
        </p:nvSpPr>
        <p:spPr>
          <a:xfrm>
            <a:off x="5217031" y="1517447"/>
            <a:ext cx="171450" cy="1714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E69A54"/>
            </a:solidFill>
            <a:prstDash val="solid"/>
          </a:ln>
        </p:spPr>
      </p:sp>
      <p:sp>
        <p:nvSpPr>
          <p:cNvPr id="138" name="FIG1_PANEL_B__MICRO_GRAPH__NODE_5">
            <a:extLst>
              <a:ext uri="{FF2B5EF4-FFF2-40B4-BE49-F238E27FC236}">
                <a16:creationId xmlns:a16="http://schemas.microsoft.com/office/drawing/2014/main" id="{8BB9A122-94DB-4D36-B29D-19384264DC65}"/>
              </a:ext>
            </a:extLst>
          </p:cNvPr>
          <p:cNvSpPr>
            <a:spLocks noGrp="1"/>
          </p:cNvSpPr>
          <p:nvPr/>
        </p:nvSpPr>
        <p:spPr>
          <a:xfrm>
            <a:off x="5290979" y="1753362"/>
            <a:ext cx="171450" cy="1714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E69A54"/>
            </a:solidFill>
            <a:prstDash val="solid"/>
          </a:ln>
        </p:spPr>
      </p:sp>
      <p:sp>
        <p:nvSpPr>
          <p:cNvPr id="139" name="FIG1_PANEL_B__MICRO_GRAPH__NODE_6">
            <a:extLst>
              <a:ext uri="{FF2B5EF4-FFF2-40B4-BE49-F238E27FC236}">
                <a16:creationId xmlns:a16="http://schemas.microsoft.com/office/drawing/2014/main" id="{07E04886-E9E1-4C1A-8994-5C9D50D4B773}"/>
              </a:ext>
            </a:extLst>
          </p:cNvPr>
          <p:cNvSpPr>
            <a:spLocks noGrp="1"/>
          </p:cNvSpPr>
          <p:nvPr/>
        </p:nvSpPr>
        <p:spPr>
          <a:xfrm>
            <a:off x="5438876" y="1635404"/>
            <a:ext cx="171450" cy="1714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E69A54"/>
            </a:solidFill>
            <a:prstDash val="solid"/>
          </a:ln>
        </p:spPr>
      </p:sp>
      <p:sp>
        <p:nvSpPr>
          <p:cNvPr id="140" name="FIG1_PANEL_B__MICRO_GRAPH_LABEL">
            <a:extLst>
              <a:ext uri="{FF2B5EF4-FFF2-40B4-BE49-F238E27FC236}">
                <a16:creationId xmlns:a16="http://schemas.microsoft.com/office/drawing/2014/main" id="{C43EC43A-BE85-42DD-9C40-85EA453F0B06}"/>
              </a:ext>
            </a:extLst>
          </p:cNvPr>
          <p:cNvSpPr>
            <a:spLocks noGrp="1"/>
          </p:cNvSpPr>
          <p:nvPr/>
        </p:nvSpPr>
        <p:spPr>
          <a:xfrm>
            <a:off x="4621606" y="1939214"/>
            <a:ext cx="1178210" cy="2211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Micro Local Graph</a:t>
            </a:r>
          </a:p>
        </p:txBody>
      </p:sp>
      <p:sp>
        <p:nvSpPr>
          <p:cNvPr id="141" name="FIG1_PANEL_B__MICRO_GRAPH_NOTE">
            <a:extLst>
              <a:ext uri="{FF2B5EF4-FFF2-40B4-BE49-F238E27FC236}">
                <a16:creationId xmlns:a16="http://schemas.microsoft.com/office/drawing/2014/main" id="{8E8DE14E-DF5C-4C06-9E9F-0B879CACB024}"/>
              </a:ext>
            </a:extLst>
          </p:cNvPr>
          <p:cNvSpPr>
            <a:spLocks noGrp="1"/>
          </p:cNvSpPr>
          <p:nvPr/>
        </p:nvSpPr>
        <p:spPr>
          <a:xfrm>
            <a:off x="4561272" y="2139986"/>
            <a:ext cx="1626168" cy="3112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dirty="0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rPr>
              <a:t>1st-order </a:t>
            </a:r>
            <a:r>
              <a:rPr sz="1100" dirty="0" err="1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rPr>
              <a:t>ΔWspd</a:t>
            </a:r>
            <a:r>
              <a:rPr sz="1100" dirty="0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rPr>
              <a:t>+ distance</a:t>
            </a:r>
          </a:p>
        </p:txBody>
      </p:sp>
      <p:sp>
        <p:nvSpPr>
          <p:cNvPr id="142" name="FIG1_PANEL_B__MICRO_ADAPT">
            <a:extLst>
              <a:ext uri="{FF2B5EF4-FFF2-40B4-BE49-F238E27FC236}">
                <a16:creationId xmlns:a16="http://schemas.microsoft.com/office/drawing/2014/main" id="{11F9810D-4DF0-49AA-87F4-AAEC54638853}"/>
              </a:ext>
            </a:extLst>
          </p:cNvPr>
          <p:cNvSpPr>
            <a:spLocks noGrp="1"/>
          </p:cNvSpPr>
          <p:nvPr/>
        </p:nvSpPr>
        <p:spPr>
          <a:xfrm>
            <a:off x="5827110" y="1609725"/>
            <a:ext cx="1054188" cy="393192"/>
          </a:xfrm>
          <a:prstGeom prst="roundRect">
            <a:avLst>
              <a:gd name="adj" fmla="val 16667"/>
            </a:avLst>
          </a:prstGeom>
          <a:solidFill>
            <a:srgbClr val="FCEAD8"/>
          </a:solidFill>
          <a:ln w="10478">
            <a:solidFill>
              <a:srgbClr val="E69A54"/>
            </a:solidFill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1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Prior ×</a:t>
            </a:r>
          </a:p>
          <a:p>
            <a:pPr algn="ctr">
              <a:lnSpc>
                <a:spcPct val="95000"/>
              </a:lnSpc>
              <a:buNone/>
              <a:defRPr sz="11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learned weights</a:t>
            </a:r>
          </a:p>
        </p:txBody>
      </p:sp>
      <p:sp>
        <p:nvSpPr>
          <p:cNvPr id="143" name="FIG1_PANEL_B__MICRO_DIFF">
            <a:extLst>
              <a:ext uri="{FF2B5EF4-FFF2-40B4-BE49-F238E27FC236}">
                <a16:creationId xmlns:a16="http://schemas.microsoft.com/office/drawing/2014/main" id="{4A8113C2-95A4-4BC0-A3A6-2401EAB15655}"/>
              </a:ext>
            </a:extLst>
          </p:cNvPr>
          <p:cNvSpPr>
            <a:spLocks noGrp="1"/>
          </p:cNvSpPr>
          <p:nvPr/>
        </p:nvSpPr>
        <p:spPr>
          <a:xfrm>
            <a:off x="7124174" y="1536002"/>
            <a:ext cx="1333237" cy="540639"/>
          </a:xfrm>
          <a:prstGeom prst="roundRect">
            <a:avLst>
              <a:gd name="adj" fmla="val 12121"/>
            </a:avLst>
          </a:prstGeom>
          <a:solidFill>
            <a:srgbClr val="FCEAD8"/>
          </a:solidFill>
          <a:ln w="10478">
            <a:solidFill>
              <a:srgbClr val="E69A54"/>
            </a:solidFill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endParaRPr sz="1000">
              <a:solidFill>
                <a:srgbClr val="17232C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6" name="FIG1_PANEL_B__MICRO_TCN__LAYER_1">
            <a:extLst>
              <a:ext uri="{FF2B5EF4-FFF2-40B4-BE49-F238E27FC236}">
                <a16:creationId xmlns:a16="http://schemas.microsoft.com/office/drawing/2014/main" id="{E3ECD77A-837E-4083-BC46-EE277C24A0B5}"/>
              </a:ext>
            </a:extLst>
          </p:cNvPr>
          <p:cNvSpPr>
            <a:spLocks noGrp="1"/>
          </p:cNvSpPr>
          <p:nvPr/>
        </p:nvSpPr>
        <p:spPr>
          <a:xfrm>
            <a:off x="7167587" y="2413148"/>
            <a:ext cx="1209726" cy="344043"/>
          </a:xfrm>
          <a:prstGeom prst="roundRect">
            <a:avLst>
              <a:gd name="adj" fmla="val 10714"/>
            </a:avLst>
          </a:prstGeom>
          <a:solidFill>
            <a:srgbClr val="FCEAD8"/>
          </a:solidFill>
          <a:ln w="9525">
            <a:solidFill>
              <a:srgbClr val="E69A54"/>
            </a:solidFill>
            <a:prstDash val="solid"/>
          </a:ln>
        </p:spPr>
      </p:sp>
      <p:sp>
        <p:nvSpPr>
          <p:cNvPr id="144" name="FIG1_PANEL_B__MICRO_DIFF_LABEL">
            <a:extLst>
              <a:ext uri="{FF2B5EF4-FFF2-40B4-BE49-F238E27FC236}">
                <a16:creationId xmlns:a16="http://schemas.microsoft.com/office/drawing/2014/main" id="{B740D01E-2C8A-454A-89B1-F526C7462478}"/>
              </a:ext>
            </a:extLst>
          </p:cNvPr>
          <p:cNvSpPr>
            <a:spLocks noGrp="1"/>
          </p:cNvSpPr>
          <p:nvPr/>
        </p:nvSpPr>
        <p:spPr>
          <a:xfrm>
            <a:off x="7082834" y="1602080"/>
            <a:ext cx="1432455" cy="4316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4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Bidirectional 2nd-Order Graph Diffusion</a:t>
            </a:r>
          </a:p>
        </p:txBody>
      </p:sp>
      <p:sp>
        <p:nvSpPr>
          <p:cNvPr id="147" name="FIG1_PANEL_B__MICRO_TCN_PARAM">
            <a:extLst>
              <a:ext uri="{FF2B5EF4-FFF2-40B4-BE49-F238E27FC236}">
                <a16:creationId xmlns:a16="http://schemas.microsoft.com/office/drawing/2014/main" id="{C1DD36A9-4211-487E-A06E-9F9B056D1677}"/>
              </a:ext>
            </a:extLst>
          </p:cNvPr>
          <p:cNvSpPr>
            <a:spLocks noGrp="1"/>
          </p:cNvSpPr>
          <p:nvPr/>
        </p:nvSpPr>
        <p:spPr>
          <a:xfrm>
            <a:off x="7089735" y="2794093"/>
            <a:ext cx="1448658" cy="203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00" b="0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rPr>
              <a:t>k = 3</a:t>
            </a:r>
            <a:r>
              <a:rPr sz="1100" dirty="0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b="0" dirty="0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rPr>
              <a:t>d = {1,2}</a:t>
            </a:r>
          </a:p>
        </p:txBody>
      </p:sp>
      <p:sp>
        <p:nvSpPr>
          <p:cNvPr id="154" name="FIG1_PANEL_B__MACRO_LANE">
            <a:extLst>
              <a:ext uri="{FF2B5EF4-FFF2-40B4-BE49-F238E27FC236}">
                <a16:creationId xmlns:a16="http://schemas.microsoft.com/office/drawing/2014/main" id="{85F90844-C3CF-475D-BC57-654A4C482BD3}"/>
              </a:ext>
            </a:extLst>
          </p:cNvPr>
          <p:cNvSpPr>
            <a:spLocks noGrp="1"/>
          </p:cNvSpPr>
          <p:nvPr/>
        </p:nvSpPr>
        <p:spPr>
          <a:xfrm>
            <a:off x="4643731" y="3338428"/>
            <a:ext cx="1781391" cy="2113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lnSpc>
                <a:spcPct val="95000"/>
              </a:lnSpc>
              <a:buNone/>
              <a:defRPr sz="1200" b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rPr>
              <a:t>Coarse / Macro</a:t>
            </a:r>
          </a:p>
        </p:txBody>
      </p:sp>
      <p:sp>
        <p:nvSpPr>
          <p:cNvPr id="155" name="FIG1_PANEL_B__MACRO_GRAPH_ANCHOR">
            <a:extLst>
              <a:ext uri="{FF2B5EF4-FFF2-40B4-BE49-F238E27FC236}">
                <a16:creationId xmlns:a16="http://schemas.microsoft.com/office/drawing/2014/main" id="{8CEE21CA-70B5-419D-BA0F-20742219BA00}"/>
              </a:ext>
            </a:extLst>
          </p:cNvPr>
          <p:cNvSpPr>
            <a:spLocks noGrp="1"/>
          </p:cNvSpPr>
          <p:nvPr/>
        </p:nvSpPr>
        <p:spPr>
          <a:xfrm>
            <a:off x="4690241" y="3534295"/>
            <a:ext cx="961171" cy="628130"/>
          </a:xfrm>
          <a:prstGeom prst="roundRect">
            <a:avLst>
              <a:gd name="adj" fmla="val 12903"/>
            </a:avLst>
          </a:prstGeom>
          <a:noFill/>
          <a:ln w="11906">
            <a:noFill/>
            <a:prstDash val="solid"/>
          </a:ln>
        </p:spPr>
      </p:sp>
      <p:sp>
        <p:nvSpPr>
          <p:cNvPr id="156" name="FIG1_PANEL_B__MACRO_GRAPH__EDGE_0_1">
            <a:extLst>
              <a:ext uri="{FF2B5EF4-FFF2-40B4-BE49-F238E27FC236}">
                <a16:creationId xmlns:a16="http://schemas.microsoft.com/office/drawing/2014/main" id="{021117AB-2303-4FD7-81C3-F04B18ECCA6E}"/>
              </a:ext>
            </a:extLst>
          </p:cNvPr>
          <p:cNvSpPr>
            <a:spLocks noGrp="1"/>
          </p:cNvSpPr>
          <p:nvPr/>
        </p:nvSpPr>
        <p:spPr>
          <a:xfrm flipV="1">
            <a:off x="4817984" y="3661531"/>
            <a:ext cx="197195" cy="173944"/>
          </a:xfrm>
          <a:prstGeom prst="line">
            <a:avLst/>
          </a:prstGeom>
          <a:noFill/>
          <a:ln w="14764">
            <a:solidFill>
              <a:srgbClr val="4F9A96"/>
            </a:solidFill>
            <a:prstDash val="solid"/>
          </a:ln>
        </p:spPr>
      </p:sp>
      <p:sp>
        <p:nvSpPr>
          <p:cNvPr id="148" name="FIG1_PANEL_B__MICRO_TCN_LABEL">
            <a:extLst>
              <a:ext uri="{FF2B5EF4-FFF2-40B4-BE49-F238E27FC236}">
                <a16:creationId xmlns:a16="http://schemas.microsoft.com/office/drawing/2014/main" id="{5EE9B544-CC79-4405-B26D-7492BFB4CC07}"/>
              </a:ext>
            </a:extLst>
          </p:cNvPr>
          <p:cNvSpPr>
            <a:spLocks noGrp="1"/>
          </p:cNvSpPr>
          <p:nvPr/>
        </p:nvSpPr>
        <p:spPr>
          <a:xfrm>
            <a:off x="7173451" y="2425162"/>
            <a:ext cx="1172370" cy="30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4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Asymmetric Causal TCN</a:t>
            </a:r>
          </a:p>
        </p:txBody>
      </p:sp>
      <p:sp>
        <p:nvSpPr>
          <p:cNvPr id="157" name="FIG1_PANEL_B__MACRO_GRAPH__EDGE_0_2">
            <a:extLst>
              <a:ext uri="{FF2B5EF4-FFF2-40B4-BE49-F238E27FC236}">
                <a16:creationId xmlns:a16="http://schemas.microsoft.com/office/drawing/2014/main" id="{D02EAAE0-BFCF-44FF-AC8C-AA01A794DCC6}"/>
              </a:ext>
            </a:extLst>
          </p:cNvPr>
          <p:cNvSpPr>
            <a:spLocks noGrp="1"/>
          </p:cNvSpPr>
          <p:nvPr/>
        </p:nvSpPr>
        <p:spPr>
          <a:xfrm>
            <a:off x="4817984" y="3835475"/>
            <a:ext cx="287577" cy="38654"/>
          </a:xfrm>
          <a:prstGeom prst="line">
            <a:avLst/>
          </a:prstGeom>
          <a:noFill/>
          <a:ln w="14764">
            <a:solidFill>
              <a:srgbClr val="4F9A96"/>
            </a:solidFill>
            <a:prstDash val="solid"/>
          </a:ln>
        </p:spPr>
      </p:sp>
      <p:sp>
        <p:nvSpPr>
          <p:cNvPr id="158" name="FIG1_PANEL_B__MACRO_GRAPH__EDGE_1_2">
            <a:extLst>
              <a:ext uri="{FF2B5EF4-FFF2-40B4-BE49-F238E27FC236}">
                <a16:creationId xmlns:a16="http://schemas.microsoft.com/office/drawing/2014/main" id="{889CAAE2-7776-48FB-B178-04898D133B10}"/>
              </a:ext>
            </a:extLst>
          </p:cNvPr>
          <p:cNvSpPr>
            <a:spLocks noGrp="1"/>
          </p:cNvSpPr>
          <p:nvPr/>
        </p:nvSpPr>
        <p:spPr>
          <a:xfrm>
            <a:off x="5015179" y="3661531"/>
            <a:ext cx="90381" cy="212598"/>
          </a:xfrm>
          <a:prstGeom prst="line">
            <a:avLst/>
          </a:prstGeom>
          <a:noFill/>
          <a:ln w="14764">
            <a:solidFill>
              <a:srgbClr val="4F9A96"/>
            </a:solidFill>
            <a:prstDash val="solid"/>
          </a:ln>
        </p:spPr>
      </p:sp>
      <p:sp>
        <p:nvSpPr>
          <p:cNvPr id="159" name="FIG1_PANEL_B__MACRO_GRAPH__EDGE_1_3">
            <a:extLst>
              <a:ext uri="{FF2B5EF4-FFF2-40B4-BE49-F238E27FC236}">
                <a16:creationId xmlns:a16="http://schemas.microsoft.com/office/drawing/2014/main" id="{92844E3C-4AEA-4527-ABA7-EEFBFDC004B4}"/>
              </a:ext>
            </a:extLst>
          </p:cNvPr>
          <p:cNvSpPr>
            <a:spLocks noGrp="1"/>
          </p:cNvSpPr>
          <p:nvPr/>
        </p:nvSpPr>
        <p:spPr>
          <a:xfrm>
            <a:off x="5015179" y="3661531"/>
            <a:ext cx="287577" cy="19327"/>
          </a:xfrm>
          <a:prstGeom prst="line">
            <a:avLst/>
          </a:prstGeom>
          <a:noFill/>
          <a:ln w="14764">
            <a:solidFill>
              <a:srgbClr val="4F9A96"/>
            </a:solidFill>
            <a:prstDash val="solid"/>
          </a:ln>
        </p:spPr>
      </p:sp>
      <p:sp>
        <p:nvSpPr>
          <p:cNvPr id="160" name="FIG1_PANEL_B__MACRO_GRAPH__EDGE_2_3">
            <a:extLst>
              <a:ext uri="{FF2B5EF4-FFF2-40B4-BE49-F238E27FC236}">
                <a16:creationId xmlns:a16="http://schemas.microsoft.com/office/drawing/2014/main" id="{EF947491-4886-41DE-B968-156126F956B1}"/>
              </a:ext>
            </a:extLst>
          </p:cNvPr>
          <p:cNvSpPr>
            <a:spLocks noGrp="1"/>
          </p:cNvSpPr>
          <p:nvPr/>
        </p:nvSpPr>
        <p:spPr>
          <a:xfrm flipV="1">
            <a:off x="5105561" y="3680858"/>
            <a:ext cx="197195" cy="193271"/>
          </a:xfrm>
          <a:prstGeom prst="line">
            <a:avLst/>
          </a:prstGeom>
          <a:noFill/>
          <a:ln w="14764">
            <a:solidFill>
              <a:srgbClr val="4F9A96"/>
            </a:solidFill>
            <a:prstDash val="solid"/>
          </a:ln>
        </p:spPr>
      </p:sp>
      <p:sp>
        <p:nvSpPr>
          <p:cNvPr id="161" name="FIG1_PANEL_B__MACRO_GRAPH__EDGE_2_4">
            <a:extLst>
              <a:ext uri="{FF2B5EF4-FFF2-40B4-BE49-F238E27FC236}">
                <a16:creationId xmlns:a16="http://schemas.microsoft.com/office/drawing/2014/main" id="{B894CE17-9405-476A-95FF-6A1479534092}"/>
              </a:ext>
            </a:extLst>
          </p:cNvPr>
          <p:cNvSpPr>
            <a:spLocks noGrp="1"/>
          </p:cNvSpPr>
          <p:nvPr/>
        </p:nvSpPr>
        <p:spPr>
          <a:xfrm>
            <a:off x="5105561" y="3874129"/>
            <a:ext cx="271143" cy="38654"/>
          </a:xfrm>
          <a:prstGeom prst="line">
            <a:avLst/>
          </a:prstGeom>
          <a:noFill/>
          <a:ln w="14764">
            <a:solidFill>
              <a:srgbClr val="4F9A96"/>
            </a:solidFill>
            <a:prstDash val="solid"/>
          </a:ln>
        </p:spPr>
      </p:sp>
      <p:sp>
        <p:nvSpPr>
          <p:cNvPr id="162" name="FIG1_PANEL_B__MACRO_GRAPH__EDGE_3_5">
            <a:extLst>
              <a:ext uri="{FF2B5EF4-FFF2-40B4-BE49-F238E27FC236}">
                <a16:creationId xmlns:a16="http://schemas.microsoft.com/office/drawing/2014/main" id="{835EE700-E3CE-4331-A2EB-20E4622FE543}"/>
              </a:ext>
            </a:extLst>
          </p:cNvPr>
          <p:cNvSpPr>
            <a:spLocks noGrp="1"/>
          </p:cNvSpPr>
          <p:nvPr/>
        </p:nvSpPr>
        <p:spPr>
          <a:xfrm>
            <a:off x="5302756" y="3680858"/>
            <a:ext cx="221845" cy="115963"/>
          </a:xfrm>
          <a:prstGeom prst="line">
            <a:avLst/>
          </a:prstGeom>
          <a:noFill/>
          <a:ln w="14764">
            <a:solidFill>
              <a:srgbClr val="4F9A96"/>
            </a:solidFill>
            <a:prstDash val="solid"/>
          </a:ln>
        </p:spPr>
      </p:sp>
      <p:sp>
        <p:nvSpPr>
          <p:cNvPr id="163" name="FIG1_PANEL_B__MACRO_GRAPH__EDGE_4_5">
            <a:extLst>
              <a:ext uri="{FF2B5EF4-FFF2-40B4-BE49-F238E27FC236}">
                <a16:creationId xmlns:a16="http://schemas.microsoft.com/office/drawing/2014/main" id="{3D5F9BAD-8DE8-4730-AFBF-F5EBE9F5FD97}"/>
              </a:ext>
            </a:extLst>
          </p:cNvPr>
          <p:cNvSpPr>
            <a:spLocks noGrp="1"/>
          </p:cNvSpPr>
          <p:nvPr/>
        </p:nvSpPr>
        <p:spPr>
          <a:xfrm flipV="1">
            <a:off x="5376704" y="3796821"/>
            <a:ext cx="147897" cy="115963"/>
          </a:xfrm>
          <a:prstGeom prst="line">
            <a:avLst/>
          </a:prstGeom>
          <a:noFill/>
          <a:ln w="14764">
            <a:solidFill>
              <a:srgbClr val="4F9A96"/>
            </a:solidFill>
            <a:prstDash val="solid"/>
          </a:ln>
        </p:spPr>
      </p:sp>
      <p:sp>
        <p:nvSpPr>
          <p:cNvPr id="164" name="FIG1_PANEL_B__MACRO_GRAPH__EDGE_1_5">
            <a:extLst>
              <a:ext uri="{FF2B5EF4-FFF2-40B4-BE49-F238E27FC236}">
                <a16:creationId xmlns:a16="http://schemas.microsoft.com/office/drawing/2014/main" id="{D8DDF950-3EF8-42A7-9260-37C619287EA7}"/>
              </a:ext>
            </a:extLst>
          </p:cNvPr>
          <p:cNvSpPr>
            <a:spLocks noGrp="1"/>
          </p:cNvSpPr>
          <p:nvPr/>
        </p:nvSpPr>
        <p:spPr>
          <a:xfrm>
            <a:off x="5015179" y="3661531"/>
            <a:ext cx="509421" cy="135290"/>
          </a:xfrm>
          <a:prstGeom prst="line">
            <a:avLst/>
          </a:prstGeom>
          <a:noFill/>
          <a:ln w="14764">
            <a:solidFill>
              <a:srgbClr val="4F9A96"/>
            </a:solidFill>
            <a:prstDash val="solid"/>
          </a:ln>
        </p:spPr>
      </p:sp>
      <p:sp>
        <p:nvSpPr>
          <p:cNvPr id="165" name="FIG1_PANEL_B__MACRO_GRAPH__NODE_1">
            <a:extLst>
              <a:ext uri="{FF2B5EF4-FFF2-40B4-BE49-F238E27FC236}">
                <a16:creationId xmlns:a16="http://schemas.microsoft.com/office/drawing/2014/main" id="{EF456101-8885-4F07-A505-070BF275C892}"/>
              </a:ext>
            </a:extLst>
          </p:cNvPr>
          <p:cNvSpPr>
            <a:spLocks noGrp="1"/>
          </p:cNvSpPr>
          <p:nvPr/>
        </p:nvSpPr>
        <p:spPr>
          <a:xfrm>
            <a:off x="4732259" y="3749750"/>
            <a:ext cx="171450" cy="1714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F9A96"/>
            </a:solidFill>
            <a:prstDash val="solid"/>
          </a:ln>
        </p:spPr>
      </p:sp>
      <p:sp>
        <p:nvSpPr>
          <p:cNvPr id="166" name="FIG1_PANEL_B__MACRO_GRAPH__NODE_2">
            <a:extLst>
              <a:ext uri="{FF2B5EF4-FFF2-40B4-BE49-F238E27FC236}">
                <a16:creationId xmlns:a16="http://schemas.microsoft.com/office/drawing/2014/main" id="{29BE3A2D-CB4A-4806-A8F6-B8D4A1C456A8}"/>
              </a:ext>
            </a:extLst>
          </p:cNvPr>
          <p:cNvSpPr>
            <a:spLocks noGrp="1"/>
          </p:cNvSpPr>
          <p:nvPr/>
        </p:nvSpPr>
        <p:spPr>
          <a:xfrm>
            <a:off x="4929454" y="3575806"/>
            <a:ext cx="171450" cy="1714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F9A96"/>
            </a:solidFill>
            <a:prstDash val="solid"/>
          </a:ln>
        </p:spPr>
      </p:sp>
      <p:sp>
        <p:nvSpPr>
          <p:cNvPr id="167" name="FIG1_PANEL_B__MACRO_GRAPH__NODE_3">
            <a:extLst>
              <a:ext uri="{FF2B5EF4-FFF2-40B4-BE49-F238E27FC236}">
                <a16:creationId xmlns:a16="http://schemas.microsoft.com/office/drawing/2014/main" id="{252E37BB-FF86-4995-9740-1FE6D65F4A62}"/>
              </a:ext>
            </a:extLst>
          </p:cNvPr>
          <p:cNvSpPr>
            <a:spLocks noGrp="1"/>
          </p:cNvSpPr>
          <p:nvPr/>
        </p:nvSpPr>
        <p:spPr>
          <a:xfrm>
            <a:off x="5019836" y="3788404"/>
            <a:ext cx="171450" cy="1714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F9A96"/>
            </a:solidFill>
            <a:prstDash val="solid"/>
          </a:ln>
        </p:spPr>
      </p:sp>
      <p:sp>
        <p:nvSpPr>
          <p:cNvPr id="168" name="FIG1_PANEL_B__MACRO_GRAPH__NODE_4">
            <a:extLst>
              <a:ext uri="{FF2B5EF4-FFF2-40B4-BE49-F238E27FC236}">
                <a16:creationId xmlns:a16="http://schemas.microsoft.com/office/drawing/2014/main" id="{2B0B1A2A-2C30-412F-96A5-EBFEA30318E0}"/>
              </a:ext>
            </a:extLst>
          </p:cNvPr>
          <p:cNvSpPr>
            <a:spLocks noGrp="1"/>
          </p:cNvSpPr>
          <p:nvPr/>
        </p:nvSpPr>
        <p:spPr>
          <a:xfrm>
            <a:off x="5217031" y="3595133"/>
            <a:ext cx="171450" cy="1714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F9A96"/>
            </a:solidFill>
            <a:prstDash val="solid"/>
          </a:ln>
        </p:spPr>
      </p:sp>
      <p:sp>
        <p:nvSpPr>
          <p:cNvPr id="169" name="FIG1_PANEL_B__MACRO_GRAPH__NODE_5">
            <a:extLst>
              <a:ext uri="{FF2B5EF4-FFF2-40B4-BE49-F238E27FC236}">
                <a16:creationId xmlns:a16="http://schemas.microsoft.com/office/drawing/2014/main" id="{2BB25C04-D23F-4107-AB25-9DC332BFC10F}"/>
              </a:ext>
            </a:extLst>
          </p:cNvPr>
          <p:cNvSpPr>
            <a:spLocks noGrp="1"/>
          </p:cNvSpPr>
          <p:nvPr/>
        </p:nvSpPr>
        <p:spPr>
          <a:xfrm>
            <a:off x="5290979" y="3827058"/>
            <a:ext cx="171450" cy="1714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F9A96"/>
            </a:solidFill>
            <a:prstDash val="solid"/>
          </a:ln>
        </p:spPr>
      </p:sp>
      <p:sp>
        <p:nvSpPr>
          <p:cNvPr id="170" name="FIG1_PANEL_B__MACRO_GRAPH__NODE_6">
            <a:extLst>
              <a:ext uri="{FF2B5EF4-FFF2-40B4-BE49-F238E27FC236}">
                <a16:creationId xmlns:a16="http://schemas.microsoft.com/office/drawing/2014/main" id="{7D13D768-5DCD-417B-9E04-BAD073A2B811}"/>
              </a:ext>
            </a:extLst>
          </p:cNvPr>
          <p:cNvSpPr>
            <a:spLocks noGrp="1"/>
          </p:cNvSpPr>
          <p:nvPr/>
        </p:nvSpPr>
        <p:spPr>
          <a:xfrm>
            <a:off x="5438876" y="3711096"/>
            <a:ext cx="171450" cy="1714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4F9A96"/>
            </a:solidFill>
            <a:prstDash val="solid"/>
          </a:ln>
        </p:spPr>
      </p:sp>
      <p:sp>
        <p:nvSpPr>
          <p:cNvPr id="171" name="FIG1_PANEL_B__MACRO_GRAPH_LABEL">
            <a:extLst>
              <a:ext uri="{FF2B5EF4-FFF2-40B4-BE49-F238E27FC236}">
                <a16:creationId xmlns:a16="http://schemas.microsoft.com/office/drawing/2014/main" id="{D4407FB2-5C48-4094-ADEE-BDB4C0709497}"/>
              </a:ext>
            </a:extLst>
          </p:cNvPr>
          <p:cNvSpPr>
            <a:spLocks noGrp="1"/>
          </p:cNvSpPr>
          <p:nvPr/>
        </p:nvSpPr>
        <p:spPr>
          <a:xfrm>
            <a:off x="4615828" y="4025525"/>
            <a:ext cx="1271226" cy="2174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Macro Trend Graph</a:t>
            </a:r>
          </a:p>
        </p:txBody>
      </p:sp>
      <p:sp>
        <p:nvSpPr>
          <p:cNvPr id="172" name="FIG1_PANEL_B__MACRO_GRAPH_NOTE">
            <a:extLst>
              <a:ext uri="{FF2B5EF4-FFF2-40B4-BE49-F238E27FC236}">
                <a16:creationId xmlns:a16="http://schemas.microsoft.com/office/drawing/2014/main" id="{D2704C07-45C4-4942-A300-56480A5B61FB}"/>
              </a:ext>
            </a:extLst>
          </p:cNvPr>
          <p:cNvSpPr>
            <a:spLocks noGrp="1"/>
          </p:cNvSpPr>
          <p:nvPr/>
        </p:nvSpPr>
        <p:spPr>
          <a:xfrm>
            <a:off x="4647254" y="4262403"/>
            <a:ext cx="1290249" cy="3060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 err="1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rPr>
              <a:t>Patv</a:t>
            </a:r>
            <a:r>
              <a:rPr sz="1100" b="0" dirty="0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rPr>
              <a:t> trend+ distance</a:t>
            </a:r>
          </a:p>
        </p:txBody>
      </p:sp>
      <p:sp>
        <p:nvSpPr>
          <p:cNvPr id="173" name="FIG1_PANEL_B__MACRO_ADAPT">
            <a:extLst>
              <a:ext uri="{FF2B5EF4-FFF2-40B4-BE49-F238E27FC236}">
                <a16:creationId xmlns:a16="http://schemas.microsoft.com/office/drawing/2014/main" id="{53DA1F9F-65B9-4575-9391-80C368D196B5}"/>
              </a:ext>
            </a:extLst>
          </p:cNvPr>
          <p:cNvSpPr>
            <a:spLocks noGrp="1"/>
          </p:cNvSpPr>
          <p:nvPr/>
        </p:nvSpPr>
        <p:spPr>
          <a:xfrm>
            <a:off x="5949064" y="3569734"/>
            <a:ext cx="1145647" cy="401030"/>
          </a:xfrm>
          <a:prstGeom prst="roundRect">
            <a:avLst>
              <a:gd name="adj" fmla="val 16667"/>
            </a:avLst>
          </a:prstGeom>
          <a:solidFill>
            <a:srgbClr val="DDF2EF"/>
          </a:solidFill>
          <a:ln w="10478">
            <a:solidFill>
              <a:srgbClr val="4F9A96"/>
            </a:solidFill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1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Prior ×</a:t>
            </a:r>
          </a:p>
          <a:p>
            <a:pPr algn="ctr">
              <a:lnSpc>
                <a:spcPct val="95000"/>
              </a:lnSpc>
              <a:buNone/>
              <a:defRPr sz="11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learned weights</a:t>
            </a:r>
          </a:p>
        </p:txBody>
      </p:sp>
      <p:sp>
        <p:nvSpPr>
          <p:cNvPr id="174" name="FIG1_PANEL_B__MACRO_DIFF">
            <a:extLst>
              <a:ext uri="{FF2B5EF4-FFF2-40B4-BE49-F238E27FC236}">
                <a16:creationId xmlns:a16="http://schemas.microsoft.com/office/drawing/2014/main" id="{3C3508CD-69A0-46D3-9C3C-CE94DF0865C0}"/>
              </a:ext>
            </a:extLst>
          </p:cNvPr>
          <p:cNvSpPr>
            <a:spLocks noGrp="1"/>
          </p:cNvSpPr>
          <p:nvPr/>
        </p:nvSpPr>
        <p:spPr>
          <a:xfrm>
            <a:off x="7421827" y="3492419"/>
            <a:ext cx="1333237" cy="531495"/>
          </a:xfrm>
          <a:prstGeom prst="roundRect">
            <a:avLst>
              <a:gd name="adj" fmla="val 12121"/>
            </a:avLst>
          </a:prstGeom>
          <a:solidFill>
            <a:srgbClr val="DDF2EF"/>
          </a:solidFill>
          <a:ln w="10478">
            <a:solidFill>
              <a:srgbClr val="4F9A96"/>
            </a:solidFill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endParaRPr sz="1000">
              <a:solidFill>
                <a:srgbClr val="17232C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0" name="FIG1_PANEL_B__MACRO_TCN_PARAM">
            <a:extLst>
              <a:ext uri="{FF2B5EF4-FFF2-40B4-BE49-F238E27FC236}">
                <a16:creationId xmlns:a16="http://schemas.microsoft.com/office/drawing/2014/main" id="{811B5050-7D1D-4F84-88E0-67DD0763D88C}"/>
              </a:ext>
            </a:extLst>
          </p:cNvPr>
          <p:cNvSpPr>
            <a:spLocks noGrp="1"/>
          </p:cNvSpPr>
          <p:nvPr/>
        </p:nvSpPr>
        <p:spPr>
          <a:xfrm>
            <a:off x="7206576" y="4703618"/>
            <a:ext cx="1844828" cy="2415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00" b="0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dirty="0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rPr>
              <a:t>k = 5  d = {1,2,4,8}</a:t>
            </a:r>
          </a:p>
        </p:txBody>
      </p:sp>
      <p:sp>
        <p:nvSpPr>
          <p:cNvPr id="6" name="FIG1_PANEL_C__BACKGROUND">
            <a:extLst>
              <a:ext uri="{FF2B5EF4-FFF2-40B4-BE49-F238E27FC236}">
                <a16:creationId xmlns:a16="http://schemas.microsoft.com/office/drawing/2014/main" id="{AA397607-FC65-4A1A-A6BE-D7EA34C90FCE}"/>
              </a:ext>
            </a:extLst>
          </p:cNvPr>
          <p:cNvSpPr>
            <a:spLocks noGrp="1"/>
          </p:cNvSpPr>
          <p:nvPr/>
        </p:nvSpPr>
        <p:spPr>
          <a:xfrm>
            <a:off x="190500" y="5156682"/>
            <a:ext cx="3676650" cy="4882668"/>
          </a:xfrm>
          <a:prstGeom prst="roundRect">
            <a:avLst>
              <a:gd name="adj" fmla="val 4110"/>
            </a:avLst>
          </a:prstGeom>
          <a:solidFill>
            <a:srgbClr val="F7F3FC"/>
          </a:solidFill>
          <a:ln w="12859">
            <a:solidFill>
              <a:srgbClr val="A893C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" name="FIG1_PANEL_C__TITLE">
            <a:extLst>
              <a:ext uri="{FF2B5EF4-FFF2-40B4-BE49-F238E27FC236}">
                <a16:creationId xmlns:a16="http://schemas.microsoft.com/office/drawing/2014/main" id="{A9135040-49D8-4FB0-8F2D-BDF2A8458F97}"/>
              </a:ext>
            </a:extLst>
          </p:cNvPr>
          <p:cNvSpPr>
            <a:spLocks noGrp="1"/>
          </p:cNvSpPr>
          <p:nvPr/>
        </p:nvSpPr>
        <p:spPr>
          <a:xfrm>
            <a:off x="240865" y="5211018"/>
            <a:ext cx="3575920" cy="4128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800" b="1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3.Prompt-Guided Cross-</a:t>
            </a:r>
          </a:p>
          <a:p>
            <a:pPr algn="ctr">
              <a:lnSpc>
                <a:spcPct val="95000"/>
              </a:lnSpc>
              <a:buNone/>
              <a:defRPr sz="1800" b="1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Granularity Fusion</a:t>
            </a:r>
          </a:p>
        </p:txBody>
      </p:sp>
      <p:sp>
        <p:nvSpPr>
          <p:cNvPr id="193" name="FIG1_PANEL_C__COARSE_SOURCE__TOKEN_7">
            <a:extLst>
              <a:ext uri="{FF2B5EF4-FFF2-40B4-BE49-F238E27FC236}">
                <a16:creationId xmlns:a16="http://schemas.microsoft.com/office/drawing/2014/main" id="{958505DE-EEE1-47B7-B51B-6035E3F6D138}"/>
              </a:ext>
            </a:extLst>
          </p:cNvPr>
          <p:cNvSpPr>
            <a:spLocks noGrp="1"/>
          </p:cNvSpPr>
          <p:nvPr/>
        </p:nvSpPr>
        <p:spPr>
          <a:xfrm>
            <a:off x="568993" y="5829776"/>
            <a:ext cx="1914355" cy="235909"/>
          </a:xfrm>
          <a:prstGeom prst="roundRect">
            <a:avLst>
              <a:gd name="adj" fmla="val 11765"/>
            </a:avLst>
          </a:prstGeom>
          <a:solidFill>
            <a:srgbClr val="DDF2EF"/>
          </a:solidFill>
          <a:ln w="9525">
            <a:solidFill>
              <a:srgbClr val="4F9A96"/>
            </a:solidFill>
            <a:prstDash val="solid"/>
          </a:ln>
        </p:spPr>
      </p:sp>
      <p:sp>
        <p:nvSpPr>
          <p:cNvPr id="194" name="FIG1_PANEL_C__PROMPT_METHOD">
            <a:extLst>
              <a:ext uri="{FF2B5EF4-FFF2-40B4-BE49-F238E27FC236}">
                <a16:creationId xmlns:a16="http://schemas.microsoft.com/office/drawing/2014/main" id="{0A73C606-503E-4176-AD13-482FCF50D5D4}"/>
              </a:ext>
            </a:extLst>
          </p:cNvPr>
          <p:cNvSpPr>
            <a:spLocks noGrp="1"/>
          </p:cNvSpPr>
          <p:nvPr/>
        </p:nvSpPr>
        <p:spPr>
          <a:xfrm>
            <a:off x="857837" y="6235248"/>
            <a:ext cx="2316793" cy="221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86034" lnSpcReduction="10000"/>
          </a:bodyPr>
          <a:lstStyle/>
          <a:p>
            <a:pPr algn="ctr">
              <a:lnSpc>
                <a:spcPct val="95000"/>
              </a:lnSpc>
              <a:buNone/>
              <a:defRPr sz="14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Macro-Trend Prompt</a:t>
            </a:r>
          </a:p>
        </p:txBody>
      </p:sp>
      <p:sp>
        <p:nvSpPr>
          <p:cNvPr id="186" name="FIG1_PANEL_C__COARSE_SOURCE_LABEL">
            <a:extLst>
              <a:ext uri="{FF2B5EF4-FFF2-40B4-BE49-F238E27FC236}">
                <a16:creationId xmlns:a16="http://schemas.microsoft.com/office/drawing/2014/main" id="{A71D7357-76FD-422D-95A6-F1654C32C95D}"/>
              </a:ext>
            </a:extLst>
          </p:cNvPr>
          <p:cNvSpPr>
            <a:spLocks noGrp="1"/>
          </p:cNvSpPr>
          <p:nvPr/>
        </p:nvSpPr>
        <p:spPr>
          <a:xfrm>
            <a:off x="573275" y="5829773"/>
            <a:ext cx="1922675" cy="2397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1561" lnSpcReduction="10000"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4" b="0" dirty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rPr>
              <a:t>Coarse representation</a:t>
            </a:r>
          </a:p>
        </p:txBody>
      </p:sp>
      <p:sp>
        <p:nvSpPr>
          <p:cNvPr id="195" name="FIG1_PANEL_C__PROMPTS__TOKEN_1">
            <a:extLst>
              <a:ext uri="{FF2B5EF4-FFF2-40B4-BE49-F238E27FC236}">
                <a16:creationId xmlns:a16="http://schemas.microsoft.com/office/drawing/2014/main" id="{BD9F56C3-0F3E-46E3-9403-D031147F79D0}"/>
              </a:ext>
            </a:extLst>
          </p:cNvPr>
          <p:cNvSpPr>
            <a:spLocks noGrp="1"/>
          </p:cNvSpPr>
          <p:nvPr/>
        </p:nvSpPr>
        <p:spPr>
          <a:xfrm>
            <a:off x="1059297" y="6508023"/>
            <a:ext cx="465877" cy="221169"/>
          </a:xfrm>
          <a:prstGeom prst="roundRect">
            <a:avLst>
              <a:gd name="adj" fmla="val 6667"/>
            </a:avLst>
          </a:prstGeom>
          <a:solidFill>
            <a:srgbClr val="ECE5F7"/>
          </a:solidFill>
          <a:ln w="9525">
            <a:solidFill>
              <a:srgbClr val="8367B2"/>
            </a:solidFill>
            <a:prstDash val="solid"/>
          </a:ln>
        </p:spPr>
        <p:txBody>
          <a:bodyPr wrap="square" lIns="57150" tIns="38100" rIns="57150" bIns="38100" anchor="ctr">
            <a:normAutofit fontScale="84751" lnSpcReduction="20000"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P1</a:t>
            </a:r>
          </a:p>
        </p:txBody>
      </p:sp>
      <p:sp>
        <p:nvSpPr>
          <p:cNvPr id="196" name="FIG1_PANEL_C__PROMPTS__TOKEN_2">
            <a:extLst>
              <a:ext uri="{FF2B5EF4-FFF2-40B4-BE49-F238E27FC236}">
                <a16:creationId xmlns:a16="http://schemas.microsoft.com/office/drawing/2014/main" id="{CACB917D-4482-4186-A9C5-8222EDF72274}"/>
              </a:ext>
            </a:extLst>
          </p:cNvPr>
          <p:cNvSpPr>
            <a:spLocks noGrp="1"/>
          </p:cNvSpPr>
          <p:nvPr/>
        </p:nvSpPr>
        <p:spPr>
          <a:xfrm>
            <a:off x="1588131" y="6508023"/>
            <a:ext cx="465877" cy="221169"/>
          </a:xfrm>
          <a:prstGeom prst="roundRect">
            <a:avLst>
              <a:gd name="adj" fmla="val 6667"/>
            </a:avLst>
          </a:prstGeom>
          <a:solidFill>
            <a:srgbClr val="ECE5F7"/>
          </a:solidFill>
          <a:ln w="9525">
            <a:solidFill>
              <a:srgbClr val="8367B2"/>
            </a:solidFill>
            <a:prstDash val="solid"/>
          </a:ln>
        </p:spPr>
        <p:txBody>
          <a:bodyPr wrap="square" lIns="57150" tIns="38100" rIns="57150" bIns="38100" anchor="ctr">
            <a:normAutofit fontScale="84751" lnSpcReduction="20000"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P2</a:t>
            </a:r>
          </a:p>
        </p:txBody>
      </p:sp>
      <p:sp>
        <p:nvSpPr>
          <p:cNvPr id="197" name="FIG1_PANEL_C__PROMPTS__TOKEN_3">
            <a:extLst>
              <a:ext uri="{FF2B5EF4-FFF2-40B4-BE49-F238E27FC236}">
                <a16:creationId xmlns:a16="http://schemas.microsoft.com/office/drawing/2014/main" id="{2922FFE8-8749-4044-A3D2-698367F3570D}"/>
              </a:ext>
            </a:extLst>
          </p:cNvPr>
          <p:cNvSpPr>
            <a:spLocks noGrp="1"/>
          </p:cNvSpPr>
          <p:nvPr/>
        </p:nvSpPr>
        <p:spPr>
          <a:xfrm>
            <a:off x="2116964" y="6508023"/>
            <a:ext cx="465877" cy="221169"/>
          </a:xfrm>
          <a:prstGeom prst="roundRect">
            <a:avLst>
              <a:gd name="adj" fmla="val 6667"/>
            </a:avLst>
          </a:prstGeom>
          <a:solidFill>
            <a:srgbClr val="ECE5F7"/>
          </a:solidFill>
          <a:ln w="9525">
            <a:solidFill>
              <a:srgbClr val="8367B2"/>
            </a:solidFill>
            <a:prstDash val="solid"/>
          </a:ln>
        </p:spPr>
        <p:txBody>
          <a:bodyPr wrap="square" lIns="57150" tIns="38100" rIns="57150" bIns="38100" anchor="ctr">
            <a:normAutofit fontScale="84751" lnSpcReduction="20000"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P3</a:t>
            </a:r>
          </a:p>
        </p:txBody>
      </p:sp>
      <p:sp>
        <p:nvSpPr>
          <p:cNvPr id="198" name="FIG1_PANEL_C__PROMPTS__TOKEN_4">
            <a:extLst>
              <a:ext uri="{FF2B5EF4-FFF2-40B4-BE49-F238E27FC236}">
                <a16:creationId xmlns:a16="http://schemas.microsoft.com/office/drawing/2014/main" id="{410B8275-0FC9-43B4-AADE-8EC67E0182B6}"/>
              </a:ext>
            </a:extLst>
          </p:cNvPr>
          <p:cNvSpPr>
            <a:spLocks noGrp="1"/>
          </p:cNvSpPr>
          <p:nvPr/>
        </p:nvSpPr>
        <p:spPr>
          <a:xfrm>
            <a:off x="2645797" y="6508023"/>
            <a:ext cx="465877" cy="221169"/>
          </a:xfrm>
          <a:prstGeom prst="roundRect">
            <a:avLst>
              <a:gd name="adj" fmla="val 6667"/>
            </a:avLst>
          </a:prstGeom>
          <a:solidFill>
            <a:srgbClr val="ECE5F7"/>
          </a:solidFill>
          <a:ln w="9525">
            <a:solidFill>
              <a:srgbClr val="8367B2"/>
            </a:solidFill>
            <a:prstDash val="solid"/>
          </a:ln>
        </p:spPr>
        <p:txBody>
          <a:bodyPr wrap="square" lIns="57150" tIns="38100" rIns="57150" bIns="38100" anchor="ctr">
            <a:normAutofit fontScale="84751" lnSpcReduction="20000"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P4</a:t>
            </a:r>
          </a:p>
        </p:txBody>
      </p:sp>
      <p:sp>
        <p:nvSpPr>
          <p:cNvPr id="199" name="FIG1_PANEL_C__PROMPT_NOTE">
            <a:extLst>
              <a:ext uri="{FF2B5EF4-FFF2-40B4-BE49-F238E27FC236}">
                <a16:creationId xmlns:a16="http://schemas.microsoft.com/office/drawing/2014/main" id="{A526A666-0686-4B92-92F0-F2BD1A0696EA}"/>
              </a:ext>
            </a:extLst>
          </p:cNvPr>
          <p:cNvSpPr>
            <a:spLocks noGrp="1"/>
          </p:cNvSpPr>
          <p:nvPr/>
        </p:nvSpPr>
        <p:spPr>
          <a:xfrm>
            <a:off x="542924" y="6745410"/>
            <a:ext cx="1413893" cy="2580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dirty="0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rPr>
              <a:t>4 prompt tokens/ turbine</a:t>
            </a:r>
          </a:p>
        </p:txBody>
      </p:sp>
      <p:sp>
        <p:nvSpPr>
          <p:cNvPr id="200" name="FIG1_PANEL_C__FUSION_TITLE">
            <a:extLst>
              <a:ext uri="{FF2B5EF4-FFF2-40B4-BE49-F238E27FC236}">
                <a16:creationId xmlns:a16="http://schemas.microsoft.com/office/drawing/2014/main" id="{CAF736EA-2A70-4B2A-B896-F449F268E4CB}"/>
              </a:ext>
            </a:extLst>
          </p:cNvPr>
          <p:cNvSpPr>
            <a:spLocks noGrp="1"/>
          </p:cNvSpPr>
          <p:nvPr/>
        </p:nvSpPr>
        <p:spPr>
          <a:xfrm>
            <a:off x="661413" y="7003441"/>
            <a:ext cx="2895991" cy="2285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0027" lnSpcReduction="10000"/>
          </a:bodyPr>
          <a:lstStyle/>
          <a:p>
            <a:pPr algn="ctr">
              <a:lnSpc>
                <a:spcPct val="95000"/>
              </a:lnSpc>
              <a:buNone/>
              <a:defRPr sz="14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Bidirectional Cross-Fusion</a:t>
            </a:r>
          </a:p>
        </p:txBody>
      </p:sp>
      <p:sp>
        <p:nvSpPr>
          <p:cNvPr id="201" name="FIG1_PANEL_C__ATTN_FINE">
            <a:extLst>
              <a:ext uri="{FF2B5EF4-FFF2-40B4-BE49-F238E27FC236}">
                <a16:creationId xmlns:a16="http://schemas.microsoft.com/office/drawing/2014/main" id="{691023C9-5C8D-4544-945C-7FF6CF7CB204}"/>
              </a:ext>
            </a:extLst>
          </p:cNvPr>
          <p:cNvSpPr>
            <a:spLocks noGrp="1"/>
          </p:cNvSpPr>
          <p:nvPr/>
        </p:nvSpPr>
        <p:spPr>
          <a:xfrm>
            <a:off x="921576" y="7322897"/>
            <a:ext cx="552450" cy="552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367B2"/>
            </a:solidFill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Attn</a:t>
            </a:r>
          </a:p>
        </p:txBody>
      </p:sp>
      <p:sp>
        <p:nvSpPr>
          <p:cNvPr id="202" name="FIG1_PANEL_C__GATE">
            <a:extLst>
              <a:ext uri="{FF2B5EF4-FFF2-40B4-BE49-F238E27FC236}">
                <a16:creationId xmlns:a16="http://schemas.microsoft.com/office/drawing/2014/main" id="{BDC0DED2-1DD1-4185-AAF9-F6EF3C177E56}"/>
              </a:ext>
            </a:extLst>
          </p:cNvPr>
          <p:cNvSpPr>
            <a:spLocks noGrp="1"/>
          </p:cNvSpPr>
          <p:nvPr/>
        </p:nvSpPr>
        <p:spPr>
          <a:xfrm>
            <a:off x="1765191" y="7322897"/>
            <a:ext cx="552450" cy="552450"/>
          </a:xfrm>
          <a:prstGeom prst="diamond">
            <a:avLst/>
          </a:prstGeom>
          <a:solidFill>
            <a:srgbClr val="ECE5F7"/>
          </a:solidFill>
          <a:ln w="14288">
            <a:solidFill>
              <a:srgbClr val="8367B2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203" name="FIG1_PANEL_C__ATTN_COARSE">
            <a:extLst>
              <a:ext uri="{FF2B5EF4-FFF2-40B4-BE49-F238E27FC236}">
                <a16:creationId xmlns:a16="http://schemas.microsoft.com/office/drawing/2014/main" id="{2225A164-9606-4926-9198-BE94C6333430}"/>
              </a:ext>
            </a:extLst>
          </p:cNvPr>
          <p:cNvSpPr>
            <a:spLocks noGrp="1"/>
          </p:cNvSpPr>
          <p:nvPr/>
        </p:nvSpPr>
        <p:spPr>
          <a:xfrm>
            <a:off x="2633989" y="7322897"/>
            <a:ext cx="552450" cy="5524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367B2"/>
            </a:solidFill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Attn</a:t>
            </a:r>
          </a:p>
        </p:txBody>
      </p:sp>
      <p:sp>
        <p:nvSpPr>
          <p:cNvPr id="204" name="FIG1_PANEL_C__DIRECTION1">
            <a:extLst>
              <a:ext uri="{FF2B5EF4-FFF2-40B4-BE49-F238E27FC236}">
                <a16:creationId xmlns:a16="http://schemas.microsoft.com/office/drawing/2014/main" id="{727696CF-839A-4AF4-8E7F-3D913BDE79A0}"/>
              </a:ext>
            </a:extLst>
          </p:cNvPr>
          <p:cNvSpPr>
            <a:spLocks noGrp="1"/>
          </p:cNvSpPr>
          <p:nvPr/>
        </p:nvSpPr>
        <p:spPr>
          <a:xfrm>
            <a:off x="295275" y="7926943"/>
            <a:ext cx="1791577" cy="2948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8367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>
                <a:solidFill>
                  <a:srgbClr val="8367B2"/>
                </a:solidFill>
                <a:latin typeface="Times New Roman"/>
                <a:ea typeface="Times New Roman"/>
                <a:cs typeface="Times New Roman"/>
              </a:rPr>
              <a:t>Macro-Trend Prompt → Fine</a:t>
            </a:r>
          </a:p>
        </p:txBody>
      </p:sp>
      <p:sp>
        <p:nvSpPr>
          <p:cNvPr id="205" name="FIG1_PANEL_C__DIRECTION2">
            <a:extLst>
              <a:ext uri="{FF2B5EF4-FFF2-40B4-BE49-F238E27FC236}">
                <a16:creationId xmlns:a16="http://schemas.microsoft.com/office/drawing/2014/main" id="{4B50CC88-CCEF-484E-AC57-CA5A2C468974}"/>
              </a:ext>
            </a:extLst>
          </p:cNvPr>
          <p:cNvSpPr>
            <a:spLocks noGrp="1"/>
          </p:cNvSpPr>
          <p:nvPr/>
        </p:nvSpPr>
        <p:spPr>
          <a:xfrm>
            <a:off x="2054008" y="7926943"/>
            <a:ext cx="1611682" cy="2948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8367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>
                <a:solidFill>
                  <a:srgbClr val="8367B2"/>
                </a:solidFill>
                <a:latin typeface="Times New Roman"/>
                <a:ea typeface="Times New Roman"/>
                <a:cs typeface="Times New Roman"/>
              </a:rPr>
              <a:t>Recent Fine → Coarse</a:t>
            </a:r>
          </a:p>
        </p:txBody>
      </p:sp>
      <p:sp>
        <p:nvSpPr>
          <p:cNvPr id="207" name="FIG1_PANEL_C__UPDATED_FINE">
            <a:extLst>
              <a:ext uri="{FF2B5EF4-FFF2-40B4-BE49-F238E27FC236}">
                <a16:creationId xmlns:a16="http://schemas.microsoft.com/office/drawing/2014/main" id="{2D6FEA65-7973-4D62-80F4-E2D26B413951}"/>
              </a:ext>
            </a:extLst>
          </p:cNvPr>
          <p:cNvSpPr>
            <a:spLocks noGrp="1"/>
          </p:cNvSpPr>
          <p:nvPr/>
        </p:nvSpPr>
        <p:spPr>
          <a:xfrm>
            <a:off x="517873" y="8889273"/>
            <a:ext cx="1410222" cy="250658"/>
          </a:xfrm>
          <a:prstGeom prst="roundRect">
            <a:avLst>
              <a:gd name="adj" fmla="val 23529"/>
            </a:avLst>
          </a:prstGeom>
          <a:solidFill>
            <a:srgbClr val="FCEAD8"/>
          </a:solidFill>
          <a:ln w="11430">
            <a:solidFill>
              <a:srgbClr val="E69A54"/>
            </a:solidFill>
            <a:prstDash val="solid"/>
          </a:ln>
        </p:spPr>
        <p:txBody>
          <a:bodyPr wrap="square" lIns="57150" tIns="38100" rIns="57150" bIns="38100" anchor="ctr">
            <a:normAutofit fontScale="88030" lnSpcReduction="20000"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Updated Fine</a:t>
            </a:r>
          </a:p>
        </p:txBody>
      </p:sp>
      <p:sp>
        <p:nvSpPr>
          <p:cNvPr id="208" name="FIG1_PANEL_C__UPDATED_COARSE">
            <a:extLst>
              <a:ext uri="{FF2B5EF4-FFF2-40B4-BE49-F238E27FC236}">
                <a16:creationId xmlns:a16="http://schemas.microsoft.com/office/drawing/2014/main" id="{1CD77D22-E9A0-4878-BE58-5C61EAE8F7A8}"/>
              </a:ext>
            </a:extLst>
          </p:cNvPr>
          <p:cNvSpPr>
            <a:spLocks noGrp="1"/>
          </p:cNvSpPr>
          <p:nvPr/>
        </p:nvSpPr>
        <p:spPr>
          <a:xfrm>
            <a:off x="2179920" y="8889273"/>
            <a:ext cx="1410222" cy="250658"/>
          </a:xfrm>
          <a:prstGeom prst="roundRect">
            <a:avLst>
              <a:gd name="adj" fmla="val 23529"/>
            </a:avLst>
          </a:prstGeom>
          <a:solidFill>
            <a:srgbClr val="DDF2EF"/>
          </a:solidFill>
          <a:ln w="11430">
            <a:solidFill>
              <a:srgbClr val="4F9A96"/>
            </a:solidFill>
            <a:prstDash val="solid"/>
          </a:ln>
        </p:spPr>
        <p:txBody>
          <a:bodyPr wrap="square" lIns="57150" tIns="38100" rIns="57150" bIns="38100" anchor="ctr">
            <a:normAutofit fontScale="88030" lnSpcReduction="20000"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Updated Coarse</a:t>
            </a:r>
          </a:p>
        </p:txBody>
      </p:sp>
      <p:sp>
        <p:nvSpPr>
          <p:cNvPr id="221" name="FIG1_PANEL_C__SEPARATE_NOTE">
            <a:extLst>
              <a:ext uri="{FF2B5EF4-FFF2-40B4-BE49-F238E27FC236}">
                <a16:creationId xmlns:a16="http://schemas.microsoft.com/office/drawing/2014/main" id="{B6653BBA-8EE4-4756-811D-F064FC13786A}"/>
              </a:ext>
            </a:extLst>
          </p:cNvPr>
          <p:cNvSpPr>
            <a:spLocks noGrp="1"/>
          </p:cNvSpPr>
          <p:nvPr/>
        </p:nvSpPr>
        <p:spPr>
          <a:xfrm>
            <a:off x="719138" y="9236099"/>
            <a:ext cx="2896857" cy="3096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5367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dirty="0">
                <a:solidFill>
                  <a:srgbClr val="8367B2"/>
                </a:solidFill>
                <a:latin typeface="Times New Roman"/>
                <a:ea typeface="Times New Roman"/>
                <a:cs typeface="Times New Roman"/>
              </a:rPr>
              <a:t>Updated</a:t>
            </a:r>
            <a:r>
              <a:rPr sz="110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dirty="0">
                <a:solidFill>
                  <a:srgbClr val="8367B2"/>
                </a:solidFill>
                <a:latin typeface="Times New Roman"/>
                <a:ea typeface="Times New Roman"/>
                <a:cs typeface="Times New Roman"/>
              </a:rPr>
              <a:t>Fine and Updated</a:t>
            </a:r>
            <a:r>
              <a:rPr sz="110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100" dirty="0">
                <a:solidFill>
                  <a:srgbClr val="8367B2"/>
                </a:solidFill>
                <a:latin typeface="Times New Roman"/>
                <a:ea typeface="Times New Roman"/>
                <a:cs typeface="Times New Roman"/>
              </a:rPr>
              <a:t>Coarse remain separate</a:t>
            </a:r>
          </a:p>
        </p:txBody>
      </p:sp>
      <p:sp>
        <p:nvSpPr>
          <p:cNvPr id="222" name="FIG1_PANEL_C__PROMPT_FLOW__LINE">
            <a:extLst>
              <a:ext uri="{FF2B5EF4-FFF2-40B4-BE49-F238E27FC236}">
                <a16:creationId xmlns:a16="http://schemas.microsoft.com/office/drawing/2014/main" id="{0885E08B-C134-4BB5-9A26-A14C207B99C7}"/>
              </a:ext>
            </a:extLst>
          </p:cNvPr>
          <p:cNvSpPr>
            <a:spLocks noGrp="1"/>
          </p:cNvSpPr>
          <p:nvPr/>
        </p:nvSpPr>
        <p:spPr>
          <a:xfrm>
            <a:off x="1562944" y="6086622"/>
            <a:ext cx="453290" cy="148625"/>
          </a:xfrm>
          <a:prstGeom prst="line">
            <a:avLst/>
          </a:prstGeom>
          <a:noFill/>
          <a:ln w="24289">
            <a:solidFill>
              <a:srgbClr val="4F9A96"/>
            </a:solidFill>
            <a:prstDash val="solid"/>
          </a:ln>
        </p:spPr>
      </p:sp>
      <p:sp>
        <p:nvSpPr>
          <p:cNvPr id="223" name="FIG1_PANEL_C__PROMPT_FLOW__HEAD">
            <a:extLst>
              <a:ext uri="{FF2B5EF4-FFF2-40B4-BE49-F238E27FC236}">
                <a16:creationId xmlns:a16="http://schemas.microsoft.com/office/drawing/2014/main" id="{B1040C21-DEEA-4159-8DB6-ECB0CAA98346}"/>
              </a:ext>
            </a:extLst>
          </p:cNvPr>
          <p:cNvSpPr>
            <a:spLocks noGrp="1"/>
          </p:cNvSpPr>
          <p:nvPr/>
        </p:nvSpPr>
        <p:spPr>
          <a:xfrm rot="6845247">
            <a:off x="1951372" y="6206006"/>
            <a:ext cx="125913" cy="73723"/>
          </a:xfrm>
          <a:prstGeom prst="triangle">
            <a:avLst/>
          </a:prstGeom>
          <a:solidFill>
            <a:srgbClr val="4F9A96"/>
          </a:solidFill>
          <a:ln w="4763">
            <a:solidFill>
              <a:srgbClr val="4F9A96"/>
            </a:solidFill>
            <a:prstDash val="solid"/>
          </a:ln>
        </p:spPr>
      </p:sp>
      <p:sp>
        <p:nvSpPr>
          <p:cNvPr id="233" name="FIG1_PANEL_C__GATE_TO_FINE__2">
            <a:extLst>
              <a:ext uri="{FF2B5EF4-FFF2-40B4-BE49-F238E27FC236}">
                <a16:creationId xmlns:a16="http://schemas.microsoft.com/office/drawing/2014/main" id="{47C5A2FD-17E0-4FB2-9A62-AB9CB28E9B85}"/>
              </a:ext>
            </a:extLst>
          </p:cNvPr>
          <p:cNvSpPr>
            <a:spLocks noGrp="1"/>
          </p:cNvSpPr>
          <p:nvPr/>
        </p:nvSpPr>
        <p:spPr>
          <a:xfrm flipH="1">
            <a:off x="1222984" y="8332665"/>
            <a:ext cx="818432" cy="738"/>
          </a:xfrm>
          <a:prstGeom prst="line">
            <a:avLst/>
          </a:prstGeom>
          <a:noFill/>
          <a:ln w="24289">
            <a:solidFill>
              <a:srgbClr val="E69A54"/>
            </a:solidFill>
            <a:prstDash val="solid"/>
          </a:ln>
        </p:spPr>
      </p:sp>
      <p:sp>
        <p:nvSpPr>
          <p:cNvPr id="234" name="FIG1_PANEL_C__GATE_TO_FINE__3">
            <a:extLst>
              <a:ext uri="{FF2B5EF4-FFF2-40B4-BE49-F238E27FC236}">
                <a16:creationId xmlns:a16="http://schemas.microsoft.com/office/drawing/2014/main" id="{5BE17C1C-ED2A-4875-B37E-024004167EA1}"/>
              </a:ext>
            </a:extLst>
          </p:cNvPr>
          <p:cNvSpPr>
            <a:spLocks noGrp="1"/>
          </p:cNvSpPr>
          <p:nvPr/>
        </p:nvSpPr>
        <p:spPr>
          <a:xfrm flipH="1">
            <a:off x="1221723" y="8332665"/>
            <a:ext cx="1261" cy="515324"/>
          </a:xfrm>
          <a:prstGeom prst="line">
            <a:avLst/>
          </a:prstGeom>
          <a:noFill/>
          <a:ln w="24289">
            <a:solidFill>
              <a:srgbClr val="E69A54"/>
            </a:solidFill>
            <a:prstDash val="solid"/>
          </a:ln>
        </p:spPr>
      </p:sp>
      <p:sp>
        <p:nvSpPr>
          <p:cNvPr id="236" name="FIG1_PANEL_C__GATE_TO_COARSE__1">
            <a:extLst>
              <a:ext uri="{FF2B5EF4-FFF2-40B4-BE49-F238E27FC236}">
                <a16:creationId xmlns:a16="http://schemas.microsoft.com/office/drawing/2014/main" id="{80349B79-82EE-4E70-BB75-9A5B4B4032E0}"/>
              </a:ext>
            </a:extLst>
          </p:cNvPr>
          <p:cNvSpPr>
            <a:spLocks noGrp="1"/>
          </p:cNvSpPr>
          <p:nvPr/>
        </p:nvSpPr>
        <p:spPr>
          <a:xfrm flipH="1">
            <a:off x="2042676" y="7868921"/>
            <a:ext cx="2024" cy="463744"/>
          </a:xfrm>
          <a:prstGeom prst="line">
            <a:avLst/>
          </a:prstGeom>
          <a:noFill/>
          <a:ln w="24289">
            <a:solidFill>
              <a:srgbClr val="8367B2"/>
            </a:solidFill>
            <a:prstDash val="solid"/>
          </a:ln>
        </p:spPr>
      </p:sp>
      <p:sp>
        <p:nvSpPr>
          <p:cNvPr id="237" name="FIG1_PANEL_C__GATE_TO_COARSE__2">
            <a:extLst>
              <a:ext uri="{FF2B5EF4-FFF2-40B4-BE49-F238E27FC236}">
                <a16:creationId xmlns:a16="http://schemas.microsoft.com/office/drawing/2014/main" id="{B87F93AE-6089-49D8-B372-190A6A54B698}"/>
              </a:ext>
            </a:extLst>
          </p:cNvPr>
          <p:cNvSpPr>
            <a:spLocks noGrp="1"/>
          </p:cNvSpPr>
          <p:nvPr/>
        </p:nvSpPr>
        <p:spPr>
          <a:xfrm>
            <a:off x="2041416" y="8332665"/>
            <a:ext cx="843615" cy="738"/>
          </a:xfrm>
          <a:prstGeom prst="line">
            <a:avLst/>
          </a:prstGeom>
          <a:noFill/>
          <a:ln w="24289">
            <a:solidFill>
              <a:srgbClr val="4F9A96"/>
            </a:solidFill>
            <a:prstDash val="solid"/>
          </a:ln>
        </p:spPr>
      </p:sp>
      <p:sp>
        <p:nvSpPr>
          <p:cNvPr id="238" name="FIG1_PANEL_C__GATE_TO_COARSE__3">
            <a:extLst>
              <a:ext uri="{FF2B5EF4-FFF2-40B4-BE49-F238E27FC236}">
                <a16:creationId xmlns:a16="http://schemas.microsoft.com/office/drawing/2014/main" id="{526B0CBB-54B0-465A-870F-86838401F194}"/>
              </a:ext>
            </a:extLst>
          </p:cNvPr>
          <p:cNvSpPr>
            <a:spLocks noGrp="1"/>
          </p:cNvSpPr>
          <p:nvPr/>
        </p:nvSpPr>
        <p:spPr>
          <a:xfrm>
            <a:off x="2885031" y="8332665"/>
            <a:ext cx="115" cy="538915"/>
          </a:xfrm>
          <a:prstGeom prst="line">
            <a:avLst/>
          </a:prstGeom>
          <a:noFill/>
          <a:ln w="24289">
            <a:solidFill>
              <a:srgbClr val="4F9A96"/>
            </a:solidFill>
            <a:prstDash val="solid"/>
          </a:ln>
        </p:spPr>
      </p:sp>
      <p:sp>
        <p:nvSpPr>
          <p:cNvPr id="8" name="FIG1_PANEL_D__BACKGROUND">
            <a:extLst>
              <a:ext uri="{FF2B5EF4-FFF2-40B4-BE49-F238E27FC236}">
                <a16:creationId xmlns:a16="http://schemas.microsoft.com/office/drawing/2014/main" id="{1DEADDC7-CA70-46BE-A4A7-358F1C0582BD}"/>
              </a:ext>
            </a:extLst>
          </p:cNvPr>
          <p:cNvSpPr>
            <a:spLocks noGrp="1"/>
          </p:cNvSpPr>
          <p:nvPr/>
        </p:nvSpPr>
        <p:spPr>
          <a:xfrm>
            <a:off x="4057650" y="5148956"/>
            <a:ext cx="4895850" cy="4890394"/>
          </a:xfrm>
          <a:prstGeom prst="roundRect">
            <a:avLst>
              <a:gd name="adj" fmla="val 3468"/>
            </a:avLst>
          </a:prstGeom>
          <a:solidFill>
            <a:srgbClr val="FFF8F0"/>
          </a:solidFill>
          <a:ln w="12859">
            <a:solidFill>
              <a:srgbClr val="D8A77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FIG1_PANEL_D__TITLE">
            <a:extLst>
              <a:ext uri="{FF2B5EF4-FFF2-40B4-BE49-F238E27FC236}">
                <a16:creationId xmlns:a16="http://schemas.microsoft.com/office/drawing/2014/main" id="{57E77B2D-96C7-4D68-AE90-0FC39DBF5DF3}"/>
              </a:ext>
            </a:extLst>
          </p:cNvPr>
          <p:cNvSpPr>
            <a:spLocks noGrp="1"/>
          </p:cNvSpPr>
          <p:nvPr/>
        </p:nvSpPr>
        <p:spPr>
          <a:xfrm>
            <a:off x="4114249" y="5214651"/>
            <a:ext cx="4782651" cy="4128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800" b="1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4.Multi-Horizon Forecasting and</a:t>
            </a:r>
          </a:p>
          <a:p>
            <a:pPr algn="ctr">
              <a:lnSpc>
                <a:spcPct val="95000"/>
              </a:lnSpc>
              <a:buNone/>
              <a:defRPr sz="1800" b="1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Difficulty-Aware Training</a:t>
            </a:r>
          </a:p>
        </p:txBody>
      </p:sp>
      <p:sp>
        <p:nvSpPr>
          <p:cNvPr id="240" name="FIG1_PANEL_D__INFERENCE_LABEL">
            <a:extLst>
              <a:ext uri="{FF2B5EF4-FFF2-40B4-BE49-F238E27FC236}">
                <a16:creationId xmlns:a16="http://schemas.microsoft.com/office/drawing/2014/main" id="{4BDB4C99-1B30-4DE2-A4E3-CD68FC76F51D}"/>
              </a:ext>
            </a:extLst>
          </p:cNvPr>
          <p:cNvSpPr>
            <a:spLocks noGrp="1"/>
          </p:cNvSpPr>
          <p:nvPr/>
        </p:nvSpPr>
        <p:spPr>
          <a:xfrm>
            <a:off x="4425546" y="5670023"/>
            <a:ext cx="2433775" cy="2064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lnSpc>
                <a:spcPct val="95000"/>
              </a:lnSpc>
              <a:buNone/>
              <a:defRPr sz="1200" b="0">
                <a:solidFill>
                  <a:srgbClr val="6F879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0" dirty="0">
                <a:solidFill>
                  <a:srgbClr val="6F8795"/>
                </a:solidFill>
                <a:latin typeface="Times New Roman"/>
                <a:ea typeface="Times New Roman"/>
                <a:cs typeface="Times New Roman"/>
              </a:rPr>
              <a:t>Inference / Forecasting</a:t>
            </a:r>
          </a:p>
        </p:txBody>
      </p:sp>
      <p:sp>
        <p:nvSpPr>
          <p:cNvPr id="241" name="FIG1_PANEL_D__DUAL_UPDATED">
            <a:extLst>
              <a:ext uri="{FF2B5EF4-FFF2-40B4-BE49-F238E27FC236}">
                <a16:creationId xmlns:a16="http://schemas.microsoft.com/office/drawing/2014/main" id="{13DF3F67-53D3-4975-9C9F-AD793F4B3535}"/>
              </a:ext>
            </a:extLst>
          </p:cNvPr>
          <p:cNvSpPr>
            <a:spLocks noGrp="1"/>
          </p:cNvSpPr>
          <p:nvPr/>
        </p:nvSpPr>
        <p:spPr>
          <a:xfrm>
            <a:off x="4510445" y="5846734"/>
            <a:ext cx="4004844" cy="35165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1906">
            <a:solidFill>
              <a:srgbClr val="6F8795"/>
            </a:solidFill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99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dirty="0" err="1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Concat</a:t>
            </a:r>
            <a:r>
              <a:rPr sz="10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 [Updated Fine, Updated Coarse,</a:t>
            </a:r>
          </a:p>
          <a:p>
            <a:pPr algn="ctr">
              <a:lnSpc>
                <a:spcPct val="95000"/>
              </a:lnSpc>
              <a:buNone/>
              <a:defRPr sz="99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1" dirty="0">
                <a:solidFill>
                  <a:srgbClr val="8367B2"/>
                </a:solidFill>
                <a:latin typeface="Times New Roman"/>
                <a:ea typeface="Times New Roman"/>
                <a:cs typeface="Times New Roman"/>
              </a:rPr>
              <a:t>Mean Macro Prompt</a:t>
            </a:r>
            <a:r>
              <a:rPr sz="10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242" name="FIG1_PANEL_D__LAST_STATE">
            <a:extLst>
              <a:ext uri="{FF2B5EF4-FFF2-40B4-BE49-F238E27FC236}">
                <a16:creationId xmlns:a16="http://schemas.microsoft.com/office/drawing/2014/main" id="{981A6B63-90A2-4DA3-9B1D-C407006D2E26}"/>
              </a:ext>
            </a:extLst>
          </p:cNvPr>
          <p:cNvSpPr>
            <a:spLocks noGrp="1"/>
          </p:cNvSpPr>
          <p:nvPr/>
        </p:nvSpPr>
        <p:spPr>
          <a:xfrm>
            <a:off x="4906641" y="6286854"/>
            <a:ext cx="3169568" cy="235913"/>
          </a:xfrm>
          <a:prstGeom prst="roundRect">
            <a:avLst>
              <a:gd name="adj" fmla="val 25000"/>
            </a:avLst>
          </a:prstGeom>
          <a:solidFill>
            <a:srgbClr val="E5EDF2"/>
          </a:solidFill>
          <a:ln w="11906">
            <a:solidFill>
              <a:srgbClr val="6F8795"/>
            </a:solidFill>
            <a:prstDash val="solid"/>
          </a:ln>
        </p:spPr>
        <p:txBody>
          <a:bodyPr wrap="square" lIns="47625" tIns="28575" rIns="47625" bIns="28575" anchor="ctr">
            <a:normAutofit fontScale="85649" lnSpcReduction="10000"/>
          </a:bodyPr>
          <a:lstStyle/>
          <a:p>
            <a:pPr algn="ctr">
              <a:lnSpc>
                <a:spcPct val="95000"/>
              </a:lnSpc>
              <a:buNone/>
              <a:defRPr sz="1065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Context MLP → Last-State Context</a:t>
            </a:r>
          </a:p>
        </p:txBody>
      </p:sp>
      <p:sp>
        <p:nvSpPr>
          <p:cNvPr id="243" name="FIG1_PANEL_D__ST_PROMPT">
            <a:extLst>
              <a:ext uri="{FF2B5EF4-FFF2-40B4-BE49-F238E27FC236}">
                <a16:creationId xmlns:a16="http://schemas.microsoft.com/office/drawing/2014/main" id="{8B37CCC8-4708-48A8-B17F-FC1E49E11539}"/>
              </a:ext>
            </a:extLst>
          </p:cNvPr>
          <p:cNvSpPr>
            <a:spLocks noGrp="1"/>
          </p:cNvSpPr>
          <p:nvPr/>
        </p:nvSpPr>
        <p:spPr>
          <a:xfrm>
            <a:off x="4906641" y="6633352"/>
            <a:ext cx="3169568" cy="250658"/>
          </a:xfrm>
          <a:prstGeom prst="roundRect">
            <a:avLst>
              <a:gd name="adj" fmla="val 23529"/>
            </a:avLst>
          </a:prstGeom>
          <a:solidFill>
            <a:srgbClr val="ECE5F7"/>
          </a:solidFill>
          <a:ln w="11906">
            <a:solidFill>
              <a:srgbClr val="8367B2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4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Node-Horizon ST Prompt</a:t>
            </a:r>
          </a:p>
        </p:txBody>
      </p:sp>
      <p:sp>
        <p:nvSpPr>
          <p:cNvPr id="244" name="FIG1_PANEL_D__DECODER">
            <a:extLst>
              <a:ext uri="{FF2B5EF4-FFF2-40B4-BE49-F238E27FC236}">
                <a16:creationId xmlns:a16="http://schemas.microsoft.com/office/drawing/2014/main" id="{9F04481A-B578-42BC-8E72-0237B00E5B58}"/>
              </a:ext>
            </a:extLst>
          </p:cNvPr>
          <p:cNvSpPr>
            <a:spLocks noGrp="1"/>
          </p:cNvSpPr>
          <p:nvPr/>
        </p:nvSpPr>
        <p:spPr>
          <a:xfrm>
            <a:off x="4595345" y="6994594"/>
            <a:ext cx="3792161" cy="280147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906">
            <a:solidFill>
              <a:srgbClr val="6F8795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4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Last-State Direct Multi-Output Decoding</a:t>
            </a:r>
          </a:p>
        </p:txBody>
      </p:sp>
      <p:sp>
        <p:nvSpPr>
          <p:cNvPr id="245" name="FIG1_PANEL_D__FORECAST_LABEL">
            <a:extLst>
              <a:ext uri="{FF2B5EF4-FFF2-40B4-BE49-F238E27FC236}">
                <a16:creationId xmlns:a16="http://schemas.microsoft.com/office/drawing/2014/main" id="{6345BC91-97BF-40CA-9B4B-82E5C55BFC6D}"/>
              </a:ext>
            </a:extLst>
          </p:cNvPr>
          <p:cNvSpPr>
            <a:spLocks noGrp="1"/>
          </p:cNvSpPr>
          <p:nvPr/>
        </p:nvSpPr>
        <p:spPr>
          <a:xfrm>
            <a:off x="5727333" y="7293909"/>
            <a:ext cx="1697983" cy="191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66847" lnSpcReduction="20000"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4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10-Step Forecast</a:t>
            </a:r>
          </a:p>
        </p:txBody>
      </p:sp>
      <p:sp>
        <p:nvSpPr>
          <p:cNvPr id="246" name="FIG1_PANEL_D__FORECAST__TOKEN_1">
            <a:extLst>
              <a:ext uri="{FF2B5EF4-FFF2-40B4-BE49-F238E27FC236}">
                <a16:creationId xmlns:a16="http://schemas.microsoft.com/office/drawing/2014/main" id="{AB0C5F7C-C672-4244-A08C-F0912F373C81}"/>
              </a:ext>
            </a:extLst>
          </p:cNvPr>
          <p:cNvSpPr>
            <a:spLocks noGrp="1"/>
          </p:cNvSpPr>
          <p:nvPr/>
        </p:nvSpPr>
        <p:spPr>
          <a:xfrm>
            <a:off x="4538745" y="7505739"/>
            <a:ext cx="339597" cy="1990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6F879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47" name="FIG1_PANEL_D__FORECAST__TOKEN_2">
            <a:extLst>
              <a:ext uri="{FF2B5EF4-FFF2-40B4-BE49-F238E27FC236}">
                <a16:creationId xmlns:a16="http://schemas.microsoft.com/office/drawing/2014/main" id="{8CB1BFE4-1A4E-4D58-BABC-7BA1C835CCFF}"/>
              </a:ext>
            </a:extLst>
          </p:cNvPr>
          <p:cNvSpPr>
            <a:spLocks noGrp="1"/>
          </p:cNvSpPr>
          <p:nvPr/>
        </p:nvSpPr>
        <p:spPr>
          <a:xfrm>
            <a:off x="4920791" y="7505739"/>
            <a:ext cx="339597" cy="1990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6F879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48" name="FIG1_PANEL_D__FORECAST__TOKEN_3">
            <a:extLst>
              <a:ext uri="{FF2B5EF4-FFF2-40B4-BE49-F238E27FC236}">
                <a16:creationId xmlns:a16="http://schemas.microsoft.com/office/drawing/2014/main" id="{5137A669-4412-4644-93F3-D62E983B0382}"/>
              </a:ext>
            </a:extLst>
          </p:cNvPr>
          <p:cNvSpPr>
            <a:spLocks noGrp="1"/>
          </p:cNvSpPr>
          <p:nvPr/>
        </p:nvSpPr>
        <p:spPr>
          <a:xfrm>
            <a:off x="5302837" y="7505739"/>
            <a:ext cx="339597" cy="1990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6F879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49" name="FIG1_PANEL_D__FORECAST__TOKEN_4">
            <a:extLst>
              <a:ext uri="{FF2B5EF4-FFF2-40B4-BE49-F238E27FC236}">
                <a16:creationId xmlns:a16="http://schemas.microsoft.com/office/drawing/2014/main" id="{D32201F9-FB29-4C66-A16D-C0E2C3020DA0}"/>
              </a:ext>
            </a:extLst>
          </p:cNvPr>
          <p:cNvSpPr>
            <a:spLocks noGrp="1"/>
          </p:cNvSpPr>
          <p:nvPr/>
        </p:nvSpPr>
        <p:spPr>
          <a:xfrm>
            <a:off x="5684883" y="7505739"/>
            <a:ext cx="339597" cy="1990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6F879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50" name="FIG1_PANEL_D__FORECAST__TOKEN_5">
            <a:extLst>
              <a:ext uri="{FF2B5EF4-FFF2-40B4-BE49-F238E27FC236}">
                <a16:creationId xmlns:a16="http://schemas.microsoft.com/office/drawing/2014/main" id="{2D6D41A1-41CB-4F89-B22D-3EF3CE4B9D82}"/>
              </a:ext>
            </a:extLst>
          </p:cNvPr>
          <p:cNvSpPr>
            <a:spLocks noGrp="1"/>
          </p:cNvSpPr>
          <p:nvPr/>
        </p:nvSpPr>
        <p:spPr>
          <a:xfrm>
            <a:off x="6066929" y="7505739"/>
            <a:ext cx="339597" cy="1990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6F879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51" name="FIG1_PANEL_D__FORECAST__TOKEN_6">
            <a:extLst>
              <a:ext uri="{FF2B5EF4-FFF2-40B4-BE49-F238E27FC236}">
                <a16:creationId xmlns:a16="http://schemas.microsoft.com/office/drawing/2014/main" id="{16AC2455-B548-4460-92C9-A96367906485}"/>
              </a:ext>
            </a:extLst>
          </p:cNvPr>
          <p:cNvSpPr>
            <a:spLocks noGrp="1"/>
          </p:cNvSpPr>
          <p:nvPr/>
        </p:nvSpPr>
        <p:spPr>
          <a:xfrm>
            <a:off x="6448976" y="7505739"/>
            <a:ext cx="339597" cy="1990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6F879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52" name="FIG1_PANEL_D__FORECAST__TOKEN_7">
            <a:extLst>
              <a:ext uri="{FF2B5EF4-FFF2-40B4-BE49-F238E27FC236}">
                <a16:creationId xmlns:a16="http://schemas.microsoft.com/office/drawing/2014/main" id="{ADF8A8C3-F69A-49C9-BBC7-6BF7D1784B3C}"/>
              </a:ext>
            </a:extLst>
          </p:cNvPr>
          <p:cNvSpPr>
            <a:spLocks noGrp="1"/>
          </p:cNvSpPr>
          <p:nvPr/>
        </p:nvSpPr>
        <p:spPr>
          <a:xfrm>
            <a:off x="6831022" y="7505739"/>
            <a:ext cx="339597" cy="1990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6F879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53" name="FIG1_PANEL_D__FORECAST__TOKEN_8">
            <a:extLst>
              <a:ext uri="{FF2B5EF4-FFF2-40B4-BE49-F238E27FC236}">
                <a16:creationId xmlns:a16="http://schemas.microsoft.com/office/drawing/2014/main" id="{F504B1CC-AF7D-4D79-BCEF-40FE5C47D701}"/>
              </a:ext>
            </a:extLst>
          </p:cNvPr>
          <p:cNvSpPr>
            <a:spLocks noGrp="1"/>
          </p:cNvSpPr>
          <p:nvPr/>
        </p:nvSpPr>
        <p:spPr>
          <a:xfrm>
            <a:off x="7213068" y="7505739"/>
            <a:ext cx="339597" cy="1990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6F879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254" name="FIG1_PANEL_D__FORECAST__TOKEN_9">
            <a:extLst>
              <a:ext uri="{FF2B5EF4-FFF2-40B4-BE49-F238E27FC236}">
                <a16:creationId xmlns:a16="http://schemas.microsoft.com/office/drawing/2014/main" id="{9A4CABCC-8C39-455E-8761-C849621EFF24}"/>
              </a:ext>
            </a:extLst>
          </p:cNvPr>
          <p:cNvSpPr>
            <a:spLocks noGrp="1"/>
          </p:cNvSpPr>
          <p:nvPr/>
        </p:nvSpPr>
        <p:spPr>
          <a:xfrm>
            <a:off x="7595114" y="7505739"/>
            <a:ext cx="339597" cy="1990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6F8795"/>
            </a:solidFill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255" name="FIG1_PANEL_D__FORECAST__TOKEN_10">
            <a:extLst>
              <a:ext uri="{FF2B5EF4-FFF2-40B4-BE49-F238E27FC236}">
                <a16:creationId xmlns:a16="http://schemas.microsoft.com/office/drawing/2014/main" id="{7D94904B-9FB9-4191-B5C6-551AF67A107E}"/>
              </a:ext>
            </a:extLst>
          </p:cNvPr>
          <p:cNvSpPr>
            <a:spLocks noGrp="1"/>
          </p:cNvSpPr>
          <p:nvPr/>
        </p:nvSpPr>
        <p:spPr>
          <a:xfrm>
            <a:off x="7977160" y="7505739"/>
            <a:ext cx="339597" cy="1990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6F8795"/>
            </a:solidFill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256" name="FIG1_PANEL_D__H3">
            <a:extLst>
              <a:ext uri="{FF2B5EF4-FFF2-40B4-BE49-F238E27FC236}">
                <a16:creationId xmlns:a16="http://schemas.microsoft.com/office/drawing/2014/main" id="{50904523-00A5-4F88-88F4-F48D23DCA0B0}"/>
              </a:ext>
            </a:extLst>
          </p:cNvPr>
          <p:cNvSpPr>
            <a:spLocks noGrp="1"/>
          </p:cNvSpPr>
          <p:nvPr/>
        </p:nvSpPr>
        <p:spPr>
          <a:xfrm>
            <a:off x="4538745" y="7735755"/>
            <a:ext cx="1103689" cy="738"/>
          </a:xfrm>
          <a:prstGeom prst="line">
            <a:avLst/>
          </a:prstGeom>
          <a:noFill/>
          <a:ln w="20003">
            <a:solidFill>
              <a:srgbClr val="E69A54"/>
            </a:solidFill>
            <a:prstDash val="solid"/>
          </a:ln>
        </p:spPr>
      </p:sp>
      <p:sp>
        <p:nvSpPr>
          <p:cNvPr id="257" name="FIG1_PANEL_D__H3_LABEL">
            <a:extLst>
              <a:ext uri="{FF2B5EF4-FFF2-40B4-BE49-F238E27FC236}">
                <a16:creationId xmlns:a16="http://schemas.microsoft.com/office/drawing/2014/main" id="{A3681E67-122B-41EC-8F2C-A0A439336E5A}"/>
              </a:ext>
            </a:extLst>
          </p:cNvPr>
          <p:cNvSpPr>
            <a:spLocks noGrp="1"/>
          </p:cNvSpPr>
          <p:nvPr/>
        </p:nvSpPr>
        <p:spPr>
          <a:xfrm>
            <a:off x="4864192" y="7750499"/>
            <a:ext cx="481095" cy="1400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00" b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dirty="0">
                <a:solidFill>
                  <a:srgbClr val="E69A54"/>
                </a:solidFill>
                <a:latin typeface="Times New Roman"/>
                <a:ea typeface="Times New Roman"/>
                <a:cs typeface="Times New Roman"/>
              </a:rPr>
              <a:t>H3</a:t>
            </a:r>
          </a:p>
        </p:txBody>
      </p:sp>
      <p:sp>
        <p:nvSpPr>
          <p:cNvPr id="258" name="FIG1_PANEL_D__H6">
            <a:extLst>
              <a:ext uri="{FF2B5EF4-FFF2-40B4-BE49-F238E27FC236}">
                <a16:creationId xmlns:a16="http://schemas.microsoft.com/office/drawing/2014/main" id="{1DF770EE-3212-43D3-8405-9B90E1E0BF26}"/>
              </a:ext>
            </a:extLst>
          </p:cNvPr>
          <p:cNvSpPr>
            <a:spLocks noGrp="1"/>
          </p:cNvSpPr>
          <p:nvPr/>
        </p:nvSpPr>
        <p:spPr>
          <a:xfrm>
            <a:off x="4538745" y="7920062"/>
            <a:ext cx="2207377" cy="738"/>
          </a:xfrm>
          <a:prstGeom prst="line">
            <a:avLst/>
          </a:prstGeom>
          <a:noFill/>
          <a:ln w="20003">
            <a:solidFill>
              <a:srgbClr val="8367B2"/>
            </a:solidFill>
            <a:prstDash val="solid"/>
          </a:ln>
        </p:spPr>
      </p:sp>
      <p:sp>
        <p:nvSpPr>
          <p:cNvPr id="259" name="FIG1_PANEL_D__H6_LABEL">
            <a:extLst>
              <a:ext uri="{FF2B5EF4-FFF2-40B4-BE49-F238E27FC236}">
                <a16:creationId xmlns:a16="http://schemas.microsoft.com/office/drawing/2014/main" id="{AE3967D2-FE5E-48F4-A171-19C82FD15625}"/>
              </a:ext>
            </a:extLst>
          </p:cNvPr>
          <p:cNvSpPr>
            <a:spLocks noGrp="1"/>
          </p:cNvSpPr>
          <p:nvPr/>
        </p:nvSpPr>
        <p:spPr>
          <a:xfrm>
            <a:off x="5387736" y="7934807"/>
            <a:ext cx="481095" cy="1400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00" b="0">
                <a:solidFill>
                  <a:srgbClr val="8367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dirty="0">
                <a:solidFill>
                  <a:srgbClr val="8367B2"/>
                </a:solidFill>
                <a:latin typeface="Times New Roman"/>
                <a:ea typeface="Times New Roman"/>
                <a:cs typeface="Times New Roman"/>
              </a:rPr>
              <a:t>H6</a:t>
            </a:r>
          </a:p>
        </p:txBody>
      </p:sp>
      <p:sp>
        <p:nvSpPr>
          <p:cNvPr id="260" name="FIG1_PANEL_D__H10">
            <a:extLst>
              <a:ext uri="{FF2B5EF4-FFF2-40B4-BE49-F238E27FC236}">
                <a16:creationId xmlns:a16="http://schemas.microsoft.com/office/drawing/2014/main" id="{865AFA49-9F5B-40CA-9936-032647C5207E}"/>
              </a:ext>
            </a:extLst>
          </p:cNvPr>
          <p:cNvSpPr>
            <a:spLocks noGrp="1"/>
          </p:cNvSpPr>
          <p:nvPr/>
        </p:nvSpPr>
        <p:spPr>
          <a:xfrm>
            <a:off x="4538745" y="8104369"/>
            <a:ext cx="3678962" cy="738"/>
          </a:xfrm>
          <a:prstGeom prst="line">
            <a:avLst/>
          </a:prstGeom>
          <a:noFill/>
          <a:ln w="20003">
            <a:solidFill>
              <a:srgbClr val="4F9A96"/>
            </a:solidFill>
            <a:prstDash val="solid"/>
          </a:ln>
        </p:spPr>
      </p:sp>
      <p:sp>
        <p:nvSpPr>
          <p:cNvPr id="261" name="FIG1_PANEL_D__H10_LABEL">
            <a:extLst>
              <a:ext uri="{FF2B5EF4-FFF2-40B4-BE49-F238E27FC236}">
                <a16:creationId xmlns:a16="http://schemas.microsoft.com/office/drawing/2014/main" id="{B7244BFC-B069-4CC8-937F-B9DF49552046}"/>
              </a:ext>
            </a:extLst>
          </p:cNvPr>
          <p:cNvSpPr>
            <a:spLocks noGrp="1"/>
          </p:cNvSpPr>
          <p:nvPr/>
        </p:nvSpPr>
        <p:spPr>
          <a:xfrm>
            <a:off x="6095229" y="8119114"/>
            <a:ext cx="565994" cy="1400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00" b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dirty="0">
                <a:solidFill>
                  <a:srgbClr val="4F9A96"/>
                </a:solidFill>
                <a:latin typeface="Times New Roman"/>
                <a:ea typeface="Times New Roman"/>
                <a:cs typeface="Times New Roman"/>
              </a:rPr>
              <a:t>H10</a:t>
            </a:r>
          </a:p>
        </p:txBody>
      </p:sp>
      <p:sp>
        <p:nvSpPr>
          <p:cNvPr id="262" name="FIG1_PANEL_D__FORECAST_FLOW_1__LINE">
            <a:extLst>
              <a:ext uri="{FF2B5EF4-FFF2-40B4-BE49-F238E27FC236}">
                <a16:creationId xmlns:a16="http://schemas.microsoft.com/office/drawing/2014/main" id="{6319EEC3-E795-466E-9253-A1CB102DFED5}"/>
              </a:ext>
            </a:extLst>
          </p:cNvPr>
          <p:cNvSpPr>
            <a:spLocks noGrp="1"/>
          </p:cNvSpPr>
          <p:nvPr/>
        </p:nvSpPr>
        <p:spPr>
          <a:xfrm>
            <a:off x="6491425" y="6168897"/>
            <a:ext cx="1416" cy="110584"/>
          </a:xfrm>
          <a:prstGeom prst="line">
            <a:avLst/>
          </a:prstGeom>
          <a:noFill/>
          <a:ln w="24289">
            <a:solidFill>
              <a:srgbClr val="6F8795"/>
            </a:solidFill>
            <a:prstDash val="solid"/>
          </a:ln>
        </p:spPr>
      </p:sp>
      <p:sp>
        <p:nvSpPr>
          <p:cNvPr id="264" name="FIG1_PANEL_D__FORECAST_FLOW_2__LINE">
            <a:extLst>
              <a:ext uri="{FF2B5EF4-FFF2-40B4-BE49-F238E27FC236}">
                <a16:creationId xmlns:a16="http://schemas.microsoft.com/office/drawing/2014/main" id="{16F6130E-EE95-4233-ABA5-B16E74E425CC}"/>
              </a:ext>
            </a:extLst>
          </p:cNvPr>
          <p:cNvSpPr>
            <a:spLocks noGrp="1"/>
          </p:cNvSpPr>
          <p:nvPr/>
        </p:nvSpPr>
        <p:spPr>
          <a:xfrm>
            <a:off x="6491425" y="6515395"/>
            <a:ext cx="1416" cy="117957"/>
          </a:xfrm>
          <a:prstGeom prst="line">
            <a:avLst/>
          </a:prstGeom>
          <a:noFill/>
          <a:ln w="24289">
            <a:solidFill>
              <a:srgbClr val="8367B2"/>
            </a:solidFill>
            <a:prstDash val="solid"/>
          </a:ln>
        </p:spPr>
      </p:sp>
      <p:sp>
        <p:nvSpPr>
          <p:cNvPr id="265" name="FIG1_PANEL_D__FORECAST_FLOW_2__HEAD">
            <a:extLst>
              <a:ext uri="{FF2B5EF4-FFF2-40B4-BE49-F238E27FC236}">
                <a16:creationId xmlns:a16="http://schemas.microsoft.com/office/drawing/2014/main" id="{B61C7741-089B-475D-AEED-6D0C0EE2D76B}"/>
              </a:ext>
            </a:extLst>
          </p:cNvPr>
          <p:cNvSpPr>
            <a:spLocks noGrp="1"/>
          </p:cNvSpPr>
          <p:nvPr/>
        </p:nvSpPr>
        <p:spPr>
          <a:xfrm rot="10800000">
            <a:off x="6428222" y="6596490"/>
            <a:ext cx="141499" cy="73723"/>
          </a:xfrm>
          <a:prstGeom prst="triangle">
            <a:avLst/>
          </a:prstGeom>
          <a:solidFill>
            <a:srgbClr val="8367B2"/>
          </a:solidFill>
          <a:ln w="4763">
            <a:solidFill>
              <a:srgbClr val="8367B2"/>
            </a:solidFill>
            <a:prstDash val="solid"/>
          </a:ln>
        </p:spPr>
      </p:sp>
      <p:sp>
        <p:nvSpPr>
          <p:cNvPr id="266" name="FIG1_PANEL_D__FORECAST_FLOW_3__LINE">
            <a:extLst>
              <a:ext uri="{FF2B5EF4-FFF2-40B4-BE49-F238E27FC236}">
                <a16:creationId xmlns:a16="http://schemas.microsoft.com/office/drawing/2014/main" id="{B0B41576-CB2C-4A61-80BA-A8BCBFEA1EFC}"/>
              </a:ext>
            </a:extLst>
          </p:cNvPr>
          <p:cNvSpPr>
            <a:spLocks noGrp="1"/>
          </p:cNvSpPr>
          <p:nvPr/>
        </p:nvSpPr>
        <p:spPr>
          <a:xfrm>
            <a:off x="6491425" y="6884009"/>
            <a:ext cx="1416" cy="110584"/>
          </a:xfrm>
          <a:prstGeom prst="line">
            <a:avLst/>
          </a:prstGeom>
          <a:noFill/>
          <a:ln w="24289">
            <a:solidFill>
              <a:srgbClr val="6F8795"/>
            </a:solidFill>
            <a:prstDash val="solid"/>
          </a:ln>
        </p:spPr>
      </p:sp>
      <p:sp>
        <p:nvSpPr>
          <p:cNvPr id="267" name="FIG1_PANEL_D__FORECAST_FLOW_3__HEAD">
            <a:extLst>
              <a:ext uri="{FF2B5EF4-FFF2-40B4-BE49-F238E27FC236}">
                <a16:creationId xmlns:a16="http://schemas.microsoft.com/office/drawing/2014/main" id="{81D18120-22DA-4B37-BFEE-C4F6632D2C18}"/>
              </a:ext>
            </a:extLst>
          </p:cNvPr>
          <p:cNvSpPr>
            <a:spLocks noGrp="1"/>
          </p:cNvSpPr>
          <p:nvPr/>
        </p:nvSpPr>
        <p:spPr>
          <a:xfrm rot="10800000">
            <a:off x="6428222" y="6957732"/>
            <a:ext cx="141499" cy="73723"/>
          </a:xfrm>
          <a:prstGeom prst="triangle">
            <a:avLst/>
          </a:prstGeom>
          <a:solidFill>
            <a:srgbClr val="6F8795"/>
          </a:solidFill>
          <a:ln w="4763">
            <a:solidFill>
              <a:srgbClr val="6F8795"/>
            </a:solidFill>
            <a:prstDash val="solid"/>
          </a:ln>
        </p:spPr>
      </p:sp>
      <p:sp>
        <p:nvSpPr>
          <p:cNvPr id="268" name="FIG1_PANEL_D__DIVIDER">
            <a:extLst>
              <a:ext uri="{FF2B5EF4-FFF2-40B4-BE49-F238E27FC236}">
                <a16:creationId xmlns:a16="http://schemas.microsoft.com/office/drawing/2014/main" id="{E9FBD937-CCE6-4772-9D19-ADA3C4A46C12}"/>
              </a:ext>
            </a:extLst>
          </p:cNvPr>
          <p:cNvSpPr>
            <a:spLocks noGrp="1"/>
          </p:cNvSpPr>
          <p:nvPr/>
        </p:nvSpPr>
        <p:spPr>
          <a:xfrm>
            <a:off x="4284048" y="8241494"/>
            <a:ext cx="4443055" cy="738"/>
          </a:xfrm>
          <a:prstGeom prst="line">
            <a:avLst/>
          </a:prstGeom>
          <a:noFill/>
          <a:ln w="10478">
            <a:solidFill>
              <a:srgbClr val="DAB99A"/>
            </a:solidFill>
            <a:prstDash val="solid"/>
          </a:ln>
        </p:spPr>
      </p:sp>
      <p:sp>
        <p:nvSpPr>
          <p:cNvPr id="271" name="FIG1_PANEL_D__SMOOTH_L1">
            <a:extLst>
              <a:ext uri="{FF2B5EF4-FFF2-40B4-BE49-F238E27FC236}">
                <a16:creationId xmlns:a16="http://schemas.microsoft.com/office/drawing/2014/main" id="{BECDE607-EE4D-4A5C-A14C-B71C35ADA7D7}"/>
              </a:ext>
            </a:extLst>
          </p:cNvPr>
          <p:cNvSpPr>
            <a:spLocks noGrp="1"/>
          </p:cNvSpPr>
          <p:nvPr/>
        </p:nvSpPr>
        <p:spPr>
          <a:xfrm>
            <a:off x="5033990" y="8427767"/>
            <a:ext cx="2943170" cy="235913"/>
          </a:xfrm>
          <a:prstGeom prst="roundRect">
            <a:avLst>
              <a:gd name="adj" fmla="val 25000"/>
            </a:avLst>
          </a:prstGeom>
          <a:solidFill>
            <a:srgbClr val="F7E9E6"/>
          </a:solidFill>
          <a:ln w="11906">
            <a:solidFill>
              <a:srgbClr val="B76F68"/>
            </a:solidFill>
            <a:prstDash val="solid"/>
          </a:ln>
        </p:spPr>
        <p:txBody>
          <a:bodyPr wrap="square" lIns="57150" tIns="38100" rIns="57150" bIns="38100" anchor="ctr">
            <a:normAutofit fontScale="79543" lnSpcReduction="20000"/>
          </a:bodyPr>
          <a:lstStyle/>
          <a:p>
            <a:pPr algn="ctr">
              <a:lnSpc>
                <a:spcPct val="95000"/>
              </a:lnSpc>
              <a:buNone/>
              <a:defRPr sz="14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Masked Smooth L1 Loss</a:t>
            </a:r>
          </a:p>
        </p:txBody>
      </p:sp>
      <p:sp>
        <p:nvSpPr>
          <p:cNvPr id="272" name="FIG1_PANEL_D__H_BRANCH">
            <a:extLst>
              <a:ext uri="{FF2B5EF4-FFF2-40B4-BE49-F238E27FC236}">
                <a16:creationId xmlns:a16="http://schemas.microsoft.com/office/drawing/2014/main" id="{2C131E40-DFB9-4507-87BE-79EB3E4176BD}"/>
              </a:ext>
            </a:extLst>
          </p:cNvPr>
          <p:cNvSpPr>
            <a:spLocks noGrp="1"/>
          </p:cNvSpPr>
          <p:nvPr/>
        </p:nvSpPr>
        <p:spPr>
          <a:xfrm>
            <a:off x="4340647" y="8890865"/>
            <a:ext cx="2093373" cy="443576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001">
            <a:solidFill>
              <a:srgbClr val="B76F68"/>
            </a:solidFill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Horizon Difficulty-Rate EMA</a:t>
            </a:r>
          </a:p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Weighting + Clipping</a:t>
            </a:r>
          </a:p>
          <a:p>
            <a:pPr algn="ctr">
              <a:lnSpc>
                <a:spcPct val="95000"/>
              </a:lnSpc>
              <a:buNone/>
              <a:defRPr sz="105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and Normalization</a:t>
            </a:r>
          </a:p>
        </p:txBody>
      </p:sp>
      <p:sp>
        <p:nvSpPr>
          <p:cNvPr id="273" name="FIG1_PANEL_D__S_BRANCH">
            <a:extLst>
              <a:ext uri="{FF2B5EF4-FFF2-40B4-BE49-F238E27FC236}">
                <a16:creationId xmlns:a16="http://schemas.microsoft.com/office/drawing/2014/main" id="{08900030-00FF-416B-A8C3-4832CA2440AF}"/>
              </a:ext>
            </a:extLst>
          </p:cNvPr>
          <p:cNvSpPr>
            <a:spLocks noGrp="1"/>
          </p:cNvSpPr>
          <p:nvPr/>
        </p:nvSpPr>
        <p:spPr>
          <a:xfrm>
            <a:off x="6641412" y="8867274"/>
            <a:ext cx="2111157" cy="443576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001">
            <a:solidFill>
              <a:srgbClr val="B76F68"/>
            </a:solidFill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855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Dynamic Site EMA Weighting</a:t>
            </a:r>
          </a:p>
          <a:p>
            <a:pPr algn="ctr">
              <a:lnSpc>
                <a:spcPct val="95000"/>
              </a:lnSpc>
              <a:buNone/>
              <a:defRPr sz="855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Mean Normalization → Clipping</a:t>
            </a:r>
          </a:p>
        </p:txBody>
      </p:sp>
      <p:sp>
        <p:nvSpPr>
          <p:cNvPr id="274" name="FIG1_PANEL_D__LOSS_MERGE">
            <a:extLst>
              <a:ext uri="{FF2B5EF4-FFF2-40B4-BE49-F238E27FC236}">
                <a16:creationId xmlns:a16="http://schemas.microsoft.com/office/drawing/2014/main" id="{57898E8A-6785-4149-A60B-BA2B6D16FA92}"/>
              </a:ext>
            </a:extLst>
          </p:cNvPr>
          <p:cNvSpPr>
            <a:spLocks noGrp="1"/>
          </p:cNvSpPr>
          <p:nvPr/>
        </p:nvSpPr>
        <p:spPr>
          <a:xfrm>
            <a:off x="6435143" y="9310624"/>
            <a:ext cx="203401" cy="221332"/>
          </a:xfrm>
          <a:prstGeom prst="ellipse">
            <a:avLst/>
          </a:prstGeom>
          <a:solidFill>
            <a:srgbClr val="FFFFFF"/>
          </a:solidFill>
          <a:ln w="13335">
            <a:solidFill>
              <a:srgbClr val="B76F68"/>
            </a:solidFill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75" name="FIG1_PANEL_D__MSMG">
            <a:extLst>
              <a:ext uri="{FF2B5EF4-FFF2-40B4-BE49-F238E27FC236}">
                <a16:creationId xmlns:a16="http://schemas.microsoft.com/office/drawing/2014/main" id="{753B6132-1F1F-4B34-86B6-7AAB0CFE1F3B}"/>
              </a:ext>
            </a:extLst>
          </p:cNvPr>
          <p:cNvSpPr>
            <a:spLocks noGrp="1"/>
          </p:cNvSpPr>
          <p:nvPr/>
        </p:nvSpPr>
        <p:spPr>
          <a:xfrm>
            <a:off x="4821742" y="9591115"/>
            <a:ext cx="3537464" cy="355344"/>
          </a:xfrm>
          <a:prstGeom prst="roundRect">
            <a:avLst>
              <a:gd name="adj" fmla="val 18182"/>
            </a:avLst>
          </a:prstGeom>
          <a:solidFill>
            <a:srgbClr val="F7E9E6"/>
          </a:solidFill>
          <a:ln w="11906">
            <a:solidFill>
              <a:srgbClr val="B76F68"/>
            </a:solidFill>
            <a:prstDash val="solid"/>
          </a:ln>
        </p:spPr>
      </p:sp>
      <p:sp>
        <p:nvSpPr>
          <p:cNvPr id="276" name="FIG1_PANEL_D__MSMG_TITLE">
            <a:extLst>
              <a:ext uri="{FF2B5EF4-FFF2-40B4-BE49-F238E27FC236}">
                <a16:creationId xmlns:a16="http://schemas.microsoft.com/office/drawing/2014/main" id="{591C13D9-7D26-4AD4-A30F-384F7AE05BE1}"/>
              </a:ext>
            </a:extLst>
          </p:cNvPr>
          <p:cNvSpPr>
            <a:spLocks noGrp="1"/>
          </p:cNvSpPr>
          <p:nvPr/>
        </p:nvSpPr>
        <p:spPr>
          <a:xfrm>
            <a:off x="4934941" y="9645670"/>
            <a:ext cx="3169568" cy="1253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3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MS-MG-DWU</a:t>
            </a:r>
          </a:p>
        </p:txBody>
      </p:sp>
      <p:sp>
        <p:nvSpPr>
          <p:cNvPr id="277" name="FIG1_PANEL_D__MSMG_SUBTITLE">
            <a:extLst>
              <a:ext uri="{FF2B5EF4-FFF2-40B4-BE49-F238E27FC236}">
                <a16:creationId xmlns:a16="http://schemas.microsoft.com/office/drawing/2014/main" id="{884DB59D-183E-44B6-BA9C-BD2A789FE306}"/>
              </a:ext>
            </a:extLst>
          </p:cNvPr>
          <p:cNvSpPr>
            <a:spLocks noGrp="1"/>
          </p:cNvSpPr>
          <p:nvPr/>
        </p:nvSpPr>
        <p:spPr>
          <a:xfrm>
            <a:off x="4934941" y="9732666"/>
            <a:ext cx="3412945" cy="2049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0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Difficulty-Rate Dynamic Weighting Loss</a:t>
            </a:r>
          </a:p>
        </p:txBody>
      </p:sp>
      <p:sp>
        <p:nvSpPr>
          <p:cNvPr id="298" name="FIG1_MAIN_FLOW_C_D__1">
            <a:extLst>
              <a:ext uri="{FF2B5EF4-FFF2-40B4-BE49-F238E27FC236}">
                <a16:creationId xmlns:a16="http://schemas.microsoft.com/office/drawing/2014/main" id="{E29F5ECB-1AF0-4D94-B8FB-AA8E40F035CC}"/>
              </a:ext>
            </a:extLst>
          </p:cNvPr>
          <p:cNvSpPr>
            <a:spLocks noGrp="1"/>
          </p:cNvSpPr>
          <p:nvPr/>
        </p:nvSpPr>
        <p:spPr>
          <a:xfrm>
            <a:off x="3615995" y="9390917"/>
            <a:ext cx="346405" cy="953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sp>
      <p:sp>
        <p:nvSpPr>
          <p:cNvPr id="299" name="FIG1_MAIN_FLOW_C_D__2">
            <a:extLst>
              <a:ext uri="{FF2B5EF4-FFF2-40B4-BE49-F238E27FC236}">
                <a16:creationId xmlns:a16="http://schemas.microsoft.com/office/drawing/2014/main" id="{A429548F-A553-4867-8753-090009DA7F3A}"/>
              </a:ext>
            </a:extLst>
          </p:cNvPr>
          <p:cNvSpPr>
            <a:spLocks noGrp="1"/>
          </p:cNvSpPr>
          <p:nvPr/>
        </p:nvSpPr>
        <p:spPr>
          <a:xfrm flipH="1" flipV="1">
            <a:off x="3952874" y="6014084"/>
            <a:ext cx="9525" cy="3376831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sp>
      <p:cxnSp>
        <p:nvCxnSpPr>
          <p:cNvPr id="1401" name="直接箭头连接符 307"/>
          <p:cNvCxnSpPr>
            <a:cxnSpLocks/>
          </p:cNvCxnSpPr>
          <p:nvPr/>
        </p:nvCxnSpPr>
        <p:spPr>
          <a:xfrm>
            <a:off x="2050877" y="1407836"/>
            <a:ext cx="0" cy="10519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2" name="直接箭头连接符 311"/>
          <p:cNvCxnSpPr>
            <a:cxnSpLocks/>
          </p:cNvCxnSpPr>
          <p:nvPr/>
        </p:nvCxnSpPr>
        <p:spPr>
          <a:xfrm>
            <a:off x="2219930" y="3042285"/>
            <a:ext cx="0" cy="14937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3" name="直接箭头连接符 313"/>
          <p:cNvCxnSpPr/>
          <p:nvPr/>
        </p:nvCxnSpPr>
        <p:spPr>
          <a:xfrm>
            <a:off x="2167542" y="4507092"/>
            <a:ext cx="0" cy="12201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9" name="直接箭头连接符 340"/>
          <p:cNvCxnSpPr/>
          <p:nvPr/>
        </p:nvCxnSpPr>
        <p:spPr>
          <a:xfrm>
            <a:off x="4519377" y="3792173"/>
            <a:ext cx="223083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0" name="直接箭头连接符 342"/>
          <p:cNvCxnSpPr/>
          <p:nvPr/>
        </p:nvCxnSpPr>
        <p:spPr>
          <a:xfrm>
            <a:off x="5663481" y="3810323"/>
            <a:ext cx="223083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1" name="直接箭头连接符 343"/>
          <p:cNvCxnSpPr/>
          <p:nvPr/>
        </p:nvCxnSpPr>
        <p:spPr>
          <a:xfrm>
            <a:off x="7136243" y="3807719"/>
            <a:ext cx="223083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2" name="直接箭头连接符 344"/>
          <p:cNvCxnSpPr/>
          <p:nvPr/>
        </p:nvCxnSpPr>
        <p:spPr>
          <a:xfrm>
            <a:off x="5570787" y="1782293"/>
            <a:ext cx="262191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3" name="直接箭头连接符 347"/>
          <p:cNvCxnSpPr/>
          <p:nvPr/>
        </p:nvCxnSpPr>
        <p:spPr>
          <a:xfrm>
            <a:off x="6901957" y="1803044"/>
            <a:ext cx="213949" cy="327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4" name="直接箭头连接符 349"/>
          <p:cNvCxnSpPr/>
          <p:nvPr/>
        </p:nvCxnSpPr>
        <p:spPr>
          <a:xfrm>
            <a:off x="7780080" y="2143811"/>
            <a:ext cx="0" cy="18829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4" name="FIG1_PANEL_B__MICRO_DIFF_LABEL">
            <a:extLst>
              <a:ext uri="{FF2B5EF4-FFF2-40B4-BE49-F238E27FC236}">
                <a16:creationId xmlns:a16="http://schemas.microsoft.com/office/drawing/2014/main" id="{DF9D954E-6686-9DDB-3899-53630FA0EB85}"/>
              </a:ext>
            </a:extLst>
          </p:cNvPr>
          <p:cNvSpPr>
            <a:spLocks noGrp="1"/>
          </p:cNvSpPr>
          <p:nvPr/>
        </p:nvSpPr>
        <p:spPr>
          <a:xfrm>
            <a:off x="7370565" y="3546106"/>
            <a:ext cx="1432455" cy="4243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4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Bidirectional 2nd-Order Graph Diffusion</a:t>
            </a:r>
          </a:p>
        </p:txBody>
      </p:sp>
      <p:sp>
        <p:nvSpPr>
          <p:cNvPr id="356" name="FIG1_PANEL_B__MICRO_TCN__LAYER_1">
            <a:extLst>
              <a:ext uri="{FF2B5EF4-FFF2-40B4-BE49-F238E27FC236}">
                <a16:creationId xmlns:a16="http://schemas.microsoft.com/office/drawing/2014/main" id="{7F11F91D-80DE-D108-43A9-965B3D9521F9}"/>
              </a:ext>
            </a:extLst>
          </p:cNvPr>
          <p:cNvSpPr>
            <a:spLocks noGrp="1"/>
          </p:cNvSpPr>
          <p:nvPr/>
        </p:nvSpPr>
        <p:spPr>
          <a:xfrm>
            <a:off x="7490044" y="4361065"/>
            <a:ext cx="1209726" cy="338224"/>
          </a:xfrm>
          <a:prstGeom prst="roundRect">
            <a:avLst>
              <a:gd name="adj" fmla="val 10714"/>
            </a:avLst>
          </a:prstGeom>
          <a:solidFill>
            <a:srgbClr val="DDF2EF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58" name="FIG1_PANEL_B__MICRO_TCN_LABEL">
            <a:extLst>
              <a:ext uri="{FF2B5EF4-FFF2-40B4-BE49-F238E27FC236}">
                <a16:creationId xmlns:a16="http://schemas.microsoft.com/office/drawing/2014/main" id="{8CAE1067-4BCE-A39E-ECBE-6BE7955A5536}"/>
              </a:ext>
            </a:extLst>
          </p:cNvPr>
          <p:cNvSpPr>
            <a:spLocks noGrp="1"/>
          </p:cNvSpPr>
          <p:nvPr/>
        </p:nvSpPr>
        <p:spPr>
          <a:xfrm>
            <a:off x="7495909" y="4368581"/>
            <a:ext cx="1172370" cy="301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4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Asymmetric Causal TCN</a:t>
            </a:r>
          </a:p>
        </p:txBody>
      </p:sp>
      <p:cxnSp>
        <p:nvCxnSpPr>
          <p:cNvPr id="1418" name="直接箭头连接符 358"/>
          <p:cNvCxnSpPr/>
          <p:nvPr/>
        </p:nvCxnSpPr>
        <p:spPr>
          <a:xfrm>
            <a:off x="8101057" y="4092391"/>
            <a:ext cx="0" cy="17009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1" name="直接箭头连接符 370"/>
          <p:cNvCxnSpPr/>
          <p:nvPr/>
        </p:nvCxnSpPr>
        <p:spPr>
          <a:xfrm>
            <a:off x="366507" y="5964783"/>
            <a:ext cx="18118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2" name="直接箭头连接符 371"/>
          <p:cNvCxnSpPr/>
          <p:nvPr/>
        </p:nvCxnSpPr>
        <p:spPr>
          <a:xfrm>
            <a:off x="2088117" y="6777848"/>
            <a:ext cx="0" cy="253607"/>
          </a:xfrm>
          <a:prstGeom prst="straightConnector1">
            <a:avLst/>
          </a:prstGeom>
          <a:ln>
            <a:solidFill>
              <a:srgbClr val="8367B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3" name="直接箭头连接符 374"/>
          <p:cNvCxnSpPr/>
          <p:nvPr/>
        </p:nvCxnSpPr>
        <p:spPr>
          <a:xfrm flipH="1">
            <a:off x="1399818" y="7208390"/>
            <a:ext cx="678226" cy="188731"/>
          </a:xfrm>
          <a:prstGeom prst="straightConnector1">
            <a:avLst/>
          </a:prstGeom>
          <a:ln>
            <a:solidFill>
              <a:srgbClr val="8367B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4" name="直接箭头连接符 377"/>
          <p:cNvCxnSpPr/>
          <p:nvPr/>
        </p:nvCxnSpPr>
        <p:spPr>
          <a:xfrm>
            <a:off x="1510598" y="7601579"/>
            <a:ext cx="217716" cy="0"/>
          </a:xfrm>
          <a:prstGeom prst="straightConnector1">
            <a:avLst/>
          </a:prstGeom>
          <a:ln>
            <a:solidFill>
              <a:srgbClr val="8367B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5" name="直接箭头连接符 379"/>
          <p:cNvCxnSpPr/>
          <p:nvPr/>
        </p:nvCxnSpPr>
        <p:spPr>
          <a:xfrm flipH="1">
            <a:off x="2363446" y="7601579"/>
            <a:ext cx="227789" cy="0"/>
          </a:xfrm>
          <a:prstGeom prst="straightConnector1">
            <a:avLst/>
          </a:prstGeom>
          <a:ln>
            <a:solidFill>
              <a:srgbClr val="8367B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6" name="直接箭头连接符 382"/>
          <p:cNvCxnSpPr/>
          <p:nvPr/>
        </p:nvCxnSpPr>
        <p:spPr>
          <a:xfrm flipH="1">
            <a:off x="1221723" y="8779492"/>
            <a:ext cx="115" cy="12385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7" name="直接箭头连接符 385"/>
          <p:cNvCxnSpPr/>
          <p:nvPr/>
        </p:nvCxnSpPr>
        <p:spPr>
          <a:xfrm>
            <a:off x="2888771" y="8763178"/>
            <a:ext cx="0" cy="15571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8" name="FIG1_PANEL_D__FORECAST_FLOW_1__HEAD">
            <a:extLst>
              <a:ext uri="{FF2B5EF4-FFF2-40B4-BE49-F238E27FC236}">
                <a16:creationId xmlns:a16="http://schemas.microsoft.com/office/drawing/2014/main" id="{A509DCE9-E63E-6C80-E781-C8D3F98966B6}"/>
              </a:ext>
            </a:extLst>
          </p:cNvPr>
          <p:cNvSpPr>
            <a:spLocks noGrp="1"/>
          </p:cNvSpPr>
          <p:nvPr/>
        </p:nvSpPr>
        <p:spPr>
          <a:xfrm rot="5400000">
            <a:off x="4404635" y="5983847"/>
            <a:ext cx="141499" cy="73723"/>
          </a:xfrm>
          <a:prstGeom prst="triangle">
            <a:avLst/>
          </a:prstGeom>
          <a:solidFill>
            <a:schemeClr val="accent3"/>
          </a:solidFill>
          <a:ln w="4763">
            <a:solidFill>
              <a:schemeClr val="accent3"/>
            </a:solidFill>
            <a:prstDash val="solid"/>
          </a:ln>
        </p:spPr>
      </p:sp>
      <p:cxnSp>
        <p:nvCxnSpPr>
          <p:cNvPr id="1429" name="直接箭头连接符 388"/>
          <p:cNvCxnSpPr>
            <a:cxnSpLocks/>
          </p:cNvCxnSpPr>
          <p:nvPr/>
        </p:nvCxnSpPr>
        <p:spPr>
          <a:xfrm flipH="1">
            <a:off x="5494020" y="8689507"/>
            <a:ext cx="737048" cy="185888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0" name="直接箭头连接符 390"/>
          <p:cNvCxnSpPr>
            <a:cxnSpLocks/>
          </p:cNvCxnSpPr>
          <p:nvPr/>
        </p:nvCxnSpPr>
        <p:spPr>
          <a:xfrm>
            <a:off x="6682496" y="8689507"/>
            <a:ext cx="846064" cy="151598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3" name="FIG1_PANEL_A__FINE_WAVE__SMOOTH">
            <a:extLst>
              <a:ext uri="{FF2B5EF4-FFF2-40B4-BE49-F238E27FC236}">
                <a16:creationId xmlns:a16="http://schemas.microsoft.com/office/drawing/2014/main" id="{4FCF59FF-1268-48F9-9CA0-911E47EABBC0}"/>
              </a:ext>
            </a:extLst>
          </p:cNvPr>
          <p:cNvSpPr>
            <a:spLocks noGrp="1"/>
          </p:cNvSpPr>
          <p:nvPr/>
        </p:nvSpPr>
        <p:spPr>
          <a:xfrm>
            <a:off x="1033463" y="2438960"/>
            <a:ext cx="2643188" cy="155924"/>
          </a:xfrm>
          <a:custGeom>
            <a:avLst/>
            <a:gdLst/>
            <a:ahLst/>
            <a:cxnLst/>
            <a:rect l="0" t="0" r="0" b="0"/>
            <a:pathLst>
              <a:path w="1762125" h="223838">
                <a:moveTo>
                  <a:pt x="0" y="142875"/>
                </a:moveTo>
                <a:lnTo>
                  <a:pt x="103654" y="95250"/>
                </a:lnTo>
                <a:lnTo>
                  <a:pt x="207308" y="33338"/>
                </a:lnTo>
                <a:lnTo>
                  <a:pt x="310963" y="14288"/>
                </a:lnTo>
                <a:lnTo>
                  <a:pt x="414617" y="57150"/>
                </a:lnTo>
                <a:lnTo>
                  <a:pt x="518272" y="133350"/>
                </a:lnTo>
                <a:lnTo>
                  <a:pt x="621926" y="190500"/>
                </a:lnTo>
                <a:lnTo>
                  <a:pt x="725580" y="166688"/>
                </a:lnTo>
                <a:lnTo>
                  <a:pt x="829235" y="100013"/>
                </a:lnTo>
                <a:lnTo>
                  <a:pt x="932889" y="42863"/>
                </a:lnTo>
                <a:lnTo>
                  <a:pt x="1036544" y="23813"/>
                </a:lnTo>
                <a:lnTo>
                  <a:pt x="1140198" y="61913"/>
                </a:lnTo>
                <a:lnTo>
                  <a:pt x="1243853" y="133350"/>
                </a:lnTo>
                <a:lnTo>
                  <a:pt x="1347507" y="204788"/>
                </a:lnTo>
                <a:lnTo>
                  <a:pt x="1451161" y="223838"/>
                </a:lnTo>
                <a:lnTo>
                  <a:pt x="1554816" y="171450"/>
                </a:lnTo>
                <a:lnTo>
                  <a:pt x="1658470" y="95250"/>
                </a:lnTo>
                <a:lnTo>
                  <a:pt x="1762125" y="0"/>
                </a:lnTo>
              </a:path>
            </a:pathLst>
          </a:custGeom>
          <a:noFill/>
          <a:ln w="20479">
            <a:solidFill>
              <a:srgbClr val="E69A54"/>
            </a:solidFill>
            <a:prstDash val="solid"/>
          </a:ln>
        </p:spPr>
      </p:sp>
      <p:sp>
        <p:nvSpPr>
          <p:cNvPr id="654" name="FIG1_PANEL_A__COARSE_W1__SMOOTH">
            <a:extLst>
              <a:ext uri="{FF2B5EF4-FFF2-40B4-BE49-F238E27FC236}">
                <a16:creationId xmlns:a16="http://schemas.microsoft.com/office/drawing/2014/main" id="{E0785F82-EF15-4346-BF8F-9CCEA7621995}"/>
              </a:ext>
            </a:extLst>
          </p:cNvPr>
          <p:cNvSpPr>
            <a:spLocks noGrp="1"/>
          </p:cNvSpPr>
          <p:nvPr/>
        </p:nvSpPr>
        <p:spPr>
          <a:xfrm>
            <a:off x="1162050" y="3566258"/>
            <a:ext cx="2514600" cy="69668"/>
          </a:xfrm>
          <a:custGeom>
            <a:avLst/>
            <a:gdLst/>
            <a:ahLst/>
            <a:cxnLst/>
            <a:rect l="0" t="0" r="0" b="0"/>
            <a:pathLst>
              <a:path w="1676400" h="100013">
                <a:moveTo>
                  <a:pt x="0" y="72390"/>
                </a:moveTo>
                <a:lnTo>
                  <a:pt x="98612" y="42863"/>
                </a:lnTo>
                <a:lnTo>
                  <a:pt x="197224" y="18098"/>
                </a:lnTo>
                <a:lnTo>
                  <a:pt x="295836" y="3810"/>
                </a:lnTo>
                <a:lnTo>
                  <a:pt x="394447" y="0"/>
                </a:lnTo>
                <a:lnTo>
                  <a:pt x="493059" y="8573"/>
                </a:lnTo>
                <a:lnTo>
                  <a:pt x="591671" y="25718"/>
                </a:lnTo>
                <a:lnTo>
                  <a:pt x="690283" y="49530"/>
                </a:lnTo>
                <a:lnTo>
                  <a:pt x="788894" y="76200"/>
                </a:lnTo>
                <a:lnTo>
                  <a:pt x="887506" y="94298"/>
                </a:lnTo>
                <a:lnTo>
                  <a:pt x="986118" y="100013"/>
                </a:lnTo>
                <a:lnTo>
                  <a:pt x="1084730" y="93345"/>
                </a:lnTo>
                <a:lnTo>
                  <a:pt x="1183341" y="75248"/>
                </a:lnTo>
                <a:lnTo>
                  <a:pt x="1281953" y="50483"/>
                </a:lnTo>
                <a:lnTo>
                  <a:pt x="1380565" y="27623"/>
                </a:lnTo>
                <a:lnTo>
                  <a:pt x="1479177" y="15240"/>
                </a:lnTo>
                <a:lnTo>
                  <a:pt x="1577788" y="18098"/>
                </a:lnTo>
                <a:lnTo>
                  <a:pt x="1676400" y="34290"/>
                </a:lnTo>
              </a:path>
            </a:pathLst>
          </a:custGeom>
          <a:noFill/>
          <a:ln w="14288">
            <a:solidFill>
              <a:srgbClr val="6EB1AC"/>
            </a:solidFill>
            <a:prstDash val="solid"/>
          </a:ln>
        </p:spPr>
      </p:sp>
      <p:sp>
        <p:nvSpPr>
          <p:cNvPr id="655" name="FIG1_PANEL_A__COARSE_W2__SMOOTH">
            <a:extLst>
              <a:ext uri="{FF2B5EF4-FFF2-40B4-BE49-F238E27FC236}">
                <a16:creationId xmlns:a16="http://schemas.microsoft.com/office/drawing/2014/main" id="{7415FA14-3425-4199-8D4F-9878C4FEB1A3}"/>
              </a:ext>
            </a:extLst>
          </p:cNvPr>
          <p:cNvSpPr>
            <a:spLocks noGrp="1"/>
          </p:cNvSpPr>
          <p:nvPr/>
        </p:nvSpPr>
        <p:spPr>
          <a:xfrm>
            <a:off x="1162050" y="3712892"/>
            <a:ext cx="2514600" cy="58389"/>
          </a:xfrm>
          <a:custGeom>
            <a:avLst/>
            <a:gdLst/>
            <a:ahLst/>
            <a:cxnLst/>
            <a:rect l="0" t="0" r="0" b="0"/>
            <a:pathLst>
              <a:path w="1676400" h="83820">
                <a:moveTo>
                  <a:pt x="0" y="47625"/>
                </a:moveTo>
                <a:lnTo>
                  <a:pt x="98612" y="19050"/>
                </a:lnTo>
                <a:lnTo>
                  <a:pt x="197224" y="1905"/>
                </a:lnTo>
                <a:lnTo>
                  <a:pt x="295836" y="0"/>
                </a:lnTo>
                <a:lnTo>
                  <a:pt x="394447" y="11430"/>
                </a:lnTo>
                <a:lnTo>
                  <a:pt x="493059" y="31433"/>
                </a:lnTo>
                <a:lnTo>
                  <a:pt x="591671" y="55245"/>
                </a:lnTo>
                <a:lnTo>
                  <a:pt x="690283" y="75247"/>
                </a:lnTo>
                <a:lnTo>
                  <a:pt x="788894" y="83820"/>
                </a:lnTo>
                <a:lnTo>
                  <a:pt x="887506" y="78105"/>
                </a:lnTo>
                <a:lnTo>
                  <a:pt x="986118" y="60960"/>
                </a:lnTo>
                <a:lnTo>
                  <a:pt x="1084730" y="38100"/>
                </a:lnTo>
                <a:lnTo>
                  <a:pt x="1183341" y="20003"/>
                </a:lnTo>
                <a:lnTo>
                  <a:pt x="1281953" y="13335"/>
                </a:lnTo>
                <a:lnTo>
                  <a:pt x="1380565" y="20955"/>
                </a:lnTo>
                <a:lnTo>
                  <a:pt x="1479177" y="38100"/>
                </a:lnTo>
                <a:lnTo>
                  <a:pt x="1577788" y="57150"/>
                </a:lnTo>
                <a:lnTo>
                  <a:pt x="1676400" y="68580"/>
                </a:lnTo>
              </a:path>
            </a:pathLst>
          </a:custGeom>
          <a:noFill/>
          <a:ln w="17145">
            <a:solidFill>
              <a:srgbClr val="4F9A96"/>
            </a:solidFill>
            <a:prstDash val="solid"/>
          </a:ln>
        </p:spPr>
      </p:sp>
      <p:sp>
        <p:nvSpPr>
          <p:cNvPr id="656" name="FIG1_PANEL_A__COARSE_W3__SMOOTH">
            <a:extLst>
              <a:ext uri="{FF2B5EF4-FFF2-40B4-BE49-F238E27FC236}">
                <a16:creationId xmlns:a16="http://schemas.microsoft.com/office/drawing/2014/main" id="{FAECC774-65F8-492F-9CA0-A0BA31816358}"/>
              </a:ext>
            </a:extLst>
          </p:cNvPr>
          <p:cNvSpPr>
            <a:spLocks noGrp="1"/>
          </p:cNvSpPr>
          <p:nvPr/>
        </p:nvSpPr>
        <p:spPr>
          <a:xfrm>
            <a:off x="1162050" y="3850238"/>
            <a:ext cx="2514600" cy="68341"/>
          </a:xfrm>
          <a:custGeom>
            <a:avLst/>
            <a:gdLst/>
            <a:ahLst/>
            <a:cxnLst/>
            <a:rect l="0" t="0" r="0" b="0"/>
            <a:pathLst>
              <a:path w="1676400" h="98107">
                <a:moveTo>
                  <a:pt x="0" y="48577"/>
                </a:moveTo>
                <a:lnTo>
                  <a:pt x="98612" y="20002"/>
                </a:lnTo>
                <a:lnTo>
                  <a:pt x="197224" y="2857"/>
                </a:lnTo>
                <a:lnTo>
                  <a:pt x="295836" y="0"/>
                </a:lnTo>
                <a:lnTo>
                  <a:pt x="394447" y="12382"/>
                </a:lnTo>
                <a:lnTo>
                  <a:pt x="493059" y="36195"/>
                </a:lnTo>
                <a:lnTo>
                  <a:pt x="591671" y="66675"/>
                </a:lnTo>
                <a:lnTo>
                  <a:pt x="690283" y="89535"/>
                </a:lnTo>
                <a:lnTo>
                  <a:pt x="788894" y="98107"/>
                </a:lnTo>
                <a:lnTo>
                  <a:pt x="887506" y="89535"/>
                </a:lnTo>
                <a:lnTo>
                  <a:pt x="986118" y="67627"/>
                </a:lnTo>
                <a:lnTo>
                  <a:pt x="1084730" y="40957"/>
                </a:lnTo>
                <a:lnTo>
                  <a:pt x="1183341" y="22860"/>
                </a:lnTo>
                <a:lnTo>
                  <a:pt x="1281953" y="19050"/>
                </a:lnTo>
                <a:lnTo>
                  <a:pt x="1380565" y="32385"/>
                </a:lnTo>
                <a:lnTo>
                  <a:pt x="1479177" y="56197"/>
                </a:lnTo>
                <a:lnTo>
                  <a:pt x="1577788" y="78105"/>
                </a:lnTo>
                <a:lnTo>
                  <a:pt x="1676400" y="85725"/>
                </a:lnTo>
              </a:path>
            </a:pathLst>
          </a:custGeom>
          <a:noFill/>
          <a:ln w="19050">
            <a:solidFill>
              <a:srgbClr val="2F7C79"/>
            </a:solidFill>
            <a:prstDash val="solid"/>
          </a:ln>
        </p:spPr>
      </p:sp>
      <p:cxnSp>
        <p:nvCxnSpPr>
          <p:cNvPr id="1437" name="FIG1_PANEL_D__MEAN_MACRO_PROMPT_INPUT"/>
          <p:cNvCxnSpPr>
            <a:cxnSpLocks/>
            <a:stCxn id="198" idx="3"/>
            <a:endCxn id="241" idx="1"/>
          </p:cNvCxnSpPr>
          <p:nvPr/>
        </p:nvCxnSpPr>
        <p:spPr>
          <a:xfrm flipV="1">
            <a:off x="3111674" y="6022560"/>
            <a:ext cx="1398771" cy="596048"/>
          </a:xfrm>
          <a:prstGeom prst="bentConnector3">
            <a:avLst>
              <a:gd name="adj1" fmla="val 50000"/>
            </a:avLst>
          </a:prstGeom>
          <a:ln w="14288">
            <a:solidFill>
              <a:srgbClr val="8367B2"/>
            </a:solidFill>
            <a:prstDash val="solid"/>
            <a:tailEnd type="triangle" w="sm" len="sm"/>
          </a:ln>
        </p:spPr>
      </p:cxnSp>
      <p:sp>
        <p:nvSpPr>
          <p:cNvPr id="44" name="FIG1_PANEL_A__INPUT_LABEL">
            <a:extLst>
              <a:ext uri="{FF2B5EF4-FFF2-40B4-BE49-F238E27FC236}">
                <a16:creationId xmlns:a16="http://schemas.microsoft.com/office/drawing/2014/main" id="{789D1E29-7335-BB6F-B333-02A3D1021CBA}"/>
              </a:ext>
            </a:extLst>
          </p:cNvPr>
          <p:cNvSpPr>
            <a:spLocks noGrp="1"/>
          </p:cNvSpPr>
          <p:nvPr/>
        </p:nvSpPr>
        <p:spPr>
          <a:xfrm>
            <a:off x="1852295" y="1258268"/>
            <a:ext cx="373855" cy="1946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90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16</a:t>
            </a:r>
            <a:endParaRPr sz="900" dirty="0">
              <a:solidFill>
                <a:srgbClr val="17232C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" name="FIG1_PANEL_A__INPUT_LABEL">
            <a:extLst>
              <a:ext uri="{FF2B5EF4-FFF2-40B4-BE49-F238E27FC236}">
                <a16:creationId xmlns:a16="http://schemas.microsoft.com/office/drawing/2014/main" id="{69207F5E-FC50-3A2E-F937-4F1053850C22}"/>
              </a:ext>
            </a:extLst>
          </p:cNvPr>
          <p:cNvSpPr>
            <a:spLocks noGrp="1"/>
          </p:cNvSpPr>
          <p:nvPr/>
        </p:nvSpPr>
        <p:spPr>
          <a:xfrm>
            <a:off x="1867535" y="1464008"/>
            <a:ext cx="373855" cy="1946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90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64</a:t>
            </a:r>
            <a:endParaRPr sz="900" dirty="0">
              <a:solidFill>
                <a:srgbClr val="17232C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FIG1_PANEL_D__LOSS_MERGE">
            <a:extLst>
              <a:ext uri="{FF2B5EF4-FFF2-40B4-BE49-F238E27FC236}">
                <a16:creationId xmlns:a16="http://schemas.microsoft.com/office/drawing/2014/main" id="{BCC6BD96-9838-EA09-128E-5DD0E0742C53}"/>
              </a:ext>
            </a:extLst>
          </p:cNvPr>
          <p:cNvSpPr>
            <a:spLocks noGrp="1"/>
          </p:cNvSpPr>
          <p:nvPr/>
        </p:nvSpPr>
        <p:spPr>
          <a:xfrm>
            <a:off x="2157275" y="2763724"/>
            <a:ext cx="136345" cy="156612"/>
          </a:xfrm>
          <a:prstGeom prst="ellipse">
            <a:avLst/>
          </a:prstGeom>
          <a:solidFill>
            <a:srgbClr val="FFFFFF"/>
          </a:solidFill>
          <a:ln w="13335">
            <a:solidFill>
              <a:schemeClr val="accent2"/>
            </a:solidFill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48" name="FIG1_PANEL_D__LOSS_MERGE">
            <a:extLst>
              <a:ext uri="{FF2B5EF4-FFF2-40B4-BE49-F238E27FC236}">
                <a16:creationId xmlns:a16="http://schemas.microsoft.com/office/drawing/2014/main" id="{11A1D751-B5F8-62A3-C3A4-3FF32D6E1B2D}"/>
              </a:ext>
            </a:extLst>
          </p:cNvPr>
          <p:cNvSpPr>
            <a:spLocks noGrp="1"/>
          </p:cNvSpPr>
          <p:nvPr/>
        </p:nvSpPr>
        <p:spPr>
          <a:xfrm>
            <a:off x="2096315" y="4201364"/>
            <a:ext cx="136345" cy="156612"/>
          </a:xfrm>
          <a:prstGeom prst="ellipse">
            <a:avLst/>
          </a:prstGeom>
          <a:solidFill>
            <a:srgbClr val="FFFFFF"/>
          </a:solidFill>
          <a:ln w="13335">
            <a:solidFill>
              <a:schemeClr val="accent1"/>
            </a:solidFill>
            <a:prstDash val="solid"/>
          </a:ln>
        </p:spPr>
        <p:txBody>
          <a:bodyPr wrap="square" lIns="12700" tIns="6350" rIns="12700" bIns="635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200" b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0" dirty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63" name="FIG1_MAIN_FLOW_C_D__2">
            <a:extLst>
              <a:ext uri="{FF2B5EF4-FFF2-40B4-BE49-F238E27FC236}">
                <a16:creationId xmlns:a16="http://schemas.microsoft.com/office/drawing/2014/main" id="{8FA5034D-B5E4-D343-93ED-2A7168F254F9}"/>
              </a:ext>
            </a:extLst>
          </p:cNvPr>
          <p:cNvSpPr>
            <a:spLocks noGrp="1"/>
          </p:cNvSpPr>
          <p:nvPr/>
        </p:nvSpPr>
        <p:spPr>
          <a:xfrm flipV="1">
            <a:off x="4328796" y="1760064"/>
            <a:ext cx="10477" cy="15722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344" name="FIG1_MAIN_FLOW_C_D__2">
            <a:extLst>
              <a:ext uri="{FF2B5EF4-FFF2-40B4-BE49-F238E27FC236}">
                <a16:creationId xmlns:a16="http://schemas.microsoft.com/office/drawing/2014/main" id="{961DB5D0-C167-9666-EA4B-569100C894D4}"/>
              </a:ext>
            </a:extLst>
          </p:cNvPr>
          <p:cNvSpPr>
            <a:spLocks noGrp="1"/>
          </p:cNvSpPr>
          <p:nvPr/>
        </p:nvSpPr>
        <p:spPr>
          <a:xfrm>
            <a:off x="3468054" y="3322159"/>
            <a:ext cx="868680" cy="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cxnSp>
        <p:nvCxnSpPr>
          <p:cNvPr id="1346" name="直接箭头连接符 311">
            <a:extLst>
              <a:ext uri="{FF2B5EF4-FFF2-40B4-BE49-F238E27FC236}">
                <a16:creationId xmlns:a16="http://schemas.microsoft.com/office/drawing/2014/main" id="{129FB005-A356-BFC8-4B2E-2B218F8BA080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50710" y="1685925"/>
            <a:ext cx="0" cy="14937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8" name="直接连接符 1347">
            <a:extLst>
              <a:ext uri="{FF2B5EF4-FFF2-40B4-BE49-F238E27FC236}">
                <a16:creationId xmlns:a16="http://schemas.microsoft.com/office/drawing/2014/main" id="{DD6F2173-3245-85C0-7D6E-FEC5E4F2FEC5}"/>
              </a:ext>
            </a:extLst>
          </p:cNvPr>
          <p:cNvCxnSpPr>
            <a:cxnSpLocks/>
            <a:stCxn id="63" idx="1"/>
          </p:cNvCxnSpPr>
          <p:nvPr/>
        </p:nvCxnSpPr>
        <p:spPr>
          <a:xfrm>
            <a:off x="4339273" y="1760064"/>
            <a:ext cx="338237" cy="38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50" name="FIG1_MAIN_FLOW_C_D__2">
            <a:extLst>
              <a:ext uri="{FF2B5EF4-FFF2-40B4-BE49-F238E27FC236}">
                <a16:creationId xmlns:a16="http://schemas.microsoft.com/office/drawing/2014/main" id="{6B4D57E5-4B6A-A715-FE9B-BE43D91748BB}"/>
              </a:ext>
            </a:extLst>
          </p:cNvPr>
          <p:cNvSpPr>
            <a:spLocks noGrp="1"/>
          </p:cNvSpPr>
          <p:nvPr/>
        </p:nvSpPr>
        <p:spPr>
          <a:xfrm>
            <a:off x="3475674" y="4769959"/>
            <a:ext cx="868680" cy="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1" name="FIG1_MAIN_FLOW_C_D__2">
            <a:extLst>
              <a:ext uri="{FF2B5EF4-FFF2-40B4-BE49-F238E27FC236}">
                <a16:creationId xmlns:a16="http://schemas.microsoft.com/office/drawing/2014/main" id="{8EF70BD1-74A8-F4FA-8CF3-AC8AC03ED688}"/>
              </a:ext>
            </a:extLst>
          </p:cNvPr>
          <p:cNvSpPr>
            <a:spLocks noGrp="1"/>
          </p:cNvSpPr>
          <p:nvPr/>
        </p:nvSpPr>
        <p:spPr>
          <a:xfrm flipV="1">
            <a:off x="4337730" y="3796821"/>
            <a:ext cx="7709" cy="983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1352" name="直接连接符 1351">
            <a:extLst>
              <a:ext uri="{FF2B5EF4-FFF2-40B4-BE49-F238E27FC236}">
                <a16:creationId xmlns:a16="http://schemas.microsoft.com/office/drawing/2014/main" id="{DAEB113D-B94E-9CB9-A06F-E45742682F04}"/>
              </a:ext>
            </a:extLst>
          </p:cNvPr>
          <p:cNvCxnSpPr>
            <a:cxnSpLocks/>
          </p:cNvCxnSpPr>
          <p:nvPr/>
        </p:nvCxnSpPr>
        <p:spPr>
          <a:xfrm>
            <a:off x="4337368" y="3792699"/>
            <a:ext cx="338237" cy="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4" name="FIG1_PANEL_D__FORECAST_FLOW_3__HEAD">
            <a:extLst>
              <a:ext uri="{FF2B5EF4-FFF2-40B4-BE49-F238E27FC236}">
                <a16:creationId xmlns:a16="http://schemas.microsoft.com/office/drawing/2014/main" id="{6E272624-C4C4-4668-45C2-F45D33DD410D}"/>
              </a:ext>
            </a:extLst>
          </p:cNvPr>
          <p:cNvSpPr>
            <a:spLocks noGrp="1"/>
          </p:cNvSpPr>
          <p:nvPr/>
        </p:nvSpPr>
        <p:spPr>
          <a:xfrm rot="10800000">
            <a:off x="6433302" y="6241452"/>
            <a:ext cx="141499" cy="73723"/>
          </a:xfrm>
          <a:prstGeom prst="triangle">
            <a:avLst/>
          </a:prstGeom>
          <a:solidFill>
            <a:srgbClr val="6F8795"/>
          </a:solidFill>
          <a:ln w="4763">
            <a:solidFill>
              <a:srgbClr val="6F879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589745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ST-MGPrompt Scientific">
      <a:dk1>
        <a:srgbClr val="000000"/>
      </a:dk1>
      <a:lt1>
        <a:srgbClr val="FFFFFF"/>
      </a:lt1>
      <a:dk2>
        <a:srgbClr val="17232C"/>
      </a:dk2>
      <a:lt2>
        <a:srgbClr val="EEF2F4"/>
      </a:lt2>
      <a:accent1>
        <a:srgbClr val="4F9A96"/>
      </a:accent1>
      <a:accent2>
        <a:srgbClr val="E69A54"/>
      </a:accent2>
      <a:accent3>
        <a:srgbClr val="8367B2"/>
      </a:accent3>
      <a:accent4>
        <a:srgbClr val="B76F68"/>
      </a:accent4>
      <a:accent5>
        <a:srgbClr val="6F8795"/>
      </a:accent5>
      <a:accent6>
        <a:srgbClr val="4A8B6F"/>
      </a:accent6>
      <a:hlink>
        <a:srgbClr val="8367B2"/>
      </a:hlink>
      <a:folHlink>
        <a:srgbClr val="B76F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-MGPrompt Scienti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10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ST-MGPrompt Scientific">
      <a:dk1>
        <a:srgbClr val="000000"/>
      </a:dk1>
      <a:lt1>
        <a:srgbClr val="FFFFFF"/>
      </a:lt1>
      <a:dk2>
        <a:srgbClr val="17232C"/>
      </a:dk2>
      <a:lt2>
        <a:srgbClr val="EEF2F4"/>
      </a:lt2>
      <a:accent1>
        <a:srgbClr val="4F9A96"/>
      </a:accent1>
      <a:accent2>
        <a:srgbClr val="E69A54"/>
      </a:accent2>
      <a:accent3>
        <a:srgbClr val="8367B2"/>
      </a:accent3>
      <a:accent4>
        <a:srgbClr val="B76F68"/>
      </a:accent4>
      <a:accent5>
        <a:srgbClr val="6F8795"/>
      </a:accent5>
      <a:accent6>
        <a:srgbClr val="4A8B6F"/>
      </a:accent6>
      <a:hlink>
        <a:srgbClr val="8367B2"/>
      </a:hlink>
      <a:folHlink>
        <a:srgbClr val="B76F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-MGPrompt Scienti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10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385</Words>
  <Application>Microsoft Office PowerPoint</Application>
  <DocSecurity>0</DocSecurity>
  <PresentationFormat>自定义</PresentationFormat>
  <Paragraphs>99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人 好</cp:lastModifiedBy>
  <cp:revision>2</cp:revision>
  <dcterms:created xsi:type="dcterms:W3CDTF">2026-08-18T07:59:28Z</dcterms:created>
  <dcterms:modified xsi:type="dcterms:W3CDTF">2026-08-18T09:10:21Z</dcterms:modified>
</cp:coreProperties>
</file>