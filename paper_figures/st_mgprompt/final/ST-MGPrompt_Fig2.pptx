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8047038" cy="438943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291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editable source deck: D:/PaperProject/GyxPaper2/paper_figures/st_mgprompt/ST-MGPrompt_Figure2_Final_Layout.pptx</a:t>
            </a:r>
          </a:p>
          <a:p>
            <a:r>
              <a:t>- User-provided Figure 2 redesign specification.</a:t>
            </a:r>
          </a:p>
          <a:p>
            <a:r>
              <a:t>- No external claims, data, images, icons, or web assets were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IG2_MICRO_LANE_BG">
            <a:extLst>
              <a:ext uri="{FF2B5EF4-FFF2-40B4-BE49-F238E27FC236}">
                <a16:creationId xmlns:a16="http://schemas.microsoft.com/office/drawing/2014/main" id="{85BFABA4-29BB-1CD4-86DF-2D3EB8C02831}"/>
              </a:ext>
            </a:extLst>
          </p:cNvPr>
          <p:cNvSpPr>
            <a:spLocks noGrp="1"/>
          </p:cNvSpPr>
          <p:nvPr/>
        </p:nvSpPr>
        <p:spPr>
          <a:xfrm>
            <a:off x="99451" y="438130"/>
            <a:ext cx="7862003" cy="1571630"/>
          </a:xfrm>
          <a:prstGeom prst="roundRect">
            <a:avLst>
              <a:gd name="adj" fmla="val 10169"/>
            </a:avLst>
          </a:prstGeom>
          <a:solidFill>
            <a:srgbClr val="FCF2E8"/>
          </a:solidFill>
          <a:ln w="0">
            <a:noFill/>
            <a:prstDash val="solid"/>
          </a:ln>
        </p:spPr>
      </p:sp>
      <p:sp>
        <p:nvSpPr>
          <p:cNvPr id="2" name="FIG2_MICRO_LANE_BG">
            <a:extLst>
              <a:ext uri="{FF2B5EF4-FFF2-40B4-BE49-F238E27FC236}">
                <a16:creationId xmlns:a16="http://schemas.microsoft.com/office/drawing/2014/main" id="{8F1BF934-4904-4F6F-A469-547A680B91E4}"/>
              </a:ext>
            </a:extLst>
          </p:cNvPr>
          <p:cNvSpPr>
            <a:spLocks noGrp="1"/>
          </p:cNvSpPr>
          <p:nvPr/>
        </p:nvSpPr>
        <p:spPr>
          <a:xfrm>
            <a:off x="95252" y="2009761"/>
            <a:ext cx="7858124" cy="1752653"/>
          </a:xfrm>
          <a:prstGeom prst="roundRect">
            <a:avLst>
              <a:gd name="adj" fmla="val 10169"/>
            </a:avLst>
          </a:prstGeom>
          <a:solidFill>
            <a:srgbClr val="E1F2F3"/>
          </a:solidFill>
          <a:ln w="0">
            <a:noFill/>
            <a:prstDash val="solid"/>
          </a:ln>
        </p:spPr>
      </p:sp>
      <p:sp>
        <p:nvSpPr>
          <p:cNvPr id="3" name="FIG2_SHARED_SPATIAL_ZONE">
            <a:extLst>
              <a:ext uri="{FF2B5EF4-FFF2-40B4-BE49-F238E27FC236}">
                <a16:creationId xmlns:a16="http://schemas.microsoft.com/office/drawing/2014/main" id="{0C8F74B6-1409-4397-AE64-44D82DD2C3F7}"/>
              </a:ext>
            </a:extLst>
          </p:cNvPr>
          <p:cNvSpPr>
            <a:spLocks noGrp="1"/>
          </p:cNvSpPr>
          <p:nvPr/>
        </p:nvSpPr>
        <p:spPr>
          <a:xfrm>
            <a:off x="3333751" y="1457326"/>
            <a:ext cx="1781174" cy="904875"/>
          </a:xfrm>
          <a:prstGeom prst="roundRect">
            <a:avLst>
              <a:gd name="adj" fmla="val 13043"/>
            </a:avLst>
          </a:prstGeom>
          <a:solidFill>
            <a:srgbClr val="F6EBFF"/>
          </a:solidFill>
          <a:ln w="7620">
            <a:solidFill>
              <a:srgbClr val="F1EEF6"/>
            </a:solidFill>
            <a:prstDash val="solid"/>
          </a:ln>
        </p:spPr>
        <p:txBody>
          <a:bodyPr/>
          <a:lstStyle/>
          <a:p>
            <a:endParaRPr>
              <a:solidFill>
                <a:srgbClr val="937ABC"/>
              </a:solidFill>
            </a:endParaRPr>
          </a:p>
        </p:txBody>
      </p:sp>
      <p:sp>
        <p:nvSpPr>
          <p:cNvPr id="4" name="FIG2_STAGE_1__TEXT">
            <a:extLst>
              <a:ext uri="{FF2B5EF4-FFF2-40B4-BE49-F238E27FC236}">
                <a16:creationId xmlns:a16="http://schemas.microsoft.com/office/drawing/2014/main" id="{308BBA2A-B825-47F2-8BFD-591702EAA5C2}"/>
              </a:ext>
            </a:extLst>
          </p:cNvPr>
          <p:cNvSpPr>
            <a:spLocks noGrp="1"/>
          </p:cNvSpPr>
          <p:nvPr/>
        </p:nvSpPr>
        <p:spPr>
          <a:xfrm>
            <a:off x="190500" y="171450"/>
            <a:ext cx="3714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1275" b="1" i="1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Semantic Prior Construction</a:t>
            </a:r>
          </a:p>
        </p:txBody>
      </p:sp>
      <p:sp>
        <p:nvSpPr>
          <p:cNvPr id="5" name="FIG2_STAGE_1__RULE">
            <a:extLst>
              <a:ext uri="{FF2B5EF4-FFF2-40B4-BE49-F238E27FC236}">
                <a16:creationId xmlns:a16="http://schemas.microsoft.com/office/drawing/2014/main" id="{E0DC073C-8DCD-4F71-99D3-62C4296F59DC}"/>
              </a:ext>
            </a:extLst>
          </p:cNvPr>
          <p:cNvSpPr>
            <a:spLocks noGrp="1"/>
          </p:cNvSpPr>
          <p:nvPr/>
        </p:nvSpPr>
        <p:spPr>
          <a:xfrm>
            <a:off x="190500" y="414338"/>
            <a:ext cx="3714750" cy="9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6" name="FIG2_STAGE_2__TEXT">
            <a:extLst>
              <a:ext uri="{FF2B5EF4-FFF2-40B4-BE49-F238E27FC236}">
                <a16:creationId xmlns:a16="http://schemas.microsoft.com/office/drawing/2014/main" id="{B73BE6EF-FBF9-49B8-A22E-C5DEC211DEDE}"/>
              </a:ext>
            </a:extLst>
          </p:cNvPr>
          <p:cNvSpPr>
            <a:spLocks noGrp="1"/>
          </p:cNvSpPr>
          <p:nvPr/>
        </p:nvSpPr>
        <p:spPr>
          <a:xfrm>
            <a:off x="3924300" y="171450"/>
            <a:ext cx="9906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1275" b="1" i="1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Prior Fusion</a:t>
            </a:r>
          </a:p>
        </p:txBody>
      </p:sp>
      <p:sp>
        <p:nvSpPr>
          <p:cNvPr id="7" name="FIG2_STAGE_2__RULE">
            <a:extLst>
              <a:ext uri="{FF2B5EF4-FFF2-40B4-BE49-F238E27FC236}">
                <a16:creationId xmlns:a16="http://schemas.microsoft.com/office/drawing/2014/main" id="{BDCFB36D-0592-4841-99ED-CD86A52FDCB8}"/>
              </a:ext>
            </a:extLst>
          </p:cNvPr>
          <p:cNvSpPr>
            <a:spLocks noGrp="1"/>
          </p:cNvSpPr>
          <p:nvPr/>
        </p:nvSpPr>
        <p:spPr>
          <a:xfrm>
            <a:off x="3924300" y="414338"/>
            <a:ext cx="990600" cy="9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8" name="FIG2_STAGE_3__TEXT">
            <a:extLst>
              <a:ext uri="{FF2B5EF4-FFF2-40B4-BE49-F238E27FC236}">
                <a16:creationId xmlns:a16="http://schemas.microsoft.com/office/drawing/2014/main" id="{D8C7959E-563E-44A9-A485-87B3822B3B2B}"/>
              </a:ext>
            </a:extLst>
          </p:cNvPr>
          <p:cNvSpPr>
            <a:spLocks noGrp="1"/>
          </p:cNvSpPr>
          <p:nvPr/>
        </p:nvSpPr>
        <p:spPr>
          <a:xfrm>
            <a:off x="4914900" y="171450"/>
            <a:ext cx="3048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00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1200" b="1" i="1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Prior-Constrained Adaptive Edge Re-weighting</a:t>
            </a:r>
          </a:p>
        </p:txBody>
      </p:sp>
      <p:sp>
        <p:nvSpPr>
          <p:cNvPr id="9" name="FIG2_STAGE_3__RULE">
            <a:extLst>
              <a:ext uri="{FF2B5EF4-FFF2-40B4-BE49-F238E27FC236}">
                <a16:creationId xmlns:a16="http://schemas.microsoft.com/office/drawing/2014/main" id="{41C2FB9E-89D8-4455-818E-71278D4112C6}"/>
              </a:ext>
            </a:extLst>
          </p:cNvPr>
          <p:cNvSpPr>
            <a:spLocks noGrp="1"/>
          </p:cNvSpPr>
          <p:nvPr/>
        </p:nvSpPr>
        <p:spPr>
          <a:xfrm>
            <a:off x="4914900" y="414338"/>
            <a:ext cx="3048000" cy="9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0" name="ANCHOR__M_INPUT_R">
            <a:extLst>
              <a:ext uri="{FF2B5EF4-FFF2-40B4-BE49-F238E27FC236}">
                <a16:creationId xmlns:a16="http://schemas.microsoft.com/office/drawing/2014/main" id="{3B59F7C7-1227-40F7-A273-30E4F188E297}"/>
              </a:ext>
            </a:extLst>
          </p:cNvPr>
          <p:cNvSpPr>
            <a:spLocks noGrp="1"/>
          </p:cNvSpPr>
          <p:nvPr/>
        </p:nvSpPr>
        <p:spPr>
          <a:xfrm>
            <a:off x="687567" y="296410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1" name="ANCHOR__M_TRANS_L">
            <a:extLst>
              <a:ext uri="{FF2B5EF4-FFF2-40B4-BE49-F238E27FC236}">
                <a16:creationId xmlns:a16="http://schemas.microsoft.com/office/drawing/2014/main" id="{2ADCCFE0-8A2F-4D35-93B8-F17E32BFD416}"/>
              </a:ext>
            </a:extLst>
          </p:cNvPr>
          <p:cNvSpPr>
            <a:spLocks noGrp="1"/>
          </p:cNvSpPr>
          <p:nvPr/>
        </p:nvSpPr>
        <p:spPr>
          <a:xfrm>
            <a:off x="910533" y="296410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2" name="ANCHOR__M_TRANS_R">
            <a:extLst>
              <a:ext uri="{FF2B5EF4-FFF2-40B4-BE49-F238E27FC236}">
                <a16:creationId xmlns:a16="http://schemas.microsoft.com/office/drawing/2014/main" id="{DE4767D4-35F8-4339-AAC8-69B6BCF809D5}"/>
              </a:ext>
            </a:extLst>
          </p:cNvPr>
          <p:cNvSpPr>
            <a:spLocks noGrp="1"/>
          </p:cNvSpPr>
          <p:nvPr/>
        </p:nvSpPr>
        <p:spPr>
          <a:xfrm>
            <a:off x="1424326" y="296410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3" name="ANCHOR__M_SIM_L">
            <a:extLst>
              <a:ext uri="{FF2B5EF4-FFF2-40B4-BE49-F238E27FC236}">
                <a16:creationId xmlns:a16="http://schemas.microsoft.com/office/drawing/2014/main" id="{1AF78E87-27D0-4E7E-90FE-0FB4971EC8FC}"/>
              </a:ext>
            </a:extLst>
          </p:cNvPr>
          <p:cNvSpPr>
            <a:spLocks noGrp="1"/>
          </p:cNvSpPr>
          <p:nvPr/>
        </p:nvSpPr>
        <p:spPr>
          <a:xfrm>
            <a:off x="1715153" y="296410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4" name="ANCHOR__M_SIM_R">
            <a:extLst>
              <a:ext uri="{FF2B5EF4-FFF2-40B4-BE49-F238E27FC236}">
                <a16:creationId xmlns:a16="http://schemas.microsoft.com/office/drawing/2014/main" id="{8BA86EC7-67A2-4054-8B20-6AE16DBDA013}"/>
              </a:ext>
            </a:extLst>
          </p:cNvPr>
          <p:cNvSpPr>
            <a:spLocks noGrp="1"/>
          </p:cNvSpPr>
          <p:nvPr/>
        </p:nvSpPr>
        <p:spPr>
          <a:xfrm>
            <a:off x="2451912" y="296410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5" name="ANCHOR__M_SPARSE_L">
            <a:extLst>
              <a:ext uri="{FF2B5EF4-FFF2-40B4-BE49-F238E27FC236}">
                <a16:creationId xmlns:a16="http://schemas.microsoft.com/office/drawing/2014/main" id="{FB8AFF28-9AEF-4965-B9DA-28408040A47A}"/>
              </a:ext>
            </a:extLst>
          </p:cNvPr>
          <p:cNvSpPr>
            <a:spLocks noGrp="1"/>
          </p:cNvSpPr>
          <p:nvPr/>
        </p:nvSpPr>
        <p:spPr>
          <a:xfrm>
            <a:off x="3043259" y="296410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6" name="ANCHOR__M_SPARSE_R">
            <a:extLst>
              <a:ext uri="{FF2B5EF4-FFF2-40B4-BE49-F238E27FC236}">
                <a16:creationId xmlns:a16="http://schemas.microsoft.com/office/drawing/2014/main" id="{5FE39C72-9D62-4A0E-B1BD-CA58FCFC96E8}"/>
              </a:ext>
            </a:extLst>
          </p:cNvPr>
          <p:cNvSpPr>
            <a:spLocks noGrp="1"/>
          </p:cNvSpPr>
          <p:nvPr/>
        </p:nvSpPr>
        <p:spPr>
          <a:xfrm>
            <a:off x="3440722" y="296410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7" name="ANCHOR__M_SIGMA_L">
            <a:extLst>
              <a:ext uri="{FF2B5EF4-FFF2-40B4-BE49-F238E27FC236}">
                <a16:creationId xmlns:a16="http://schemas.microsoft.com/office/drawing/2014/main" id="{09EE2C46-8F5F-4EAD-A591-90F7251C84E5}"/>
              </a:ext>
            </a:extLst>
          </p:cNvPr>
          <p:cNvSpPr>
            <a:spLocks noGrp="1"/>
          </p:cNvSpPr>
          <p:nvPr/>
        </p:nvSpPr>
        <p:spPr>
          <a:xfrm>
            <a:off x="4613721" y="296410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8" name="ANCHOR__M_SIGMA_R">
            <a:extLst>
              <a:ext uri="{FF2B5EF4-FFF2-40B4-BE49-F238E27FC236}">
                <a16:creationId xmlns:a16="http://schemas.microsoft.com/office/drawing/2014/main" id="{3896A932-6A13-4081-B784-E1A7A0350EEB}"/>
              </a:ext>
            </a:extLst>
          </p:cNvPr>
          <p:cNvSpPr>
            <a:spLocks noGrp="1"/>
          </p:cNvSpPr>
          <p:nvPr/>
        </p:nvSpPr>
        <p:spPr>
          <a:xfrm>
            <a:off x="4885159" y="296410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19" name="ANCHOR__M_SIGMA_TOP">
            <a:extLst>
              <a:ext uri="{FF2B5EF4-FFF2-40B4-BE49-F238E27FC236}">
                <a16:creationId xmlns:a16="http://schemas.microsoft.com/office/drawing/2014/main" id="{7AEE7F63-15E8-444D-8339-C0E956B52714}"/>
              </a:ext>
            </a:extLst>
          </p:cNvPr>
          <p:cNvSpPr>
            <a:spLocks noGrp="1"/>
          </p:cNvSpPr>
          <p:nvPr/>
        </p:nvSpPr>
        <p:spPr>
          <a:xfrm>
            <a:off x="4749440" y="2808010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0" name="ANCHOR__M_SIGMA_BOTTOM">
            <a:extLst>
              <a:ext uri="{FF2B5EF4-FFF2-40B4-BE49-F238E27FC236}">
                <a16:creationId xmlns:a16="http://schemas.microsoft.com/office/drawing/2014/main" id="{35049E16-F8AA-4131-B63E-BF31B60D6728}"/>
              </a:ext>
            </a:extLst>
          </p:cNvPr>
          <p:cNvSpPr>
            <a:spLocks noGrp="1"/>
          </p:cNvSpPr>
          <p:nvPr/>
        </p:nvSpPr>
        <p:spPr>
          <a:xfrm>
            <a:off x="4749440" y="3120198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1" name="ANCHOR__M_PRIOR_L">
            <a:extLst>
              <a:ext uri="{FF2B5EF4-FFF2-40B4-BE49-F238E27FC236}">
                <a16:creationId xmlns:a16="http://schemas.microsoft.com/office/drawing/2014/main" id="{BD072511-E356-4D80-BE59-0BCCFBD854C6}"/>
              </a:ext>
            </a:extLst>
          </p:cNvPr>
          <p:cNvSpPr>
            <a:spLocks noGrp="1"/>
          </p:cNvSpPr>
          <p:nvPr/>
        </p:nvSpPr>
        <p:spPr>
          <a:xfrm>
            <a:off x="5108125" y="296410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2" name="ANCHOR__M_PRIOR_R">
            <a:extLst>
              <a:ext uri="{FF2B5EF4-FFF2-40B4-BE49-F238E27FC236}">
                <a16:creationId xmlns:a16="http://schemas.microsoft.com/office/drawing/2014/main" id="{2FE93E8C-FC51-4711-8062-70567F188F31}"/>
              </a:ext>
            </a:extLst>
          </p:cNvPr>
          <p:cNvSpPr>
            <a:spLocks noGrp="1"/>
          </p:cNvSpPr>
          <p:nvPr/>
        </p:nvSpPr>
        <p:spPr>
          <a:xfrm>
            <a:off x="5505588" y="296410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3" name="ANCHOR__M_OP_L">
            <a:extLst>
              <a:ext uri="{FF2B5EF4-FFF2-40B4-BE49-F238E27FC236}">
                <a16:creationId xmlns:a16="http://schemas.microsoft.com/office/drawing/2014/main" id="{8D127D85-C9F5-4B1A-81DB-710FEC2BF93B}"/>
              </a:ext>
            </a:extLst>
          </p:cNvPr>
          <p:cNvSpPr>
            <a:spLocks noGrp="1"/>
          </p:cNvSpPr>
          <p:nvPr/>
        </p:nvSpPr>
        <p:spPr>
          <a:xfrm>
            <a:off x="6445926" y="296410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4" name="ANCHOR__M_OP_R">
            <a:extLst>
              <a:ext uri="{FF2B5EF4-FFF2-40B4-BE49-F238E27FC236}">
                <a16:creationId xmlns:a16="http://schemas.microsoft.com/office/drawing/2014/main" id="{69F7A179-75D9-405A-BD08-BD9EDF587008}"/>
              </a:ext>
            </a:extLst>
          </p:cNvPr>
          <p:cNvSpPr>
            <a:spLocks noGrp="1"/>
          </p:cNvSpPr>
          <p:nvPr/>
        </p:nvSpPr>
        <p:spPr>
          <a:xfrm>
            <a:off x="6717364" y="296410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5" name="ANCHOR__M_EFF_L">
            <a:extLst>
              <a:ext uri="{FF2B5EF4-FFF2-40B4-BE49-F238E27FC236}">
                <a16:creationId xmlns:a16="http://schemas.microsoft.com/office/drawing/2014/main" id="{1DA1A85A-D73F-4A5D-9712-751728318BDB}"/>
              </a:ext>
            </a:extLst>
          </p:cNvPr>
          <p:cNvSpPr>
            <a:spLocks noGrp="1"/>
          </p:cNvSpPr>
          <p:nvPr/>
        </p:nvSpPr>
        <p:spPr>
          <a:xfrm>
            <a:off x="7512289" y="296410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6" name="ANCHOR__M_EMBED_BOTTOM">
            <a:extLst>
              <a:ext uri="{FF2B5EF4-FFF2-40B4-BE49-F238E27FC236}">
                <a16:creationId xmlns:a16="http://schemas.microsoft.com/office/drawing/2014/main" id="{BCFC323A-6FD5-4B7A-A04D-1F3DA468E00C}"/>
              </a:ext>
            </a:extLst>
          </p:cNvPr>
          <p:cNvSpPr>
            <a:spLocks noGrp="1"/>
          </p:cNvSpPr>
          <p:nvPr/>
        </p:nvSpPr>
        <p:spPr>
          <a:xfrm>
            <a:off x="6581645" y="2718814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7" name="ANCHOR__M_OP_TOP">
            <a:extLst>
              <a:ext uri="{FF2B5EF4-FFF2-40B4-BE49-F238E27FC236}">
                <a16:creationId xmlns:a16="http://schemas.microsoft.com/office/drawing/2014/main" id="{12EBBDEC-5628-43D9-8188-7FD7D791F41C}"/>
              </a:ext>
            </a:extLst>
          </p:cNvPr>
          <p:cNvSpPr>
            <a:spLocks noGrp="1"/>
          </p:cNvSpPr>
          <p:nvPr/>
        </p:nvSpPr>
        <p:spPr>
          <a:xfrm>
            <a:off x="6581645" y="2819160"/>
            <a:ext cx="9694" cy="11150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8" name="ANCHOR__U_INPUT_R">
            <a:extLst>
              <a:ext uri="{FF2B5EF4-FFF2-40B4-BE49-F238E27FC236}">
                <a16:creationId xmlns:a16="http://schemas.microsoft.com/office/drawing/2014/main" id="{5D4AA879-E869-4197-93C0-D77D5DFFD89C}"/>
              </a:ext>
            </a:extLst>
          </p:cNvPr>
          <p:cNvSpPr>
            <a:spLocks noGrp="1"/>
          </p:cNvSpPr>
          <p:nvPr/>
        </p:nvSpPr>
        <p:spPr>
          <a:xfrm>
            <a:off x="687567" y="997127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29" name="ANCHOR__U_TRANS_L">
            <a:extLst>
              <a:ext uri="{FF2B5EF4-FFF2-40B4-BE49-F238E27FC236}">
                <a16:creationId xmlns:a16="http://schemas.microsoft.com/office/drawing/2014/main" id="{A93AE711-0799-4463-A0A8-E51E4F7EAC56}"/>
              </a:ext>
            </a:extLst>
          </p:cNvPr>
          <p:cNvSpPr>
            <a:spLocks noGrp="1"/>
          </p:cNvSpPr>
          <p:nvPr/>
        </p:nvSpPr>
        <p:spPr>
          <a:xfrm>
            <a:off x="910533" y="997127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0" name="ANCHOR__U_TRANS_R">
            <a:extLst>
              <a:ext uri="{FF2B5EF4-FFF2-40B4-BE49-F238E27FC236}">
                <a16:creationId xmlns:a16="http://schemas.microsoft.com/office/drawing/2014/main" id="{C4479B28-2938-4DDB-A973-946C1AD93962}"/>
              </a:ext>
            </a:extLst>
          </p:cNvPr>
          <p:cNvSpPr>
            <a:spLocks noGrp="1"/>
          </p:cNvSpPr>
          <p:nvPr/>
        </p:nvSpPr>
        <p:spPr>
          <a:xfrm>
            <a:off x="1424326" y="997127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1" name="ANCHOR__U_SIM_L">
            <a:extLst>
              <a:ext uri="{FF2B5EF4-FFF2-40B4-BE49-F238E27FC236}">
                <a16:creationId xmlns:a16="http://schemas.microsoft.com/office/drawing/2014/main" id="{ECAEB067-3A40-4E4A-BD0E-B6A21ADAA161}"/>
              </a:ext>
            </a:extLst>
          </p:cNvPr>
          <p:cNvSpPr>
            <a:spLocks noGrp="1"/>
          </p:cNvSpPr>
          <p:nvPr/>
        </p:nvSpPr>
        <p:spPr>
          <a:xfrm>
            <a:off x="1715153" y="997127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2" name="ANCHOR__U_SIM_R">
            <a:extLst>
              <a:ext uri="{FF2B5EF4-FFF2-40B4-BE49-F238E27FC236}">
                <a16:creationId xmlns:a16="http://schemas.microsoft.com/office/drawing/2014/main" id="{6E487EEC-A40D-4258-999A-2EE9B03C5F9C}"/>
              </a:ext>
            </a:extLst>
          </p:cNvPr>
          <p:cNvSpPr>
            <a:spLocks noGrp="1"/>
          </p:cNvSpPr>
          <p:nvPr/>
        </p:nvSpPr>
        <p:spPr>
          <a:xfrm>
            <a:off x="2451912" y="997127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3" name="ANCHOR__U_SPARSE_L">
            <a:extLst>
              <a:ext uri="{FF2B5EF4-FFF2-40B4-BE49-F238E27FC236}">
                <a16:creationId xmlns:a16="http://schemas.microsoft.com/office/drawing/2014/main" id="{1CA94E44-E614-4122-AFB8-A3DB0A5D8A5F}"/>
              </a:ext>
            </a:extLst>
          </p:cNvPr>
          <p:cNvSpPr>
            <a:spLocks noGrp="1"/>
          </p:cNvSpPr>
          <p:nvPr/>
        </p:nvSpPr>
        <p:spPr>
          <a:xfrm>
            <a:off x="3043259" y="997127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4" name="ANCHOR__U_SPARSE_R">
            <a:extLst>
              <a:ext uri="{FF2B5EF4-FFF2-40B4-BE49-F238E27FC236}">
                <a16:creationId xmlns:a16="http://schemas.microsoft.com/office/drawing/2014/main" id="{07249B84-F9D8-4036-A95D-3A8B86D580C9}"/>
              </a:ext>
            </a:extLst>
          </p:cNvPr>
          <p:cNvSpPr>
            <a:spLocks noGrp="1"/>
          </p:cNvSpPr>
          <p:nvPr/>
        </p:nvSpPr>
        <p:spPr>
          <a:xfrm>
            <a:off x="3440722" y="997127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5" name="ANCHOR__U_SIGMA_L">
            <a:extLst>
              <a:ext uri="{FF2B5EF4-FFF2-40B4-BE49-F238E27FC236}">
                <a16:creationId xmlns:a16="http://schemas.microsoft.com/office/drawing/2014/main" id="{175769B8-52CF-4B6B-B49B-9ABC18E1B64A}"/>
              </a:ext>
            </a:extLst>
          </p:cNvPr>
          <p:cNvSpPr>
            <a:spLocks noGrp="1"/>
          </p:cNvSpPr>
          <p:nvPr/>
        </p:nvSpPr>
        <p:spPr>
          <a:xfrm>
            <a:off x="4613721" y="1491640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6" name="ANCHOR__U_SIGMA_R">
            <a:extLst>
              <a:ext uri="{FF2B5EF4-FFF2-40B4-BE49-F238E27FC236}">
                <a16:creationId xmlns:a16="http://schemas.microsoft.com/office/drawing/2014/main" id="{CB12DFCD-5E51-49FD-B9EE-C681666E4B3E}"/>
              </a:ext>
            </a:extLst>
          </p:cNvPr>
          <p:cNvSpPr>
            <a:spLocks noGrp="1"/>
          </p:cNvSpPr>
          <p:nvPr/>
        </p:nvSpPr>
        <p:spPr>
          <a:xfrm>
            <a:off x="4885159" y="997127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7" name="ANCHOR__U_SIGMA_TOP">
            <a:extLst>
              <a:ext uri="{FF2B5EF4-FFF2-40B4-BE49-F238E27FC236}">
                <a16:creationId xmlns:a16="http://schemas.microsoft.com/office/drawing/2014/main" id="{707F5122-C810-44AB-8D55-B404B4A70618}"/>
              </a:ext>
            </a:extLst>
          </p:cNvPr>
          <p:cNvSpPr>
            <a:spLocks noGrp="1"/>
          </p:cNvSpPr>
          <p:nvPr/>
        </p:nvSpPr>
        <p:spPr>
          <a:xfrm>
            <a:off x="4749440" y="842592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8" name="ANCHOR__U_SIGMA_BOTTOM">
            <a:extLst>
              <a:ext uri="{FF2B5EF4-FFF2-40B4-BE49-F238E27FC236}">
                <a16:creationId xmlns:a16="http://schemas.microsoft.com/office/drawing/2014/main" id="{0A3B8AFF-45C2-49B9-A0DE-178B75011C5C}"/>
              </a:ext>
            </a:extLst>
          </p:cNvPr>
          <p:cNvSpPr>
            <a:spLocks noGrp="1"/>
          </p:cNvSpPr>
          <p:nvPr/>
        </p:nvSpPr>
        <p:spPr>
          <a:xfrm>
            <a:off x="4749440" y="1151663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39" name="ANCHOR__U_PRIOR_L">
            <a:extLst>
              <a:ext uri="{FF2B5EF4-FFF2-40B4-BE49-F238E27FC236}">
                <a16:creationId xmlns:a16="http://schemas.microsoft.com/office/drawing/2014/main" id="{53A9CF49-0AD2-4265-AFBC-3231306641A4}"/>
              </a:ext>
            </a:extLst>
          </p:cNvPr>
          <p:cNvSpPr>
            <a:spLocks noGrp="1"/>
          </p:cNvSpPr>
          <p:nvPr/>
        </p:nvSpPr>
        <p:spPr>
          <a:xfrm>
            <a:off x="5108125" y="997127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40" name="ANCHOR__U_PRIOR_R">
            <a:extLst>
              <a:ext uri="{FF2B5EF4-FFF2-40B4-BE49-F238E27FC236}">
                <a16:creationId xmlns:a16="http://schemas.microsoft.com/office/drawing/2014/main" id="{D578C128-2800-4253-8743-3232161D9667}"/>
              </a:ext>
            </a:extLst>
          </p:cNvPr>
          <p:cNvSpPr>
            <a:spLocks noGrp="1"/>
          </p:cNvSpPr>
          <p:nvPr/>
        </p:nvSpPr>
        <p:spPr>
          <a:xfrm>
            <a:off x="5505588" y="997127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41" name="ANCHOR__U_OP_L">
            <a:extLst>
              <a:ext uri="{FF2B5EF4-FFF2-40B4-BE49-F238E27FC236}">
                <a16:creationId xmlns:a16="http://schemas.microsoft.com/office/drawing/2014/main" id="{09F38D06-84E0-4A1D-BF35-0C754347A2CA}"/>
              </a:ext>
            </a:extLst>
          </p:cNvPr>
          <p:cNvSpPr>
            <a:spLocks noGrp="1"/>
          </p:cNvSpPr>
          <p:nvPr/>
        </p:nvSpPr>
        <p:spPr>
          <a:xfrm>
            <a:off x="6445926" y="997127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42" name="ANCHOR__U_OP_R">
            <a:extLst>
              <a:ext uri="{FF2B5EF4-FFF2-40B4-BE49-F238E27FC236}">
                <a16:creationId xmlns:a16="http://schemas.microsoft.com/office/drawing/2014/main" id="{00BBD8F7-A0F6-43ED-8844-9EA9A98A056A}"/>
              </a:ext>
            </a:extLst>
          </p:cNvPr>
          <p:cNvSpPr>
            <a:spLocks noGrp="1"/>
          </p:cNvSpPr>
          <p:nvPr/>
        </p:nvSpPr>
        <p:spPr>
          <a:xfrm>
            <a:off x="6717364" y="997127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43" name="ANCHOR__U_EFF_L">
            <a:extLst>
              <a:ext uri="{FF2B5EF4-FFF2-40B4-BE49-F238E27FC236}">
                <a16:creationId xmlns:a16="http://schemas.microsoft.com/office/drawing/2014/main" id="{DBF1E19E-051F-4F6C-856B-83336D18EBFB}"/>
              </a:ext>
            </a:extLst>
          </p:cNvPr>
          <p:cNvSpPr>
            <a:spLocks noGrp="1"/>
          </p:cNvSpPr>
          <p:nvPr/>
        </p:nvSpPr>
        <p:spPr>
          <a:xfrm>
            <a:off x="7512289" y="997127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44" name="ANCHOR__U_EMBED_BOTTOM">
            <a:extLst>
              <a:ext uri="{FF2B5EF4-FFF2-40B4-BE49-F238E27FC236}">
                <a16:creationId xmlns:a16="http://schemas.microsoft.com/office/drawing/2014/main" id="{274167DE-438D-453D-8ABE-E737A40619CA}"/>
              </a:ext>
            </a:extLst>
          </p:cNvPr>
          <p:cNvSpPr>
            <a:spLocks noGrp="1"/>
          </p:cNvSpPr>
          <p:nvPr/>
        </p:nvSpPr>
        <p:spPr>
          <a:xfrm>
            <a:off x="6581645" y="743248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45" name="ANCHOR__U_OP_TOP">
            <a:extLst>
              <a:ext uri="{FF2B5EF4-FFF2-40B4-BE49-F238E27FC236}">
                <a16:creationId xmlns:a16="http://schemas.microsoft.com/office/drawing/2014/main" id="{F137715D-BF12-4637-A76D-36F4B3A29EE0}"/>
              </a:ext>
            </a:extLst>
          </p:cNvPr>
          <p:cNvSpPr>
            <a:spLocks noGrp="1"/>
          </p:cNvSpPr>
          <p:nvPr/>
        </p:nvSpPr>
        <p:spPr>
          <a:xfrm>
            <a:off x="6581645" y="853630"/>
            <a:ext cx="9694" cy="11038"/>
          </a:xfrm>
          <a:prstGeom prst="ellipse">
            <a:avLst/>
          </a:prstGeom>
          <a:noFill/>
          <a:ln w="0">
            <a:noFill/>
            <a:prstDash val="solid"/>
          </a:ln>
        </p:spPr>
      </p:sp>
      <p:sp>
        <p:nvSpPr>
          <p:cNvPr id="46" name="ANCHOR__DIST_BRANCH">
            <a:extLst>
              <a:ext uri="{FF2B5EF4-FFF2-40B4-BE49-F238E27FC236}">
                <a16:creationId xmlns:a16="http://schemas.microsoft.com/office/drawing/2014/main" id="{ACD1A1D1-4558-44AD-840C-D3EF1C394B25}"/>
              </a:ext>
            </a:extLst>
          </p:cNvPr>
          <p:cNvSpPr>
            <a:spLocks noGrp="1"/>
          </p:cNvSpPr>
          <p:nvPr/>
        </p:nvSpPr>
        <p:spPr>
          <a:xfrm>
            <a:off x="4610489" y="1886074"/>
            <a:ext cx="9694" cy="11038"/>
          </a:xfrm>
          <a:prstGeom prst="ellipse">
            <a:avLst/>
          </a:prstGeom>
          <a:noFill/>
          <a:ln w="0">
            <a:solidFill>
              <a:schemeClr val="accent3">
                <a:lumMod val="75000"/>
              </a:schemeClr>
            </a:solidFill>
            <a:prstDash val="solid"/>
          </a:ln>
        </p:spPr>
      </p:sp>
      <p:cxnSp>
        <p:nvCxnSpPr>
          <p:cNvPr id="1718" name="FIG2_M__INPUT_TO_TRANSFORM"/>
          <p:cNvCxnSpPr>
            <a:stCxn id="10" idx="6"/>
            <a:endCxn id="11" idx="2"/>
          </p:cNvCxnSpPr>
          <p:nvPr/>
        </p:nvCxnSpPr>
        <p:spPr>
          <a:xfrm>
            <a:off x="697261" y="2969679"/>
            <a:ext cx="213272" cy="0"/>
          </a:xfrm>
          <a:prstGeom prst="straightConnector1">
            <a:avLst/>
          </a:prstGeom>
          <a:ln w="12859" cap="rnd">
            <a:solidFill>
              <a:srgbClr val="248C86"/>
            </a:solidFill>
            <a:prstDash val="solid"/>
            <a:round/>
            <a:tailEnd type="triangle" w="sm" len="sm"/>
          </a:ln>
        </p:spPr>
      </p:cxnSp>
      <p:cxnSp>
        <p:nvCxnSpPr>
          <p:cNvPr id="1719" name="FIG2_M__TRANSFORM_TO_SIMILARITY"/>
          <p:cNvCxnSpPr>
            <a:stCxn id="12" idx="6"/>
            <a:endCxn id="13" idx="2"/>
          </p:cNvCxnSpPr>
          <p:nvPr/>
        </p:nvCxnSpPr>
        <p:spPr>
          <a:xfrm>
            <a:off x="1434020" y="2969679"/>
            <a:ext cx="281133" cy="0"/>
          </a:xfrm>
          <a:prstGeom prst="straightConnector1">
            <a:avLst/>
          </a:prstGeom>
          <a:ln w="12859" cap="rnd">
            <a:solidFill>
              <a:srgbClr val="248C86"/>
            </a:solidFill>
            <a:prstDash val="solid"/>
            <a:round/>
            <a:tailEnd type="triangle" w="sm" len="sm"/>
          </a:ln>
        </p:spPr>
      </p:cxnSp>
      <p:cxnSp>
        <p:nvCxnSpPr>
          <p:cNvPr id="1720" name="FIG2_M__SIMILARITY_TO_SPARSE"/>
          <p:cNvCxnSpPr>
            <a:stCxn id="14" idx="6"/>
            <a:endCxn id="15" idx="2"/>
          </p:cNvCxnSpPr>
          <p:nvPr/>
        </p:nvCxnSpPr>
        <p:spPr>
          <a:xfrm>
            <a:off x="2461606" y="2969679"/>
            <a:ext cx="581653" cy="0"/>
          </a:xfrm>
          <a:prstGeom prst="straightConnector1">
            <a:avLst/>
          </a:prstGeom>
          <a:ln w="12859" cap="rnd">
            <a:solidFill>
              <a:srgbClr val="248C86"/>
            </a:solidFill>
            <a:prstDash val="solid"/>
            <a:round/>
            <a:tailEnd type="triangle" w="sm" len="sm"/>
          </a:ln>
        </p:spPr>
      </p:cxnSp>
      <p:cxnSp>
        <p:nvCxnSpPr>
          <p:cNvPr id="1721" name="FIG2_M__SEMANTIC_TO_FUSION"/>
          <p:cNvCxnSpPr>
            <a:stCxn id="16" idx="6"/>
          </p:cNvCxnSpPr>
          <p:nvPr/>
        </p:nvCxnSpPr>
        <p:spPr>
          <a:xfrm>
            <a:off x="3450416" y="2969679"/>
            <a:ext cx="1163305" cy="0"/>
          </a:xfrm>
          <a:prstGeom prst="straightConnector1">
            <a:avLst/>
          </a:prstGeom>
          <a:ln w="12859" cap="rnd">
            <a:solidFill>
              <a:srgbClr val="248C86"/>
            </a:solidFill>
            <a:prstDash val="solid"/>
            <a:round/>
            <a:tailEnd type="triangle" w="sm" len="sm"/>
          </a:ln>
        </p:spPr>
      </p:cxnSp>
      <p:cxnSp>
        <p:nvCxnSpPr>
          <p:cNvPr id="1722" name="FIG2_M__FUSION_TO_PRIOR"/>
          <p:cNvCxnSpPr>
            <a:stCxn id="18" idx="6"/>
            <a:endCxn id="21" idx="2"/>
          </p:cNvCxnSpPr>
          <p:nvPr/>
        </p:nvCxnSpPr>
        <p:spPr>
          <a:xfrm>
            <a:off x="4894853" y="2969679"/>
            <a:ext cx="213272" cy="0"/>
          </a:xfrm>
          <a:prstGeom prst="straightConnector1">
            <a:avLst/>
          </a:prstGeom>
          <a:ln w="12859" cap="rnd">
            <a:solidFill>
              <a:srgbClr val="248C86"/>
            </a:solidFill>
            <a:prstDash val="solid"/>
            <a:round/>
            <a:tailEnd type="triangle" w="sm" len="sm"/>
          </a:ln>
        </p:spPr>
      </p:cxnSp>
      <p:cxnSp>
        <p:nvCxnSpPr>
          <p:cNvPr id="1723" name="FIG2_M__PRIOR_TO_REWEIGHT"/>
          <p:cNvCxnSpPr>
            <a:stCxn id="22" idx="6"/>
            <a:endCxn id="23" idx="2"/>
          </p:cNvCxnSpPr>
          <p:nvPr/>
        </p:nvCxnSpPr>
        <p:spPr>
          <a:xfrm>
            <a:off x="5515282" y="2969679"/>
            <a:ext cx="930644" cy="0"/>
          </a:xfrm>
          <a:prstGeom prst="straightConnector1">
            <a:avLst/>
          </a:prstGeom>
          <a:ln w="12859" cap="rnd">
            <a:solidFill>
              <a:srgbClr val="248C86"/>
            </a:solidFill>
            <a:prstDash val="solid"/>
            <a:round/>
            <a:tailEnd type="triangle" w="sm" len="sm"/>
          </a:ln>
        </p:spPr>
      </p:cxnSp>
      <p:cxnSp>
        <p:nvCxnSpPr>
          <p:cNvPr id="1724" name="FIG2_M__REWEIGHT_TO_EFFECTIVE"/>
          <p:cNvCxnSpPr>
            <a:stCxn id="24" idx="6"/>
          </p:cNvCxnSpPr>
          <p:nvPr/>
        </p:nvCxnSpPr>
        <p:spPr>
          <a:xfrm>
            <a:off x="6727058" y="2969679"/>
            <a:ext cx="829501" cy="0"/>
          </a:xfrm>
          <a:prstGeom prst="straightConnector1">
            <a:avLst/>
          </a:prstGeom>
          <a:ln w="12859" cap="rnd">
            <a:solidFill>
              <a:srgbClr val="248C86"/>
            </a:solidFill>
            <a:prstDash val="solid"/>
            <a:round/>
            <a:tailEnd type="triangle" w="sm" len="sm"/>
          </a:ln>
        </p:spPr>
      </p:cxnSp>
      <p:cxnSp>
        <p:nvCxnSpPr>
          <p:cNvPr id="1725" name="FIG2_M__EMBED_TO_REWEIGHT"/>
          <p:cNvCxnSpPr>
            <a:stCxn id="26" idx="4"/>
            <a:endCxn id="27" idx="0"/>
          </p:cNvCxnSpPr>
          <p:nvPr/>
        </p:nvCxnSpPr>
        <p:spPr>
          <a:xfrm>
            <a:off x="6586492" y="2729964"/>
            <a:ext cx="0" cy="89196"/>
          </a:xfrm>
          <a:prstGeom prst="straightConnector1">
            <a:avLst/>
          </a:prstGeom>
          <a:ln w="11906" cap="rnd">
            <a:solidFill>
              <a:srgbClr val="785AA4"/>
            </a:solidFill>
            <a:prstDash val="solid"/>
            <a:round/>
            <a:tailEnd type="triangle" w="sm" len="sm"/>
          </a:ln>
        </p:spPr>
      </p:cxnSp>
      <p:cxnSp>
        <p:nvCxnSpPr>
          <p:cNvPr id="1726" name="FIG2_U__INPUT_TO_TRANSFORM"/>
          <p:cNvCxnSpPr>
            <a:stCxn id="28" idx="6"/>
            <a:endCxn id="29" idx="2"/>
          </p:cNvCxnSpPr>
          <p:nvPr/>
        </p:nvCxnSpPr>
        <p:spPr>
          <a:xfrm>
            <a:off x="697261" y="1002646"/>
            <a:ext cx="213272" cy="0"/>
          </a:xfrm>
          <a:prstGeom prst="straightConnector1">
            <a:avLst/>
          </a:prstGeom>
          <a:ln w="12859" cap="rnd">
            <a:solidFill>
              <a:srgbClr val="DE7A2E"/>
            </a:solidFill>
            <a:prstDash val="solid"/>
            <a:round/>
            <a:tailEnd type="triangle" w="sm" len="sm"/>
          </a:ln>
        </p:spPr>
      </p:cxnSp>
      <p:cxnSp>
        <p:nvCxnSpPr>
          <p:cNvPr id="1727" name="FIG2_U__TRANSFORM_TO_SIMILARITY"/>
          <p:cNvCxnSpPr>
            <a:stCxn id="30" idx="6"/>
            <a:endCxn id="31" idx="2"/>
          </p:cNvCxnSpPr>
          <p:nvPr/>
        </p:nvCxnSpPr>
        <p:spPr>
          <a:xfrm>
            <a:off x="1434020" y="1002646"/>
            <a:ext cx="281133" cy="0"/>
          </a:xfrm>
          <a:prstGeom prst="straightConnector1">
            <a:avLst/>
          </a:prstGeom>
          <a:ln w="12859" cap="rnd">
            <a:solidFill>
              <a:srgbClr val="DE7A2E"/>
            </a:solidFill>
            <a:prstDash val="solid"/>
            <a:round/>
            <a:tailEnd type="triangle" w="sm" len="sm"/>
          </a:ln>
        </p:spPr>
      </p:cxnSp>
      <p:cxnSp>
        <p:nvCxnSpPr>
          <p:cNvPr id="1728" name="FIG2_U__SIMILARITY_TO_SPARSE"/>
          <p:cNvCxnSpPr>
            <a:stCxn id="32" idx="6"/>
            <a:endCxn id="33" idx="2"/>
          </p:cNvCxnSpPr>
          <p:nvPr/>
        </p:nvCxnSpPr>
        <p:spPr>
          <a:xfrm>
            <a:off x="2461606" y="1002646"/>
            <a:ext cx="581653" cy="0"/>
          </a:xfrm>
          <a:prstGeom prst="straightConnector1">
            <a:avLst/>
          </a:prstGeom>
          <a:ln w="12859" cap="rnd">
            <a:solidFill>
              <a:srgbClr val="DE7A2E"/>
            </a:solidFill>
            <a:prstDash val="solid"/>
            <a:round/>
            <a:tailEnd type="triangle" w="sm" len="sm"/>
          </a:ln>
        </p:spPr>
      </p:cxnSp>
      <p:cxnSp>
        <p:nvCxnSpPr>
          <p:cNvPr id="1729" name="FIG2_U__SEMANTIC_TO_FUSION"/>
          <p:cNvCxnSpPr>
            <a:stCxn id="34" idx="6"/>
          </p:cNvCxnSpPr>
          <p:nvPr/>
        </p:nvCxnSpPr>
        <p:spPr>
          <a:xfrm>
            <a:off x="3450416" y="1002647"/>
            <a:ext cx="1153611" cy="14252"/>
          </a:xfrm>
          <a:prstGeom prst="straightConnector1">
            <a:avLst/>
          </a:prstGeom>
          <a:ln w="12859" cap="rnd">
            <a:solidFill>
              <a:srgbClr val="DE7A2E"/>
            </a:solidFill>
            <a:prstDash val="solid"/>
            <a:round/>
            <a:tailEnd type="triangle" w="sm" len="sm"/>
          </a:ln>
        </p:spPr>
      </p:cxnSp>
      <p:cxnSp>
        <p:nvCxnSpPr>
          <p:cNvPr id="1730" name="FIG2_U__FUSION_TO_PRIOR"/>
          <p:cNvCxnSpPr>
            <a:stCxn id="36" idx="6"/>
            <a:endCxn id="39" idx="2"/>
          </p:cNvCxnSpPr>
          <p:nvPr/>
        </p:nvCxnSpPr>
        <p:spPr>
          <a:xfrm>
            <a:off x="4894853" y="1002646"/>
            <a:ext cx="213272" cy="0"/>
          </a:xfrm>
          <a:prstGeom prst="straightConnector1">
            <a:avLst/>
          </a:prstGeom>
          <a:ln w="12859" cap="rnd">
            <a:solidFill>
              <a:srgbClr val="DE7A2E"/>
            </a:solidFill>
            <a:prstDash val="solid"/>
            <a:round/>
            <a:tailEnd type="triangle" w="sm" len="sm"/>
          </a:ln>
        </p:spPr>
      </p:cxnSp>
      <p:cxnSp>
        <p:nvCxnSpPr>
          <p:cNvPr id="1731" name="FIG2_U__PRIOR_TO_REWEIGHT"/>
          <p:cNvCxnSpPr>
            <a:stCxn id="40" idx="6"/>
            <a:endCxn id="41" idx="2"/>
          </p:cNvCxnSpPr>
          <p:nvPr/>
        </p:nvCxnSpPr>
        <p:spPr>
          <a:xfrm>
            <a:off x="5515282" y="1002646"/>
            <a:ext cx="930644" cy="0"/>
          </a:xfrm>
          <a:prstGeom prst="straightConnector1">
            <a:avLst/>
          </a:prstGeom>
          <a:ln w="12859" cap="rnd">
            <a:solidFill>
              <a:srgbClr val="DE7A2E"/>
            </a:solidFill>
            <a:prstDash val="solid"/>
            <a:round/>
            <a:tailEnd type="triangle" w="sm" len="sm"/>
          </a:ln>
        </p:spPr>
      </p:cxnSp>
      <p:cxnSp>
        <p:nvCxnSpPr>
          <p:cNvPr id="1732" name="FIG2_U__REWEIGHT_TO_EFFECTIVE"/>
          <p:cNvCxnSpPr>
            <a:stCxn id="42" idx="6"/>
          </p:cNvCxnSpPr>
          <p:nvPr/>
        </p:nvCxnSpPr>
        <p:spPr>
          <a:xfrm>
            <a:off x="6727058" y="1002647"/>
            <a:ext cx="829501" cy="0"/>
          </a:xfrm>
          <a:prstGeom prst="straightConnector1">
            <a:avLst/>
          </a:prstGeom>
          <a:ln w="12859" cap="rnd">
            <a:solidFill>
              <a:srgbClr val="DE7A2E"/>
            </a:solidFill>
            <a:prstDash val="solid"/>
            <a:round/>
            <a:tailEnd type="triangle" w="sm" len="sm"/>
          </a:ln>
        </p:spPr>
      </p:cxnSp>
      <p:cxnSp>
        <p:nvCxnSpPr>
          <p:cNvPr id="1733" name="FIG2_U__EMBED_TO_REWEIGHT"/>
          <p:cNvCxnSpPr>
            <a:stCxn id="44" idx="4"/>
            <a:endCxn id="45" idx="0"/>
          </p:cNvCxnSpPr>
          <p:nvPr/>
        </p:nvCxnSpPr>
        <p:spPr>
          <a:xfrm>
            <a:off x="6586492" y="754286"/>
            <a:ext cx="0" cy="99344"/>
          </a:xfrm>
          <a:prstGeom prst="straightConnector1">
            <a:avLst/>
          </a:prstGeom>
          <a:ln w="11906" cap="rnd">
            <a:solidFill>
              <a:srgbClr val="785AA4"/>
            </a:solidFill>
            <a:prstDash val="solid"/>
            <a:round/>
            <a:tailEnd type="triangle" w="sm" len="sm"/>
          </a:ln>
        </p:spPr>
      </p:cxnSp>
      <p:cxnSp>
        <p:nvCxnSpPr>
          <p:cNvPr id="1734" name="FIG2_SHARED__DISTANCE_TO_MICRO_FUSION"/>
          <p:cNvCxnSpPr>
            <a:endCxn id="37" idx="0"/>
          </p:cNvCxnSpPr>
          <p:nvPr/>
        </p:nvCxnSpPr>
        <p:spPr>
          <a:xfrm>
            <a:off x="4537136" y="2439703"/>
            <a:ext cx="217151" cy="368307"/>
          </a:xfrm>
          <a:prstGeom prst="straightConnector1">
            <a:avLst/>
          </a:prstGeom>
          <a:ln w="12383" cap="rnd">
            <a:solidFill>
              <a:schemeClr val="accent3">
                <a:lumMod val="75000"/>
              </a:schemeClr>
            </a:solidFill>
            <a:prstDash val="solid"/>
            <a:round/>
            <a:tailEnd type="triangle" w="sm" len="sm"/>
          </a:ln>
        </p:spPr>
      </p:cxnSp>
      <p:sp>
        <p:nvSpPr>
          <p:cNvPr id="65" name="MACRO__LANE_TITLE">
            <a:extLst>
              <a:ext uri="{FF2B5EF4-FFF2-40B4-BE49-F238E27FC236}">
                <a16:creationId xmlns:a16="http://schemas.microsoft.com/office/drawing/2014/main" id="{3A64DE90-9B34-4CCE-BBD9-37093524BD17}"/>
              </a:ext>
            </a:extLst>
          </p:cNvPr>
          <p:cNvSpPr>
            <a:spLocks noGrp="1"/>
          </p:cNvSpPr>
          <p:nvPr/>
        </p:nvSpPr>
        <p:spPr>
          <a:xfrm>
            <a:off x="236785" y="2163936"/>
            <a:ext cx="2326610" cy="2675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 i="0">
                <a:solidFill>
                  <a:srgbClr val="1F7772"/>
                </a:solidFill>
                <a:latin typeface="Arial"/>
                <a:ea typeface="Arial"/>
                <a:cs typeface="Arial"/>
              </a:defRPr>
            </a:pPr>
            <a:r>
              <a:rPr sz="1200" b="1" i="1">
                <a:solidFill>
                  <a:srgbClr val="1F7772"/>
                </a:solidFill>
                <a:latin typeface="Times New Roman"/>
                <a:ea typeface="Times New Roman"/>
                <a:cs typeface="Times New Roman"/>
              </a:rPr>
              <a:t>Macro Semantic Prior</a:t>
            </a:r>
          </a:p>
        </p:txBody>
      </p:sp>
      <p:sp>
        <p:nvSpPr>
          <p:cNvPr id="66" name="MACRO__TITLE_MARK">
            <a:extLst>
              <a:ext uri="{FF2B5EF4-FFF2-40B4-BE49-F238E27FC236}">
                <a16:creationId xmlns:a16="http://schemas.microsoft.com/office/drawing/2014/main" id="{7CAB78ED-C538-4724-B351-8CC0503CD842}"/>
              </a:ext>
            </a:extLst>
          </p:cNvPr>
          <p:cNvSpPr>
            <a:spLocks noGrp="1"/>
          </p:cNvSpPr>
          <p:nvPr/>
        </p:nvSpPr>
        <p:spPr>
          <a:xfrm>
            <a:off x="159232" y="2241983"/>
            <a:ext cx="29083" cy="122645"/>
          </a:xfrm>
          <a:prstGeom prst="rect">
            <a:avLst/>
          </a:prstGeom>
          <a:solidFill>
            <a:srgbClr val="248C86"/>
          </a:solidFill>
          <a:ln w="0">
            <a:noFill/>
            <a:prstDash val="solid"/>
          </a:ln>
        </p:spPr>
      </p:sp>
      <p:sp>
        <p:nvSpPr>
          <p:cNvPr id="67" name="MACRO__INPUT_ICON">
            <a:extLst>
              <a:ext uri="{FF2B5EF4-FFF2-40B4-BE49-F238E27FC236}">
                <a16:creationId xmlns:a16="http://schemas.microsoft.com/office/drawing/2014/main" id="{1B15436E-182B-4A6C-BAC3-EAADBE6E5E8C}"/>
              </a:ext>
            </a:extLst>
          </p:cNvPr>
          <p:cNvSpPr>
            <a:spLocks noGrp="1"/>
          </p:cNvSpPr>
          <p:nvPr/>
        </p:nvSpPr>
        <p:spPr>
          <a:xfrm>
            <a:off x="265868" y="2824734"/>
            <a:ext cx="407157" cy="278739"/>
          </a:xfrm>
          <a:custGeom>
            <a:avLst/>
            <a:gdLst/>
            <a:ahLst/>
            <a:cxnLst/>
            <a:rect l="0" t="0" r="0" b="0"/>
            <a:pathLst>
              <a:path w="400050" h="238125">
                <a:moveTo>
                  <a:pt x="0" y="147638"/>
                </a:moveTo>
                <a:lnTo>
                  <a:pt x="56007" y="47625"/>
                </a:lnTo>
                <a:lnTo>
                  <a:pt x="116015" y="171450"/>
                </a:lnTo>
                <a:lnTo>
                  <a:pt x="180023" y="66675"/>
                </a:lnTo>
                <a:lnTo>
                  <a:pt x="244031" y="185738"/>
                </a:lnTo>
                <a:lnTo>
                  <a:pt x="312039" y="54769"/>
                </a:lnTo>
                <a:lnTo>
                  <a:pt x="364046" y="114300"/>
                </a:lnTo>
                <a:lnTo>
                  <a:pt x="400050" y="71438"/>
                </a:lnTo>
              </a:path>
            </a:pathLst>
          </a:custGeom>
          <a:noFill/>
          <a:ln w="18098">
            <a:solidFill>
              <a:srgbClr val="248C86"/>
            </a:solidFill>
            <a:prstDash val="solid"/>
          </a:ln>
        </p:spPr>
      </p:sp>
      <p:sp>
        <p:nvSpPr>
          <p:cNvPr id="68" name="MACRO__INPUT_LABEL">
            <a:extLst>
              <a:ext uri="{FF2B5EF4-FFF2-40B4-BE49-F238E27FC236}">
                <a16:creationId xmlns:a16="http://schemas.microsoft.com/office/drawing/2014/main" id="{0BDF2539-CC86-48AD-90D1-14124718D6A4}"/>
              </a:ext>
            </a:extLst>
          </p:cNvPr>
          <p:cNvSpPr>
            <a:spLocks noGrp="1"/>
          </p:cNvSpPr>
          <p:nvPr/>
        </p:nvSpPr>
        <p:spPr>
          <a:xfrm>
            <a:off x="120455" y="3161153"/>
            <a:ext cx="697983" cy="2006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1F7772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Patv_raw</a:t>
            </a:r>
            <a:endParaRPr sz="800" b="1" i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MACRO__TRAIN_ONLY">
            <a:extLst>
              <a:ext uri="{FF2B5EF4-FFF2-40B4-BE49-F238E27FC236}">
                <a16:creationId xmlns:a16="http://schemas.microsoft.com/office/drawing/2014/main" id="{EED08CCA-2A96-4C83-A208-7CA9843D29DB}"/>
              </a:ext>
            </a:extLst>
          </p:cNvPr>
          <p:cNvSpPr>
            <a:spLocks noGrp="1"/>
          </p:cNvSpPr>
          <p:nvPr/>
        </p:nvSpPr>
        <p:spPr>
          <a:xfrm>
            <a:off x="198009" y="3299705"/>
            <a:ext cx="542876" cy="1560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0" i="0">
                <a:solidFill>
                  <a:srgbClr val="6F7E87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train-only</a:t>
            </a:r>
          </a:p>
        </p:txBody>
      </p:sp>
      <p:sp>
        <p:nvSpPr>
          <p:cNvPr id="70" name="MACRO__TRANSFORM_RAW">
            <a:extLst>
              <a:ext uri="{FF2B5EF4-FFF2-40B4-BE49-F238E27FC236}">
                <a16:creationId xmlns:a16="http://schemas.microsoft.com/office/drawing/2014/main" id="{8CF81029-2700-49CA-9BA5-7C8314DAA2E9}"/>
              </a:ext>
            </a:extLst>
          </p:cNvPr>
          <p:cNvSpPr>
            <a:spLocks noGrp="1"/>
          </p:cNvSpPr>
          <p:nvPr/>
        </p:nvSpPr>
        <p:spPr>
          <a:xfrm>
            <a:off x="934768" y="2847033"/>
            <a:ext cx="174496" cy="234141"/>
          </a:xfrm>
          <a:custGeom>
            <a:avLst/>
            <a:gdLst/>
            <a:ahLst/>
            <a:cxnLst/>
            <a:rect l="0" t="0" r="0" b="0"/>
            <a:pathLst>
              <a:path w="171450" h="200025">
                <a:moveTo>
                  <a:pt x="0" y="124016"/>
                </a:moveTo>
                <a:lnTo>
                  <a:pt x="24003" y="40005"/>
                </a:lnTo>
                <a:lnTo>
                  <a:pt x="49721" y="144018"/>
                </a:lnTo>
                <a:lnTo>
                  <a:pt x="77153" y="56007"/>
                </a:lnTo>
                <a:lnTo>
                  <a:pt x="104585" y="156020"/>
                </a:lnTo>
                <a:lnTo>
                  <a:pt x="133731" y="46006"/>
                </a:lnTo>
                <a:lnTo>
                  <a:pt x="156020" y="96012"/>
                </a:lnTo>
                <a:lnTo>
                  <a:pt x="171450" y="60008"/>
                </a:lnTo>
              </a:path>
            </a:pathLst>
          </a:custGeom>
          <a:noFill/>
          <a:ln w="14764">
            <a:solidFill>
              <a:srgbClr val="248C86"/>
            </a:solidFill>
            <a:prstDash val="solid"/>
          </a:ln>
        </p:spPr>
      </p:sp>
      <p:sp>
        <p:nvSpPr>
          <p:cNvPr id="71" name="MACRO__TRANSFORM_OUT">
            <a:extLst>
              <a:ext uri="{FF2B5EF4-FFF2-40B4-BE49-F238E27FC236}">
                <a16:creationId xmlns:a16="http://schemas.microsoft.com/office/drawing/2014/main" id="{6E30F4C9-9AC4-4730-BAD1-360492BEC042}"/>
              </a:ext>
            </a:extLst>
          </p:cNvPr>
          <p:cNvSpPr>
            <a:spLocks noGrp="1"/>
          </p:cNvSpPr>
          <p:nvPr/>
        </p:nvSpPr>
        <p:spPr>
          <a:xfrm>
            <a:off x="1225595" y="2847033"/>
            <a:ext cx="184190" cy="234141"/>
          </a:xfrm>
          <a:custGeom>
            <a:avLst/>
            <a:gdLst/>
            <a:ahLst/>
            <a:cxnLst/>
            <a:rect l="0" t="0" r="0" b="0"/>
            <a:pathLst>
              <a:path w="180975" h="200025">
                <a:moveTo>
                  <a:pt x="0" y="164021"/>
                </a:moveTo>
                <a:lnTo>
                  <a:pt x="32576" y="136017"/>
                </a:lnTo>
                <a:lnTo>
                  <a:pt x="65151" y="110014"/>
                </a:lnTo>
                <a:lnTo>
                  <a:pt x="104966" y="76010"/>
                </a:lnTo>
                <a:lnTo>
                  <a:pt x="141161" y="54007"/>
                </a:lnTo>
                <a:lnTo>
                  <a:pt x="180975" y="24003"/>
                </a:lnTo>
              </a:path>
            </a:pathLst>
          </a:custGeom>
          <a:noFill/>
          <a:ln w="16669">
            <a:solidFill>
              <a:srgbClr val="248C86"/>
            </a:solidFill>
            <a:prstDash val="solid"/>
          </a:ln>
        </p:spPr>
      </p:sp>
      <p:sp>
        <p:nvSpPr>
          <p:cNvPr id="72" name="MACRO__TRANSFORM_LABEL">
            <a:extLst>
              <a:ext uri="{FF2B5EF4-FFF2-40B4-BE49-F238E27FC236}">
                <a16:creationId xmlns:a16="http://schemas.microsoft.com/office/drawing/2014/main" id="{09CC6F7A-5CD7-4886-A976-3512AC158C1B}"/>
              </a:ext>
            </a:extLst>
          </p:cNvPr>
          <p:cNvSpPr>
            <a:spLocks noGrp="1"/>
          </p:cNvSpPr>
          <p:nvPr/>
        </p:nvSpPr>
        <p:spPr>
          <a:xfrm>
            <a:off x="808744" y="3136922"/>
            <a:ext cx="727066" cy="37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Trend</a:t>
            </a:r>
          </a:p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Extraction</a:t>
            </a:r>
          </a:p>
        </p:txBody>
      </p:sp>
      <p:sp>
        <p:nvSpPr>
          <p:cNvPr id="73" name="MACRO__SIM_A">
            <a:extLst>
              <a:ext uri="{FF2B5EF4-FFF2-40B4-BE49-F238E27FC236}">
                <a16:creationId xmlns:a16="http://schemas.microsoft.com/office/drawing/2014/main" id="{1AEAD0DF-6ECB-4BD4-A767-044E46BE0931}"/>
              </a:ext>
            </a:extLst>
          </p:cNvPr>
          <p:cNvSpPr>
            <a:spLocks noGrp="1"/>
          </p:cNvSpPr>
          <p:nvPr/>
        </p:nvSpPr>
        <p:spPr>
          <a:xfrm>
            <a:off x="1758776" y="2869332"/>
            <a:ext cx="213273" cy="189543"/>
          </a:xfrm>
          <a:custGeom>
            <a:avLst/>
            <a:gdLst/>
            <a:ahLst/>
            <a:cxnLst/>
            <a:rect l="0" t="0" r="0" b="0"/>
            <a:pathLst>
              <a:path w="209550" h="161925">
                <a:moveTo>
                  <a:pt x="0" y="132779"/>
                </a:moveTo>
                <a:lnTo>
                  <a:pt x="37719" y="110109"/>
                </a:lnTo>
                <a:lnTo>
                  <a:pt x="75438" y="89059"/>
                </a:lnTo>
                <a:lnTo>
                  <a:pt x="121539" y="61532"/>
                </a:lnTo>
                <a:lnTo>
                  <a:pt x="163449" y="43720"/>
                </a:lnTo>
                <a:lnTo>
                  <a:pt x="209550" y="19431"/>
                </a:lnTo>
              </a:path>
            </a:pathLst>
          </a:custGeom>
          <a:noFill/>
          <a:ln w="13811">
            <a:solidFill>
              <a:srgbClr val="248C86"/>
            </a:solidFill>
            <a:prstDash val="solid"/>
          </a:ln>
        </p:spPr>
      </p:sp>
      <p:sp>
        <p:nvSpPr>
          <p:cNvPr id="74" name="MACRO__SIM_SYMBOL">
            <a:extLst>
              <a:ext uri="{FF2B5EF4-FFF2-40B4-BE49-F238E27FC236}">
                <a16:creationId xmlns:a16="http://schemas.microsoft.com/office/drawing/2014/main" id="{DFB80E34-0334-443A-BE5C-20FF3B8F74EC}"/>
              </a:ext>
            </a:extLst>
          </p:cNvPr>
          <p:cNvSpPr>
            <a:spLocks noGrp="1"/>
          </p:cNvSpPr>
          <p:nvPr/>
        </p:nvSpPr>
        <p:spPr>
          <a:xfrm>
            <a:off x="1981743" y="2824734"/>
            <a:ext cx="232661" cy="2564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248C86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248C86"/>
                </a:solidFill>
                <a:latin typeface="Times New Roman"/>
                <a:ea typeface="Times New Roman"/>
                <a:cs typeface="Times New Roman"/>
              </a:rPr>
              <a:t>ρ</a:t>
            </a:r>
          </a:p>
        </p:txBody>
      </p:sp>
      <p:sp>
        <p:nvSpPr>
          <p:cNvPr id="75" name="MACRO__SIM_B">
            <a:extLst>
              <a:ext uri="{FF2B5EF4-FFF2-40B4-BE49-F238E27FC236}">
                <a16:creationId xmlns:a16="http://schemas.microsoft.com/office/drawing/2014/main" id="{57170239-4A98-45D8-A8D0-4661B274E34B}"/>
              </a:ext>
            </a:extLst>
          </p:cNvPr>
          <p:cNvSpPr>
            <a:spLocks noGrp="1"/>
          </p:cNvSpPr>
          <p:nvPr/>
        </p:nvSpPr>
        <p:spPr>
          <a:xfrm>
            <a:off x="2214404" y="2869332"/>
            <a:ext cx="213273" cy="189543"/>
          </a:xfrm>
          <a:custGeom>
            <a:avLst/>
            <a:gdLst/>
            <a:ahLst/>
            <a:cxnLst/>
            <a:rect l="0" t="0" r="0" b="0"/>
            <a:pathLst>
              <a:path w="209550" h="161925">
                <a:moveTo>
                  <a:pt x="0" y="132779"/>
                </a:moveTo>
                <a:lnTo>
                  <a:pt x="37719" y="110109"/>
                </a:lnTo>
                <a:lnTo>
                  <a:pt x="75438" y="89059"/>
                </a:lnTo>
                <a:lnTo>
                  <a:pt x="121539" y="61532"/>
                </a:lnTo>
                <a:lnTo>
                  <a:pt x="163449" y="43720"/>
                </a:lnTo>
                <a:lnTo>
                  <a:pt x="209550" y="19431"/>
                </a:lnTo>
              </a:path>
            </a:pathLst>
          </a:custGeom>
          <a:noFill/>
          <a:ln w="13811">
            <a:solidFill>
              <a:srgbClr val="248C86"/>
            </a:solidFill>
            <a:prstDash val="solid"/>
          </a:ln>
        </p:spPr>
      </p:sp>
      <p:sp>
        <p:nvSpPr>
          <p:cNvPr id="76" name="MACRO__SIM_LABEL">
            <a:extLst>
              <a:ext uri="{FF2B5EF4-FFF2-40B4-BE49-F238E27FC236}">
                <a16:creationId xmlns:a16="http://schemas.microsoft.com/office/drawing/2014/main" id="{B48FAECC-780C-4011-A5D5-061A6155D04C}"/>
              </a:ext>
            </a:extLst>
          </p:cNvPr>
          <p:cNvSpPr>
            <a:spLocks noGrp="1"/>
          </p:cNvSpPr>
          <p:nvPr/>
        </p:nvSpPr>
        <p:spPr>
          <a:xfrm>
            <a:off x="1564892" y="3125772"/>
            <a:ext cx="1076057" cy="4236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Trend Pearson</a:t>
            </a:r>
          </a:p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Correlation Graph</a:t>
            </a:r>
          </a:p>
        </p:txBody>
      </p:sp>
      <p:sp>
        <p:nvSpPr>
          <p:cNvPr id="77" name="MACRO__K">
            <a:extLst>
              <a:ext uri="{FF2B5EF4-FFF2-40B4-BE49-F238E27FC236}">
                <a16:creationId xmlns:a16="http://schemas.microsoft.com/office/drawing/2014/main" id="{976F3C38-ACA1-4B81-8DA9-23D1B1DC736F}"/>
              </a:ext>
            </a:extLst>
          </p:cNvPr>
          <p:cNvSpPr>
            <a:spLocks noGrp="1"/>
          </p:cNvSpPr>
          <p:nvPr/>
        </p:nvSpPr>
        <p:spPr>
          <a:xfrm>
            <a:off x="3027942" y="2610216"/>
            <a:ext cx="465322" cy="1672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1" i="0">
                <a:solidFill>
                  <a:srgbClr val="6F7E87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K = 10</a:t>
            </a:r>
          </a:p>
        </p:txBody>
      </p:sp>
      <p:sp>
        <p:nvSpPr>
          <p:cNvPr id="78" name="MACRO__SPARSE_GRAPH__EDGE_1">
            <a:extLst>
              <a:ext uri="{FF2B5EF4-FFF2-40B4-BE49-F238E27FC236}">
                <a16:creationId xmlns:a16="http://schemas.microsoft.com/office/drawing/2014/main" id="{C1A9762C-B750-4814-8E89-A1974CEACFD5}"/>
              </a:ext>
            </a:extLst>
          </p:cNvPr>
          <p:cNvSpPr>
            <a:spLocks noGrp="1"/>
          </p:cNvSpPr>
          <p:nvPr/>
        </p:nvSpPr>
        <p:spPr>
          <a:xfrm flipV="1">
            <a:off x="3104332" y="2839674"/>
            <a:ext cx="64466" cy="165906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79" name="MACRO__SPARSE_GRAPH__EDGE_2">
            <a:extLst>
              <a:ext uri="{FF2B5EF4-FFF2-40B4-BE49-F238E27FC236}">
                <a16:creationId xmlns:a16="http://schemas.microsoft.com/office/drawing/2014/main" id="{CB78F23A-2CA1-4385-8579-0944C3BD986B}"/>
              </a:ext>
            </a:extLst>
          </p:cNvPr>
          <p:cNvSpPr>
            <a:spLocks noGrp="1"/>
          </p:cNvSpPr>
          <p:nvPr/>
        </p:nvSpPr>
        <p:spPr>
          <a:xfrm flipV="1">
            <a:off x="3104332" y="2888063"/>
            <a:ext cx="169649" cy="117516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80" name="MACRO__SPARSE_GRAPH__EDGE_3">
            <a:extLst>
              <a:ext uri="{FF2B5EF4-FFF2-40B4-BE49-F238E27FC236}">
                <a16:creationId xmlns:a16="http://schemas.microsoft.com/office/drawing/2014/main" id="{71B82182-95E6-4D63-8C8A-B17353C70787}"/>
              </a:ext>
            </a:extLst>
          </p:cNvPr>
          <p:cNvSpPr>
            <a:spLocks noGrp="1"/>
          </p:cNvSpPr>
          <p:nvPr/>
        </p:nvSpPr>
        <p:spPr>
          <a:xfrm>
            <a:off x="3104332" y="3005580"/>
            <a:ext cx="128933" cy="89866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81" name="MACRO__SPARSE_GRAPH__EDGE_4">
            <a:extLst>
              <a:ext uri="{FF2B5EF4-FFF2-40B4-BE49-F238E27FC236}">
                <a16:creationId xmlns:a16="http://schemas.microsoft.com/office/drawing/2014/main" id="{415174E2-1521-44CB-B2F4-0BE854611F5E}"/>
              </a:ext>
            </a:extLst>
          </p:cNvPr>
          <p:cNvSpPr>
            <a:spLocks noGrp="1"/>
          </p:cNvSpPr>
          <p:nvPr/>
        </p:nvSpPr>
        <p:spPr>
          <a:xfrm>
            <a:off x="3168798" y="2839674"/>
            <a:ext cx="105182" cy="48390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82" name="MACRO__SPARSE_GRAPH__EDGE_5">
            <a:extLst>
              <a:ext uri="{FF2B5EF4-FFF2-40B4-BE49-F238E27FC236}">
                <a16:creationId xmlns:a16="http://schemas.microsoft.com/office/drawing/2014/main" id="{2FC11416-5203-4766-941B-530B9112CF6D}"/>
              </a:ext>
            </a:extLst>
          </p:cNvPr>
          <p:cNvSpPr>
            <a:spLocks noGrp="1"/>
          </p:cNvSpPr>
          <p:nvPr/>
        </p:nvSpPr>
        <p:spPr>
          <a:xfrm>
            <a:off x="3168798" y="2839674"/>
            <a:ext cx="64466" cy="255770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83" name="MACRO__SPARSE_GRAPH__EDGE_6">
            <a:extLst>
              <a:ext uri="{FF2B5EF4-FFF2-40B4-BE49-F238E27FC236}">
                <a16:creationId xmlns:a16="http://schemas.microsoft.com/office/drawing/2014/main" id="{1873CBC7-2A37-4360-B6DE-4F6116B159EF}"/>
              </a:ext>
            </a:extLst>
          </p:cNvPr>
          <p:cNvSpPr>
            <a:spLocks noGrp="1"/>
          </p:cNvSpPr>
          <p:nvPr/>
        </p:nvSpPr>
        <p:spPr>
          <a:xfrm flipV="1">
            <a:off x="3273981" y="2832762"/>
            <a:ext cx="95003" cy="55302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84" name="MACRO__SPARSE_GRAPH__EDGE_7">
            <a:extLst>
              <a:ext uri="{FF2B5EF4-FFF2-40B4-BE49-F238E27FC236}">
                <a16:creationId xmlns:a16="http://schemas.microsoft.com/office/drawing/2014/main" id="{A81DC023-F6AB-45C2-95F9-22FBA06F1EA9}"/>
              </a:ext>
            </a:extLst>
          </p:cNvPr>
          <p:cNvSpPr>
            <a:spLocks noGrp="1"/>
          </p:cNvSpPr>
          <p:nvPr/>
        </p:nvSpPr>
        <p:spPr>
          <a:xfrm>
            <a:off x="3273981" y="2888063"/>
            <a:ext cx="101790" cy="162449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85" name="MACRO__SPARSE_GRAPH__EDGE_8">
            <a:extLst>
              <a:ext uri="{FF2B5EF4-FFF2-40B4-BE49-F238E27FC236}">
                <a16:creationId xmlns:a16="http://schemas.microsoft.com/office/drawing/2014/main" id="{2C3CFEB1-BD66-4EDF-B48A-1A3DEAB69C11}"/>
              </a:ext>
            </a:extLst>
          </p:cNvPr>
          <p:cNvSpPr>
            <a:spLocks noGrp="1"/>
          </p:cNvSpPr>
          <p:nvPr/>
        </p:nvSpPr>
        <p:spPr>
          <a:xfrm flipH="1">
            <a:off x="3233266" y="2888063"/>
            <a:ext cx="40716" cy="207382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86" name="MACRO__SPARSE_GRAPH__EDGE_9">
            <a:extLst>
              <a:ext uri="{FF2B5EF4-FFF2-40B4-BE49-F238E27FC236}">
                <a16:creationId xmlns:a16="http://schemas.microsoft.com/office/drawing/2014/main" id="{6507F1D0-652C-43E4-A2E9-9E78A7D6BB80}"/>
              </a:ext>
            </a:extLst>
          </p:cNvPr>
          <p:cNvSpPr>
            <a:spLocks noGrp="1"/>
          </p:cNvSpPr>
          <p:nvPr/>
        </p:nvSpPr>
        <p:spPr>
          <a:xfrm>
            <a:off x="3368985" y="2832762"/>
            <a:ext cx="6785" cy="217751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87" name="MACRO__SPARSE_GRAPH__EDGE_10">
            <a:extLst>
              <a:ext uri="{FF2B5EF4-FFF2-40B4-BE49-F238E27FC236}">
                <a16:creationId xmlns:a16="http://schemas.microsoft.com/office/drawing/2014/main" id="{B9139F4F-C3ED-4986-902E-4767D50FCF65}"/>
              </a:ext>
            </a:extLst>
          </p:cNvPr>
          <p:cNvSpPr>
            <a:spLocks noGrp="1"/>
          </p:cNvSpPr>
          <p:nvPr/>
        </p:nvSpPr>
        <p:spPr>
          <a:xfrm flipH="1">
            <a:off x="3233266" y="3050512"/>
            <a:ext cx="142504" cy="44933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88" name="MACRO__SPARSE_GRAPH__NODE_1">
            <a:extLst>
              <a:ext uri="{FF2B5EF4-FFF2-40B4-BE49-F238E27FC236}">
                <a16:creationId xmlns:a16="http://schemas.microsoft.com/office/drawing/2014/main" id="{EE6F0046-C62F-4AEF-B73A-7CF06E388D8B}"/>
              </a:ext>
            </a:extLst>
          </p:cNvPr>
          <p:cNvSpPr>
            <a:spLocks noGrp="1"/>
          </p:cNvSpPr>
          <p:nvPr/>
        </p:nvSpPr>
        <p:spPr>
          <a:xfrm>
            <a:off x="3078130" y="2979379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89" name="MACRO__SPARSE_GRAPH__NODE_2">
            <a:extLst>
              <a:ext uri="{FF2B5EF4-FFF2-40B4-BE49-F238E27FC236}">
                <a16:creationId xmlns:a16="http://schemas.microsoft.com/office/drawing/2014/main" id="{371DA0D3-20E1-4247-8DD7-36149BB1846E}"/>
              </a:ext>
            </a:extLst>
          </p:cNvPr>
          <p:cNvSpPr>
            <a:spLocks noGrp="1"/>
          </p:cNvSpPr>
          <p:nvPr/>
        </p:nvSpPr>
        <p:spPr>
          <a:xfrm>
            <a:off x="3142597" y="2813473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90" name="MACRO__SPARSE_GRAPH__NODE_3">
            <a:extLst>
              <a:ext uri="{FF2B5EF4-FFF2-40B4-BE49-F238E27FC236}">
                <a16:creationId xmlns:a16="http://schemas.microsoft.com/office/drawing/2014/main" id="{00122043-2B6C-40EA-A716-B99CC06D5E0F}"/>
              </a:ext>
            </a:extLst>
          </p:cNvPr>
          <p:cNvSpPr>
            <a:spLocks noGrp="1"/>
          </p:cNvSpPr>
          <p:nvPr/>
        </p:nvSpPr>
        <p:spPr>
          <a:xfrm>
            <a:off x="3247780" y="2861862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91" name="MACRO__SPARSE_GRAPH__NODE_4">
            <a:extLst>
              <a:ext uri="{FF2B5EF4-FFF2-40B4-BE49-F238E27FC236}">
                <a16:creationId xmlns:a16="http://schemas.microsoft.com/office/drawing/2014/main" id="{CB4452D2-9373-48F7-A439-959555017224}"/>
              </a:ext>
            </a:extLst>
          </p:cNvPr>
          <p:cNvSpPr>
            <a:spLocks noGrp="1"/>
          </p:cNvSpPr>
          <p:nvPr/>
        </p:nvSpPr>
        <p:spPr>
          <a:xfrm>
            <a:off x="3342783" y="2806560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92" name="MACRO__SPARSE_GRAPH__NODE_5">
            <a:extLst>
              <a:ext uri="{FF2B5EF4-FFF2-40B4-BE49-F238E27FC236}">
                <a16:creationId xmlns:a16="http://schemas.microsoft.com/office/drawing/2014/main" id="{A4E79BBE-EEC2-4644-A3CC-610E7D0EA615}"/>
              </a:ext>
            </a:extLst>
          </p:cNvPr>
          <p:cNvSpPr>
            <a:spLocks noGrp="1"/>
          </p:cNvSpPr>
          <p:nvPr/>
        </p:nvSpPr>
        <p:spPr>
          <a:xfrm>
            <a:off x="3349568" y="3024312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93" name="MACRO__SPARSE_GRAPH__NODE_6">
            <a:extLst>
              <a:ext uri="{FF2B5EF4-FFF2-40B4-BE49-F238E27FC236}">
                <a16:creationId xmlns:a16="http://schemas.microsoft.com/office/drawing/2014/main" id="{97C35498-E45A-4522-AECB-E64B023C8078}"/>
              </a:ext>
            </a:extLst>
          </p:cNvPr>
          <p:cNvSpPr>
            <a:spLocks noGrp="1"/>
          </p:cNvSpPr>
          <p:nvPr/>
        </p:nvSpPr>
        <p:spPr>
          <a:xfrm>
            <a:off x="3207064" y="3069243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94" name="MACRO__SPARSE_LABEL">
            <a:extLst>
              <a:ext uri="{FF2B5EF4-FFF2-40B4-BE49-F238E27FC236}">
                <a16:creationId xmlns:a16="http://schemas.microsoft.com/office/drawing/2014/main" id="{191ECE7B-60C1-494F-AB6C-7BAC18972EE7}"/>
              </a:ext>
            </a:extLst>
          </p:cNvPr>
          <p:cNvSpPr>
            <a:spLocks noGrp="1"/>
          </p:cNvSpPr>
          <p:nvPr/>
        </p:nvSpPr>
        <p:spPr>
          <a:xfrm>
            <a:off x="2689420" y="3201143"/>
            <a:ext cx="1046974" cy="3344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Sparse Trend</a:t>
            </a:r>
          </a:p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96" name="MACRO__FUSION_SIGMA">
            <a:extLst>
              <a:ext uri="{FF2B5EF4-FFF2-40B4-BE49-F238E27FC236}">
                <a16:creationId xmlns:a16="http://schemas.microsoft.com/office/drawing/2014/main" id="{76AAB109-E092-48AF-ACCD-352F9D5E8321}"/>
              </a:ext>
            </a:extLst>
          </p:cNvPr>
          <p:cNvSpPr>
            <a:spLocks noGrp="1"/>
          </p:cNvSpPr>
          <p:nvPr/>
        </p:nvSpPr>
        <p:spPr>
          <a:xfrm>
            <a:off x="4633109" y="2830309"/>
            <a:ext cx="242355" cy="278739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48C86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275">
                <a:solidFill>
                  <a:srgbClr val="248C86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248C86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97" name="MACRO__PRIOR_GRAPH__EDGE_1">
            <a:extLst>
              <a:ext uri="{FF2B5EF4-FFF2-40B4-BE49-F238E27FC236}">
                <a16:creationId xmlns:a16="http://schemas.microsoft.com/office/drawing/2014/main" id="{3C058C0A-BC90-4CBF-A262-A0340B17CB15}"/>
              </a:ext>
            </a:extLst>
          </p:cNvPr>
          <p:cNvSpPr>
            <a:spLocks noGrp="1"/>
          </p:cNvSpPr>
          <p:nvPr/>
        </p:nvSpPr>
        <p:spPr>
          <a:xfrm flipV="1">
            <a:off x="5169198" y="2839674"/>
            <a:ext cx="64466" cy="165906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98" name="MACRO__PRIOR_GRAPH__EDGE_2">
            <a:extLst>
              <a:ext uri="{FF2B5EF4-FFF2-40B4-BE49-F238E27FC236}">
                <a16:creationId xmlns:a16="http://schemas.microsoft.com/office/drawing/2014/main" id="{2281544E-3754-4F2F-895D-87BA478548B8}"/>
              </a:ext>
            </a:extLst>
          </p:cNvPr>
          <p:cNvSpPr>
            <a:spLocks noGrp="1"/>
          </p:cNvSpPr>
          <p:nvPr/>
        </p:nvSpPr>
        <p:spPr>
          <a:xfrm flipV="1">
            <a:off x="5169198" y="2888063"/>
            <a:ext cx="169649" cy="117516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99" name="MACRO__PRIOR_GRAPH__EDGE_3">
            <a:extLst>
              <a:ext uri="{FF2B5EF4-FFF2-40B4-BE49-F238E27FC236}">
                <a16:creationId xmlns:a16="http://schemas.microsoft.com/office/drawing/2014/main" id="{0BCB2D39-7DBE-450F-AC41-B0DA52F50DBC}"/>
              </a:ext>
            </a:extLst>
          </p:cNvPr>
          <p:cNvSpPr>
            <a:spLocks noGrp="1"/>
          </p:cNvSpPr>
          <p:nvPr/>
        </p:nvSpPr>
        <p:spPr>
          <a:xfrm>
            <a:off x="5169198" y="3005580"/>
            <a:ext cx="128933" cy="89866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00" name="MACRO__PRIOR_GRAPH__EDGE_4">
            <a:extLst>
              <a:ext uri="{FF2B5EF4-FFF2-40B4-BE49-F238E27FC236}">
                <a16:creationId xmlns:a16="http://schemas.microsoft.com/office/drawing/2014/main" id="{F4D0540F-C32A-4E47-A90A-6911D06D92B6}"/>
              </a:ext>
            </a:extLst>
          </p:cNvPr>
          <p:cNvSpPr>
            <a:spLocks noGrp="1"/>
          </p:cNvSpPr>
          <p:nvPr/>
        </p:nvSpPr>
        <p:spPr>
          <a:xfrm>
            <a:off x="5233665" y="2839674"/>
            <a:ext cx="105182" cy="48390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01" name="MACRO__PRIOR_GRAPH__EDGE_5">
            <a:extLst>
              <a:ext uri="{FF2B5EF4-FFF2-40B4-BE49-F238E27FC236}">
                <a16:creationId xmlns:a16="http://schemas.microsoft.com/office/drawing/2014/main" id="{D32839D8-9955-4969-9FDF-646AD463FDEC}"/>
              </a:ext>
            </a:extLst>
          </p:cNvPr>
          <p:cNvSpPr>
            <a:spLocks noGrp="1"/>
          </p:cNvSpPr>
          <p:nvPr/>
        </p:nvSpPr>
        <p:spPr>
          <a:xfrm>
            <a:off x="5233665" y="2839674"/>
            <a:ext cx="64466" cy="255770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02" name="MACRO__PRIOR_GRAPH__EDGE_6">
            <a:extLst>
              <a:ext uri="{FF2B5EF4-FFF2-40B4-BE49-F238E27FC236}">
                <a16:creationId xmlns:a16="http://schemas.microsoft.com/office/drawing/2014/main" id="{3992C479-6E25-4CFE-9B70-86B7BDFCF169}"/>
              </a:ext>
            </a:extLst>
          </p:cNvPr>
          <p:cNvSpPr>
            <a:spLocks noGrp="1"/>
          </p:cNvSpPr>
          <p:nvPr/>
        </p:nvSpPr>
        <p:spPr>
          <a:xfrm flipV="1">
            <a:off x="5338848" y="2832762"/>
            <a:ext cx="95003" cy="55302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03" name="MACRO__PRIOR_GRAPH__EDGE_7">
            <a:extLst>
              <a:ext uri="{FF2B5EF4-FFF2-40B4-BE49-F238E27FC236}">
                <a16:creationId xmlns:a16="http://schemas.microsoft.com/office/drawing/2014/main" id="{FBE1499A-A0CC-4F8B-A24E-EA0C598DF0D5}"/>
              </a:ext>
            </a:extLst>
          </p:cNvPr>
          <p:cNvSpPr>
            <a:spLocks noGrp="1"/>
          </p:cNvSpPr>
          <p:nvPr/>
        </p:nvSpPr>
        <p:spPr>
          <a:xfrm>
            <a:off x="5338848" y="2888063"/>
            <a:ext cx="101790" cy="162449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04" name="MACRO__PRIOR_GRAPH__EDGE_8">
            <a:extLst>
              <a:ext uri="{FF2B5EF4-FFF2-40B4-BE49-F238E27FC236}">
                <a16:creationId xmlns:a16="http://schemas.microsoft.com/office/drawing/2014/main" id="{02254956-715D-4E4E-9940-4F642D141B99}"/>
              </a:ext>
            </a:extLst>
          </p:cNvPr>
          <p:cNvSpPr>
            <a:spLocks noGrp="1"/>
          </p:cNvSpPr>
          <p:nvPr/>
        </p:nvSpPr>
        <p:spPr>
          <a:xfrm flipH="1">
            <a:off x="5298132" y="2888063"/>
            <a:ext cx="40716" cy="207382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05" name="MACRO__PRIOR_GRAPH__EDGE_9">
            <a:extLst>
              <a:ext uri="{FF2B5EF4-FFF2-40B4-BE49-F238E27FC236}">
                <a16:creationId xmlns:a16="http://schemas.microsoft.com/office/drawing/2014/main" id="{17200438-94C1-4E69-A2BB-183FCE71EE19}"/>
              </a:ext>
            </a:extLst>
          </p:cNvPr>
          <p:cNvSpPr>
            <a:spLocks noGrp="1"/>
          </p:cNvSpPr>
          <p:nvPr/>
        </p:nvSpPr>
        <p:spPr>
          <a:xfrm>
            <a:off x="5433851" y="2832762"/>
            <a:ext cx="6785" cy="217751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06" name="MACRO__PRIOR_GRAPH__EDGE_10">
            <a:extLst>
              <a:ext uri="{FF2B5EF4-FFF2-40B4-BE49-F238E27FC236}">
                <a16:creationId xmlns:a16="http://schemas.microsoft.com/office/drawing/2014/main" id="{A54CE2E6-B28F-449E-B3DE-795882A6C12A}"/>
              </a:ext>
            </a:extLst>
          </p:cNvPr>
          <p:cNvSpPr>
            <a:spLocks noGrp="1"/>
          </p:cNvSpPr>
          <p:nvPr/>
        </p:nvSpPr>
        <p:spPr>
          <a:xfrm flipH="1">
            <a:off x="5298132" y="3050512"/>
            <a:ext cx="142504" cy="44933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07" name="MACRO__PRIOR_GRAPH__NODE_1">
            <a:extLst>
              <a:ext uri="{FF2B5EF4-FFF2-40B4-BE49-F238E27FC236}">
                <a16:creationId xmlns:a16="http://schemas.microsoft.com/office/drawing/2014/main" id="{52475675-E5D9-479C-BBB0-9016B661A009}"/>
              </a:ext>
            </a:extLst>
          </p:cNvPr>
          <p:cNvSpPr>
            <a:spLocks noGrp="1"/>
          </p:cNvSpPr>
          <p:nvPr/>
        </p:nvSpPr>
        <p:spPr>
          <a:xfrm>
            <a:off x="5142997" y="2979379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108" name="MACRO__PRIOR_GRAPH__NODE_2">
            <a:extLst>
              <a:ext uri="{FF2B5EF4-FFF2-40B4-BE49-F238E27FC236}">
                <a16:creationId xmlns:a16="http://schemas.microsoft.com/office/drawing/2014/main" id="{DA49D8CB-1B4C-4605-9537-4FDEEAA8020F}"/>
              </a:ext>
            </a:extLst>
          </p:cNvPr>
          <p:cNvSpPr>
            <a:spLocks noGrp="1"/>
          </p:cNvSpPr>
          <p:nvPr/>
        </p:nvSpPr>
        <p:spPr>
          <a:xfrm>
            <a:off x="5207464" y="2813473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109" name="MACRO__PRIOR_GRAPH__NODE_3">
            <a:extLst>
              <a:ext uri="{FF2B5EF4-FFF2-40B4-BE49-F238E27FC236}">
                <a16:creationId xmlns:a16="http://schemas.microsoft.com/office/drawing/2014/main" id="{8E01DA85-A504-4E93-81DD-46ECF45E3E59}"/>
              </a:ext>
            </a:extLst>
          </p:cNvPr>
          <p:cNvSpPr>
            <a:spLocks noGrp="1"/>
          </p:cNvSpPr>
          <p:nvPr/>
        </p:nvSpPr>
        <p:spPr>
          <a:xfrm>
            <a:off x="5312646" y="2861862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110" name="MACRO__PRIOR_GRAPH__NODE_4">
            <a:extLst>
              <a:ext uri="{FF2B5EF4-FFF2-40B4-BE49-F238E27FC236}">
                <a16:creationId xmlns:a16="http://schemas.microsoft.com/office/drawing/2014/main" id="{EC697094-8873-4AFF-8CAE-14434EA7F067}"/>
              </a:ext>
            </a:extLst>
          </p:cNvPr>
          <p:cNvSpPr>
            <a:spLocks noGrp="1"/>
          </p:cNvSpPr>
          <p:nvPr/>
        </p:nvSpPr>
        <p:spPr>
          <a:xfrm>
            <a:off x="5407649" y="2806560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111" name="MACRO__PRIOR_GRAPH__NODE_5">
            <a:extLst>
              <a:ext uri="{FF2B5EF4-FFF2-40B4-BE49-F238E27FC236}">
                <a16:creationId xmlns:a16="http://schemas.microsoft.com/office/drawing/2014/main" id="{656EDA54-3549-44A8-B437-48931E39D123}"/>
              </a:ext>
            </a:extLst>
          </p:cNvPr>
          <p:cNvSpPr>
            <a:spLocks noGrp="1"/>
          </p:cNvSpPr>
          <p:nvPr/>
        </p:nvSpPr>
        <p:spPr>
          <a:xfrm>
            <a:off x="5414435" y="3024312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112" name="MACRO__PRIOR_GRAPH__NODE_6">
            <a:extLst>
              <a:ext uri="{FF2B5EF4-FFF2-40B4-BE49-F238E27FC236}">
                <a16:creationId xmlns:a16="http://schemas.microsoft.com/office/drawing/2014/main" id="{7E2D8939-7D30-45C6-965D-B91ACB786DD3}"/>
              </a:ext>
            </a:extLst>
          </p:cNvPr>
          <p:cNvSpPr>
            <a:spLocks noGrp="1"/>
          </p:cNvSpPr>
          <p:nvPr/>
        </p:nvSpPr>
        <p:spPr>
          <a:xfrm>
            <a:off x="5271930" y="3069243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113" name="MACRO__PRIOR_LABEL">
            <a:extLst>
              <a:ext uri="{FF2B5EF4-FFF2-40B4-BE49-F238E27FC236}">
                <a16:creationId xmlns:a16="http://schemas.microsoft.com/office/drawing/2014/main" id="{D9A87194-387B-4ECC-B63B-2A763F411920}"/>
              </a:ext>
            </a:extLst>
          </p:cNvPr>
          <p:cNvSpPr>
            <a:spLocks noGrp="1"/>
          </p:cNvSpPr>
          <p:nvPr/>
        </p:nvSpPr>
        <p:spPr>
          <a:xfrm>
            <a:off x="4977253" y="3170370"/>
            <a:ext cx="668900" cy="3456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1F7772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1F7772"/>
                </a:solidFill>
                <a:latin typeface="Times New Roman"/>
                <a:ea typeface="Times New Roman"/>
                <a:cs typeface="Times New Roman"/>
              </a:rPr>
              <a:t>Macro Prior</a:t>
            </a:r>
          </a:p>
        </p:txBody>
      </p:sp>
      <p:sp>
        <p:nvSpPr>
          <p:cNvPr id="116" name="MACRO__E1__SYMBOL">
            <a:extLst>
              <a:ext uri="{FF2B5EF4-FFF2-40B4-BE49-F238E27FC236}">
                <a16:creationId xmlns:a16="http://schemas.microsoft.com/office/drawing/2014/main" id="{90808758-D20A-478A-BD54-D60989693924}"/>
              </a:ext>
            </a:extLst>
          </p:cNvPr>
          <p:cNvSpPr>
            <a:spLocks noGrp="1"/>
          </p:cNvSpPr>
          <p:nvPr/>
        </p:nvSpPr>
        <p:spPr>
          <a:xfrm>
            <a:off x="6295665" y="2456798"/>
            <a:ext cx="242355" cy="122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1" i="0">
                <a:solidFill>
                  <a:srgbClr val="785AA4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rPr>
              <a:t>E₁ᵐ</a:t>
            </a:r>
          </a:p>
        </p:txBody>
      </p:sp>
      <p:sp>
        <p:nvSpPr>
          <p:cNvPr id="117" name="MACRO__E1__CELL_0_0">
            <a:extLst>
              <a:ext uri="{FF2B5EF4-FFF2-40B4-BE49-F238E27FC236}">
                <a16:creationId xmlns:a16="http://schemas.microsoft.com/office/drawing/2014/main" id="{C8F39665-437D-4FBE-A7C7-069FB787C596}"/>
              </a:ext>
            </a:extLst>
          </p:cNvPr>
          <p:cNvSpPr>
            <a:spLocks noGrp="1"/>
          </p:cNvSpPr>
          <p:nvPr/>
        </p:nvSpPr>
        <p:spPr>
          <a:xfrm>
            <a:off x="6353831" y="2590593"/>
            <a:ext cx="39747" cy="45714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118" name="MACRO__E1__CELL_0_1">
            <a:extLst>
              <a:ext uri="{FF2B5EF4-FFF2-40B4-BE49-F238E27FC236}">
                <a16:creationId xmlns:a16="http://schemas.microsoft.com/office/drawing/2014/main" id="{CAC0F6BD-5B6F-42AF-B780-980C6B215952}"/>
              </a:ext>
            </a:extLst>
          </p:cNvPr>
          <p:cNvSpPr>
            <a:spLocks noGrp="1"/>
          </p:cNvSpPr>
          <p:nvPr/>
        </p:nvSpPr>
        <p:spPr>
          <a:xfrm>
            <a:off x="6404241" y="2590593"/>
            <a:ext cx="39747" cy="45714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119" name="MACRO__E1__CELL_0_2">
            <a:extLst>
              <a:ext uri="{FF2B5EF4-FFF2-40B4-BE49-F238E27FC236}">
                <a16:creationId xmlns:a16="http://schemas.microsoft.com/office/drawing/2014/main" id="{7A8CEB1E-5FF1-4C1C-8AA1-BB1AAC61E3AE}"/>
              </a:ext>
            </a:extLst>
          </p:cNvPr>
          <p:cNvSpPr>
            <a:spLocks noGrp="1"/>
          </p:cNvSpPr>
          <p:nvPr/>
        </p:nvSpPr>
        <p:spPr>
          <a:xfrm>
            <a:off x="6454650" y="2590593"/>
            <a:ext cx="39747" cy="45714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120" name="MACRO__E1__CELL_1_0">
            <a:extLst>
              <a:ext uri="{FF2B5EF4-FFF2-40B4-BE49-F238E27FC236}">
                <a16:creationId xmlns:a16="http://schemas.microsoft.com/office/drawing/2014/main" id="{154F76BF-C23F-4EAE-981B-5C313944FC39}"/>
              </a:ext>
            </a:extLst>
          </p:cNvPr>
          <p:cNvSpPr>
            <a:spLocks noGrp="1"/>
          </p:cNvSpPr>
          <p:nvPr/>
        </p:nvSpPr>
        <p:spPr>
          <a:xfrm>
            <a:off x="6353831" y="2648571"/>
            <a:ext cx="39747" cy="45714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121" name="MACRO__E1__CELL_1_1">
            <a:extLst>
              <a:ext uri="{FF2B5EF4-FFF2-40B4-BE49-F238E27FC236}">
                <a16:creationId xmlns:a16="http://schemas.microsoft.com/office/drawing/2014/main" id="{8B1E8C64-3AF1-43F2-B4E0-BEBF703E7D45}"/>
              </a:ext>
            </a:extLst>
          </p:cNvPr>
          <p:cNvSpPr>
            <a:spLocks noGrp="1"/>
          </p:cNvSpPr>
          <p:nvPr/>
        </p:nvSpPr>
        <p:spPr>
          <a:xfrm>
            <a:off x="6404241" y="2648571"/>
            <a:ext cx="39747" cy="45714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122" name="MACRO__E1__CELL_1_2">
            <a:extLst>
              <a:ext uri="{FF2B5EF4-FFF2-40B4-BE49-F238E27FC236}">
                <a16:creationId xmlns:a16="http://schemas.microsoft.com/office/drawing/2014/main" id="{2FF4A13A-94ED-413E-9DBA-2319F0AA72A3}"/>
              </a:ext>
            </a:extLst>
          </p:cNvPr>
          <p:cNvSpPr>
            <a:spLocks noGrp="1"/>
          </p:cNvSpPr>
          <p:nvPr/>
        </p:nvSpPr>
        <p:spPr>
          <a:xfrm>
            <a:off x="6454650" y="2648571"/>
            <a:ext cx="39747" cy="45714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123" name="MACRO__E2__SYMBOL">
            <a:extLst>
              <a:ext uri="{FF2B5EF4-FFF2-40B4-BE49-F238E27FC236}">
                <a16:creationId xmlns:a16="http://schemas.microsoft.com/office/drawing/2014/main" id="{1E2DF9A8-0FB8-4179-8499-9F8672B5F943}"/>
              </a:ext>
            </a:extLst>
          </p:cNvPr>
          <p:cNvSpPr>
            <a:spLocks noGrp="1"/>
          </p:cNvSpPr>
          <p:nvPr/>
        </p:nvSpPr>
        <p:spPr>
          <a:xfrm>
            <a:off x="6627854" y="2456798"/>
            <a:ext cx="242355" cy="1226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1" i="0">
                <a:solidFill>
                  <a:srgbClr val="785AA4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rPr>
              <a:t>E₂ᵐ</a:t>
            </a:r>
          </a:p>
        </p:txBody>
      </p:sp>
      <p:sp>
        <p:nvSpPr>
          <p:cNvPr id="124" name="MACRO__E2__CELL_0_0">
            <a:extLst>
              <a:ext uri="{FF2B5EF4-FFF2-40B4-BE49-F238E27FC236}">
                <a16:creationId xmlns:a16="http://schemas.microsoft.com/office/drawing/2014/main" id="{533CD6AC-1B9B-4B26-8127-8B3C81DD490B}"/>
              </a:ext>
            </a:extLst>
          </p:cNvPr>
          <p:cNvSpPr>
            <a:spLocks noGrp="1"/>
          </p:cNvSpPr>
          <p:nvPr/>
        </p:nvSpPr>
        <p:spPr>
          <a:xfrm>
            <a:off x="6683434" y="2590593"/>
            <a:ext cx="39747" cy="45714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125" name="MACRO__E2__CELL_0_1">
            <a:extLst>
              <a:ext uri="{FF2B5EF4-FFF2-40B4-BE49-F238E27FC236}">
                <a16:creationId xmlns:a16="http://schemas.microsoft.com/office/drawing/2014/main" id="{CF442985-F094-4CBD-86CF-1179BB1F5C5E}"/>
              </a:ext>
            </a:extLst>
          </p:cNvPr>
          <p:cNvSpPr>
            <a:spLocks noGrp="1"/>
          </p:cNvSpPr>
          <p:nvPr/>
        </p:nvSpPr>
        <p:spPr>
          <a:xfrm>
            <a:off x="6733844" y="2590593"/>
            <a:ext cx="39747" cy="45714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126" name="MACRO__E2__CELL_0_2">
            <a:extLst>
              <a:ext uri="{FF2B5EF4-FFF2-40B4-BE49-F238E27FC236}">
                <a16:creationId xmlns:a16="http://schemas.microsoft.com/office/drawing/2014/main" id="{00EE18EE-4615-4234-AE5F-88D881A00BD2}"/>
              </a:ext>
            </a:extLst>
          </p:cNvPr>
          <p:cNvSpPr>
            <a:spLocks noGrp="1"/>
          </p:cNvSpPr>
          <p:nvPr/>
        </p:nvSpPr>
        <p:spPr>
          <a:xfrm>
            <a:off x="6784254" y="2590593"/>
            <a:ext cx="39747" cy="45714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127" name="MACRO__E2__CELL_1_0">
            <a:extLst>
              <a:ext uri="{FF2B5EF4-FFF2-40B4-BE49-F238E27FC236}">
                <a16:creationId xmlns:a16="http://schemas.microsoft.com/office/drawing/2014/main" id="{752EB253-41B8-4FD9-A185-E1A6C29EBEA2}"/>
              </a:ext>
            </a:extLst>
          </p:cNvPr>
          <p:cNvSpPr>
            <a:spLocks noGrp="1"/>
          </p:cNvSpPr>
          <p:nvPr/>
        </p:nvSpPr>
        <p:spPr>
          <a:xfrm>
            <a:off x="6683434" y="2648571"/>
            <a:ext cx="39747" cy="45714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128" name="MACRO__E2__CELL_1_1">
            <a:extLst>
              <a:ext uri="{FF2B5EF4-FFF2-40B4-BE49-F238E27FC236}">
                <a16:creationId xmlns:a16="http://schemas.microsoft.com/office/drawing/2014/main" id="{CB892844-990A-4C65-B082-8902B3D966E8}"/>
              </a:ext>
            </a:extLst>
          </p:cNvPr>
          <p:cNvSpPr>
            <a:spLocks noGrp="1"/>
          </p:cNvSpPr>
          <p:nvPr/>
        </p:nvSpPr>
        <p:spPr>
          <a:xfrm>
            <a:off x="6733844" y="2648571"/>
            <a:ext cx="39747" cy="45714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129" name="MACRO__E2__CELL_1_2">
            <a:extLst>
              <a:ext uri="{FF2B5EF4-FFF2-40B4-BE49-F238E27FC236}">
                <a16:creationId xmlns:a16="http://schemas.microsoft.com/office/drawing/2014/main" id="{6EF5C73B-27D6-4558-AF02-642959AD40B0}"/>
              </a:ext>
            </a:extLst>
          </p:cNvPr>
          <p:cNvSpPr>
            <a:spLocks noGrp="1"/>
          </p:cNvSpPr>
          <p:nvPr/>
        </p:nvSpPr>
        <p:spPr>
          <a:xfrm>
            <a:off x="6784254" y="2648571"/>
            <a:ext cx="39747" cy="45714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130" name="MACRO__DE">
            <a:extLst>
              <a:ext uri="{FF2B5EF4-FFF2-40B4-BE49-F238E27FC236}">
                <a16:creationId xmlns:a16="http://schemas.microsoft.com/office/drawing/2014/main" id="{DD9A6529-4986-4B09-90F7-CEB1857F90F2}"/>
              </a:ext>
            </a:extLst>
          </p:cNvPr>
          <p:cNvSpPr>
            <a:spLocks noGrp="1"/>
          </p:cNvSpPr>
          <p:nvPr/>
        </p:nvSpPr>
        <p:spPr>
          <a:xfrm>
            <a:off x="6935483" y="2557144"/>
            <a:ext cx="348991" cy="1895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1" i="0">
                <a:solidFill>
                  <a:srgbClr val="6F7E87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dₑ = 10</a:t>
            </a:r>
          </a:p>
        </p:txBody>
      </p:sp>
      <p:sp>
        <p:nvSpPr>
          <p:cNvPr id="131" name="MACRO__EDGE_IMPORTANCE">
            <a:extLst>
              <a:ext uri="{FF2B5EF4-FFF2-40B4-BE49-F238E27FC236}">
                <a16:creationId xmlns:a16="http://schemas.microsoft.com/office/drawing/2014/main" id="{39017F68-E802-4238-86E9-6793F66B7EBA}"/>
              </a:ext>
            </a:extLst>
          </p:cNvPr>
          <p:cNvSpPr>
            <a:spLocks noGrp="1"/>
          </p:cNvSpPr>
          <p:nvPr/>
        </p:nvSpPr>
        <p:spPr>
          <a:xfrm>
            <a:off x="5562600" y="2628900"/>
            <a:ext cx="7810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Adaptive Edge</a:t>
            </a:r>
          </a:p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Importance</a:t>
            </a:r>
          </a:p>
        </p:txBody>
      </p:sp>
      <p:sp>
        <p:nvSpPr>
          <p:cNvPr id="132" name="MACRO__REWEIGHT_OPERATOR">
            <a:extLst>
              <a:ext uri="{FF2B5EF4-FFF2-40B4-BE49-F238E27FC236}">
                <a16:creationId xmlns:a16="http://schemas.microsoft.com/office/drawing/2014/main" id="{79D916DB-248B-4810-A0A4-6D8CEC865E03}"/>
              </a:ext>
            </a:extLst>
          </p:cNvPr>
          <p:cNvSpPr>
            <a:spLocks noGrp="1"/>
          </p:cNvSpPr>
          <p:nvPr/>
        </p:nvSpPr>
        <p:spPr>
          <a:xfrm>
            <a:off x="6460467" y="2824734"/>
            <a:ext cx="252049" cy="289889"/>
          </a:xfrm>
          <a:prstGeom prst="ellipse">
            <a:avLst/>
          </a:prstGeom>
          <a:solidFill>
            <a:srgbClr val="FFFFFF"/>
          </a:solidFill>
          <a:ln w="14288">
            <a:solidFill>
              <a:srgbClr val="785AA4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200">
                <a:solidFill>
                  <a:srgbClr val="785AA4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rPr>
              <a:t>⊙</a:t>
            </a:r>
          </a:p>
        </p:txBody>
      </p:sp>
      <p:sp>
        <p:nvSpPr>
          <p:cNvPr id="133" name="MACRO__REWEIGHT_LABEL">
            <a:extLst>
              <a:ext uri="{FF2B5EF4-FFF2-40B4-BE49-F238E27FC236}">
                <a16:creationId xmlns:a16="http://schemas.microsoft.com/office/drawing/2014/main" id="{4D0BB23A-7CA1-48BD-AEF9-F67BC8D756F3}"/>
              </a:ext>
            </a:extLst>
          </p:cNvPr>
          <p:cNvSpPr>
            <a:spLocks noGrp="1"/>
          </p:cNvSpPr>
          <p:nvPr/>
        </p:nvSpPr>
        <p:spPr>
          <a:xfrm>
            <a:off x="6024228" y="3170370"/>
            <a:ext cx="1134222" cy="3567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785AA4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rPr>
              <a:t>Prior-Constrained</a:t>
            </a:r>
          </a:p>
          <a:p>
            <a:pPr algn="ctr">
              <a:buNone/>
              <a:defRPr sz="713" b="1" i="0">
                <a:solidFill>
                  <a:srgbClr val="785AA4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rPr>
              <a:t>Re-weighting</a:t>
            </a:r>
          </a:p>
        </p:txBody>
      </p:sp>
      <p:sp>
        <p:nvSpPr>
          <p:cNvPr id="134" name="MACRO__ROW_NORM">
            <a:extLst>
              <a:ext uri="{FF2B5EF4-FFF2-40B4-BE49-F238E27FC236}">
                <a16:creationId xmlns:a16="http://schemas.microsoft.com/office/drawing/2014/main" id="{110AD9A1-C019-4A3B-A8B2-684AC3D7ED84}"/>
              </a:ext>
            </a:extLst>
          </p:cNvPr>
          <p:cNvSpPr>
            <a:spLocks noGrp="1"/>
          </p:cNvSpPr>
          <p:nvPr/>
        </p:nvSpPr>
        <p:spPr>
          <a:xfrm>
            <a:off x="6572250" y="268605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1" i="0">
                <a:solidFill>
                  <a:srgbClr val="6F7E87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Row normalization</a:t>
            </a:r>
          </a:p>
        </p:txBody>
      </p:sp>
      <p:sp>
        <p:nvSpPr>
          <p:cNvPr id="135" name="MACRO__EFFECTIVE_GRAPH__EDGE_1">
            <a:extLst>
              <a:ext uri="{FF2B5EF4-FFF2-40B4-BE49-F238E27FC236}">
                <a16:creationId xmlns:a16="http://schemas.microsoft.com/office/drawing/2014/main" id="{4E5CE6FE-56E6-4A2F-B255-C33CA3C71364}"/>
              </a:ext>
            </a:extLst>
          </p:cNvPr>
          <p:cNvSpPr>
            <a:spLocks noGrp="1"/>
          </p:cNvSpPr>
          <p:nvPr/>
        </p:nvSpPr>
        <p:spPr>
          <a:xfrm flipV="1">
            <a:off x="7573362" y="2839674"/>
            <a:ext cx="64466" cy="165906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36" name="MACRO__EFFECTIVE_GRAPH__EDGE_2">
            <a:extLst>
              <a:ext uri="{FF2B5EF4-FFF2-40B4-BE49-F238E27FC236}">
                <a16:creationId xmlns:a16="http://schemas.microsoft.com/office/drawing/2014/main" id="{79B0DEAF-380F-474D-BCA1-512D2710AE8B}"/>
              </a:ext>
            </a:extLst>
          </p:cNvPr>
          <p:cNvSpPr>
            <a:spLocks noGrp="1"/>
          </p:cNvSpPr>
          <p:nvPr/>
        </p:nvSpPr>
        <p:spPr>
          <a:xfrm flipV="1">
            <a:off x="7573362" y="2888063"/>
            <a:ext cx="169649" cy="117516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37" name="MACRO__EFFECTIVE_GRAPH__EDGE_3">
            <a:extLst>
              <a:ext uri="{FF2B5EF4-FFF2-40B4-BE49-F238E27FC236}">
                <a16:creationId xmlns:a16="http://schemas.microsoft.com/office/drawing/2014/main" id="{DA5D2D5B-82D7-42FC-9CB1-4E667FF9D839}"/>
              </a:ext>
            </a:extLst>
          </p:cNvPr>
          <p:cNvSpPr>
            <a:spLocks noGrp="1"/>
          </p:cNvSpPr>
          <p:nvPr/>
        </p:nvSpPr>
        <p:spPr>
          <a:xfrm>
            <a:off x="7573362" y="3005580"/>
            <a:ext cx="128933" cy="89866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38" name="MACRO__EFFECTIVE_GRAPH__EDGE_4">
            <a:extLst>
              <a:ext uri="{FF2B5EF4-FFF2-40B4-BE49-F238E27FC236}">
                <a16:creationId xmlns:a16="http://schemas.microsoft.com/office/drawing/2014/main" id="{021967E3-8799-4C98-8F7C-ABCCF2B97380}"/>
              </a:ext>
            </a:extLst>
          </p:cNvPr>
          <p:cNvSpPr>
            <a:spLocks noGrp="1"/>
          </p:cNvSpPr>
          <p:nvPr/>
        </p:nvSpPr>
        <p:spPr>
          <a:xfrm>
            <a:off x="7637828" y="2839674"/>
            <a:ext cx="105182" cy="48390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39" name="MACRO__EFFECTIVE_GRAPH__EDGE_5">
            <a:extLst>
              <a:ext uri="{FF2B5EF4-FFF2-40B4-BE49-F238E27FC236}">
                <a16:creationId xmlns:a16="http://schemas.microsoft.com/office/drawing/2014/main" id="{08B31FCF-2C6A-40DD-BE51-3A31A90FAB2C}"/>
              </a:ext>
            </a:extLst>
          </p:cNvPr>
          <p:cNvSpPr>
            <a:spLocks noGrp="1"/>
          </p:cNvSpPr>
          <p:nvPr/>
        </p:nvSpPr>
        <p:spPr>
          <a:xfrm flipV="1">
            <a:off x="7637828" y="2832762"/>
            <a:ext cx="200185" cy="6913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40" name="MACRO__EFFECTIVE_GRAPH__EDGE_6">
            <a:extLst>
              <a:ext uri="{FF2B5EF4-FFF2-40B4-BE49-F238E27FC236}">
                <a16:creationId xmlns:a16="http://schemas.microsoft.com/office/drawing/2014/main" id="{F2A1BBFD-DCF5-4EFE-B371-F5F9D6EC60FF}"/>
              </a:ext>
            </a:extLst>
          </p:cNvPr>
          <p:cNvSpPr>
            <a:spLocks noGrp="1"/>
          </p:cNvSpPr>
          <p:nvPr/>
        </p:nvSpPr>
        <p:spPr>
          <a:xfrm>
            <a:off x="7637828" y="2839674"/>
            <a:ext cx="64466" cy="255770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41" name="MACRO__EFFECTIVE_GRAPH__EDGE_7">
            <a:extLst>
              <a:ext uri="{FF2B5EF4-FFF2-40B4-BE49-F238E27FC236}">
                <a16:creationId xmlns:a16="http://schemas.microsoft.com/office/drawing/2014/main" id="{7C28DCD7-FBC6-4D52-852B-2CC14C8684C5}"/>
              </a:ext>
            </a:extLst>
          </p:cNvPr>
          <p:cNvSpPr>
            <a:spLocks noGrp="1"/>
          </p:cNvSpPr>
          <p:nvPr/>
        </p:nvSpPr>
        <p:spPr>
          <a:xfrm flipV="1">
            <a:off x="7743011" y="2832762"/>
            <a:ext cx="95003" cy="55302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42" name="MACRO__EFFECTIVE_GRAPH__EDGE_8">
            <a:extLst>
              <a:ext uri="{FF2B5EF4-FFF2-40B4-BE49-F238E27FC236}">
                <a16:creationId xmlns:a16="http://schemas.microsoft.com/office/drawing/2014/main" id="{89C4A5C2-D60A-4529-BBF7-81164782BDEF}"/>
              </a:ext>
            </a:extLst>
          </p:cNvPr>
          <p:cNvSpPr>
            <a:spLocks noGrp="1"/>
          </p:cNvSpPr>
          <p:nvPr/>
        </p:nvSpPr>
        <p:spPr>
          <a:xfrm>
            <a:off x="7743011" y="2888063"/>
            <a:ext cx="101790" cy="162449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43" name="MACRO__EFFECTIVE_GRAPH__EDGE_9">
            <a:extLst>
              <a:ext uri="{FF2B5EF4-FFF2-40B4-BE49-F238E27FC236}">
                <a16:creationId xmlns:a16="http://schemas.microsoft.com/office/drawing/2014/main" id="{590405D6-E8ED-49CC-95E8-45DC2C2A92CE}"/>
              </a:ext>
            </a:extLst>
          </p:cNvPr>
          <p:cNvSpPr>
            <a:spLocks noGrp="1"/>
          </p:cNvSpPr>
          <p:nvPr/>
        </p:nvSpPr>
        <p:spPr>
          <a:xfrm flipH="1">
            <a:off x="7702296" y="2888063"/>
            <a:ext cx="40716" cy="207382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44" name="MACRO__EFFECTIVE_GRAPH__EDGE_10">
            <a:extLst>
              <a:ext uri="{FF2B5EF4-FFF2-40B4-BE49-F238E27FC236}">
                <a16:creationId xmlns:a16="http://schemas.microsoft.com/office/drawing/2014/main" id="{B87406A5-906A-4720-A3D7-185ADC4E76CB}"/>
              </a:ext>
            </a:extLst>
          </p:cNvPr>
          <p:cNvSpPr>
            <a:spLocks noGrp="1"/>
          </p:cNvSpPr>
          <p:nvPr/>
        </p:nvSpPr>
        <p:spPr>
          <a:xfrm>
            <a:off x="7838014" y="2832762"/>
            <a:ext cx="6785" cy="217751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45" name="MACRO__EFFECTIVE_GRAPH__EDGE_11">
            <a:extLst>
              <a:ext uri="{FF2B5EF4-FFF2-40B4-BE49-F238E27FC236}">
                <a16:creationId xmlns:a16="http://schemas.microsoft.com/office/drawing/2014/main" id="{B9987814-8372-4ADD-A2EF-89AB43F572AC}"/>
              </a:ext>
            </a:extLst>
          </p:cNvPr>
          <p:cNvSpPr>
            <a:spLocks noGrp="1"/>
          </p:cNvSpPr>
          <p:nvPr/>
        </p:nvSpPr>
        <p:spPr>
          <a:xfrm flipH="1">
            <a:off x="7702296" y="3050512"/>
            <a:ext cx="142504" cy="44933"/>
          </a:xfrm>
          <a:prstGeom prst="line">
            <a:avLst/>
          </a:prstGeom>
          <a:noFill/>
          <a:ln w="10954">
            <a:solidFill>
              <a:srgbClr val="248C86"/>
            </a:solidFill>
            <a:prstDash val="solid"/>
          </a:ln>
        </p:spPr>
      </p:sp>
      <p:sp>
        <p:nvSpPr>
          <p:cNvPr id="146" name="MACRO__EFFECTIVE_GRAPH__NODE_1">
            <a:extLst>
              <a:ext uri="{FF2B5EF4-FFF2-40B4-BE49-F238E27FC236}">
                <a16:creationId xmlns:a16="http://schemas.microsoft.com/office/drawing/2014/main" id="{EF12E31C-262F-4F6A-A1DC-4B841790298F}"/>
              </a:ext>
            </a:extLst>
          </p:cNvPr>
          <p:cNvSpPr>
            <a:spLocks noGrp="1"/>
          </p:cNvSpPr>
          <p:nvPr/>
        </p:nvSpPr>
        <p:spPr>
          <a:xfrm>
            <a:off x="7547160" y="2979379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147" name="MACRO__EFFECTIVE_GRAPH__NODE_2">
            <a:extLst>
              <a:ext uri="{FF2B5EF4-FFF2-40B4-BE49-F238E27FC236}">
                <a16:creationId xmlns:a16="http://schemas.microsoft.com/office/drawing/2014/main" id="{245ABFF5-2DF2-47C3-8C0F-5A11B03BA5E1}"/>
              </a:ext>
            </a:extLst>
          </p:cNvPr>
          <p:cNvSpPr>
            <a:spLocks noGrp="1"/>
          </p:cNvSpPr>
          <p:nvPr/>
        </p:nvSpPr>
        <p:spPr>
          <a:xfrm>
            <a:off x="7611628" y="2813473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148" name="MACRO__EFFECTIVE_GRAPH__NODE_3">
            <a:extLst>
              <a:ext uri="{FF2B5EF4-FFF2-40B4-BE49-F238E27FC236}">
                <a16:creationId xmlns:a16="http://schemas.microsoft.com/office/drawing/2014/main" id="{D2A6F0AE-032F-4121-9D66-D9E17D72C186}"/>
              </a:ext>
            </a:extLst>
          </p:cNvPr>
          <p:cNvSpPr>
            <a:spLocks noGrp="1"/>
          </p:cNvSpPr>
          <p:nvPr/>
        </p:nvSpPr>
        <p:spPr>
          <a:xfrm>
            <a:off x="7716809" y="2861862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149" name="MACRO__EFFECTIVE_GRAPH__NODE_4">
            <a:extLst>
              <a:ext uri="{FF2B5EF4-FFF2-40B4-BE49-F238E27FC236}">
                <a16:creationId xmlns:a16="http://schemas.microsoft.com/office/drawing/2014/main" id="{0B4E6C86-9777-4167-AA63-8A4D73C0B2C3}"/>
              </a:ext>
            </a:extLst>
          </p:cNvPr>
          <p:cNvSpPr>
            <a:spLocks noGrp="1"/>
          </p:cNvSpPr>
          <p:nvPr/>
        </p:nvSpPr>
        <p:spPr>
          <a:xfrm>
            <a:off x="7811813" y="2806560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150" name="MACRO__EFFECTIVE_GRAPH__NODE_5">
            <a:extLst>
              <a:ext uri="{FF2B5EF4-FFF2-40B4-BE49-F238E27FC236}">
                <a16:creationId xmlns:a16="http://schemas.microsoft.com/office/drawing/2014/main" id="{20B62FCE-5EA8-4D70-A119-B3B0C9A07398}"/>
              </a:ext>
            </a:extLst>
          </p:cNvPr>
          <p:cNvSpPr>
            <a:spLocks noGrp="1"/>
          </p:cNvSpPr>
          <p:nvPr/>
        </p:nvSpPr>
        <p:spPr>
          <a:xfrm>
            <a:off x="7818598" y="3024312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151" name="MACRO__EFFECTIVE_GRAPH__NODE_6">
            <a:extLst>
              <a:ext uri="{FF2B5EF4-FFF2-40B4-BE49-F238E27FC236}">
                <a16:creationId xmlns:a16="http://schemas.microsoft.com/office/drawing/2014/main" id="{BD4018E1-F252-41D9-8AB4-1A0E1F9413B9}"/>
              </a:ext>
            </a:extLst>
          </p:cNvPr>
          <p:cNvSpPr>
            <a:spLocks noGrp="1"/>
          </p:cNvSpPr>
          <p:nvPr/>
        </p:nvSpPr>
        <p:spPr>
          <a:xfrm>
            <a:off x="7676094" y="3069243"/>
            <a:ext cx="52404" cy="52404"/>
          </a:xfrm>
          <a:prstGeom prst="ellipse">
            <a:avLst/>
          </a:prstGeom>
          <a:solidFill>
            <a:srgbClr val="FFFFFF"/>
          </a:solidFill>
          <a:ln w="10954">
            <a:solidFill>
              <a:srgbClr val="248C86"/>
            </a:solidFill>
            <a:prstDash val="solid"/>
          </a:ln>
        </p:spPr>
      </p:sp>
      <p:sp>
        <p:nvSpPr>
          <p:cNvPr id="152" name="MACRO__EFFECTIVE_LABEL">
            <a:extLst>
              <a:ext uri="{FF2B5EF4-FFF2-40B4-BE49-F238E27FC236}">
                <a16:creationId xmlns:a16="http://schemas.microsoft.com/office/drawing/2014/main" id="{EF8C7403-41EB-4ED5-91CC-8EDEB2592E88}"/>
              </a:ext>
            </a:extLst>
          </p:cNvPr>
          <p:cNvSpPr>
            <a:spLocks noGrp="1"/>
          </p:cNvSpPr>
          <p:nvPr/>
        </p:nvSpPr>
        <p:spPr>
          <a:xfrm>
            <a:off x="7443008" y="3170370"/>
            <a:ext cx="578228" cy="37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1F7772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1F7772"/>
                </a:solidFill>
                <a:latin typeface="Times New Roman"/>
                <a:ea typeface="Times New Roman"/>
                <a:cs typeface="Times New Roman"/>
              </a:rPr>
              <a:t>Macro Effective</a:t>
            </a:r>
          </a:p>
          <a:p>
            <a:pPr algn="ctr">
              <a:buNone/>
              <a:defRPr sz="713" b="1" i="0">
                <a:solidFill>
                  <a:srgbClr val="1F7772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1F7772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153" name="MICRO__LANE_TITLE">
            <a:extLst>
              <a:ext uri="{FF2B5EF4-FFF2-40B4-BE49-F238E27FC236}">
                <a16:creationId xmlns:a16="http://schemas.microsoft.com/office/drawing/2014/main" id="{888A3E38-530D-4DD5-9D1F-EA307709C3D1}"/>
              </a:ext>
            </a:extLst>
          </p:cNvPr>
          <p:cNvSpPr>
            <a:spLocks noGrp="1"/>
          </p:cNvSpPr>
          <p:nvPr/>
        </p:nvSpPr>
        <p:spPr>
          <a:xfrm>
            <a:off x="236785" y="558908"/>
            <a:ext cx="2326610" cy="2649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900" b="1" i="0">
                <a:solidFill>
                  <a:srgbClr val="C76520"/>
                </a:solidFill>
                <a:latin typeface="Arial"/>
                <a:ea typeface="Arial"/>
                <a:cs typeface="Arial"/>
              </a:defRPr>
            </a:pPr>
            <a:r>
              <a:rPr sz="1200" b="1" i="1">
                <a:solidFill>
                  <a:srgbClr val="C76520"/>
                </a:solidFill>
                <a:latin typeface="Times New Roman"/>
                <a:ea typeface="Times New Roman"/>
                <a:cs typeface="Times New Roman"/>
              </a:rPr>
              <a:t>Micro Semantic Prior</a:t>
            </a:r>
          </a:p>
        </p:txBody>
      </p:sp>
      <p:sp>
        <p:nvSpPr>
          <p:cNvPr id="154" name="MICRO__TITLE_MARK">
            <a:extLst>
              <a:ext uri="{FF2B5EF4-FFF2-40B4-BE49-F238E27FC236}">
                <a16:creationId xmlns:a16="http://schemas.microsoft.com/office/drawing/2014/main" id="{A46EC9D6-9845-4EEB-88AB-9B853E0446C4}"/>
              </a:ext>
            </a:extLst>
          </p:cNvPr>
          <p:cNvSpPr>
            <a:spLocks noGrp="1"/>
          </p:cNvSpPr>
          <p:nvPr/>
        </p:nvSpPr>
        <p:spPr>
          <a:xfrm>
            <a:off x="159232" y="636176"/>
            <a:ext cx="29083" cy="121421"/>
          </a:xfrm>
          <a:prstGeom prst="rect">
            <a:avLst/>
          </a:prstGeom>
          <a:solidFill>
            <a:srgbClr val="DE7A2E"/>
          </a:solidFill>
          <a:ln w="0">
            <a:noFill/>
            <a:prstDash val="solid"/>
          </a:ln>
        </p:spPr>
      </p:sp>
      <p:sp>
        <p:nvSpPr>
          <p:cNvPr id="155" name="MICRO__INPUT_ICON">
            <a:extLst>
              <a:ext uri="{FF2B5EF4-FFF2-40B4-BE49-F238E27FC236}">
                <a16:creationId xmlns:a16="http://schemas.microsoft.com/office/drawing/2014/main" id="{BABE0E66-D17A-42DC-A5DB-FF5E34242AD4}"/>
              </a:ext>
            </a:extLst>
          </p:cNvPr>
          <p:cNvSpPr>
            <a:spLocks noGrp="1"/>
          </p:cNvSpPr>
          <p:nvPr/>
        </p:nvSpPr>
        <p:spPr>
          <a:xfrm>
            <a:off x="265868" y="859149"/>
            <a:ext cx="407157" cy="275956"/>
          </a:xfrm>
          <a:custGeom>
            <a:avLst/>
            <a:gdLst/>
            <a:ahLst/>
            <a:cxnLst/>
            <a:rect l="0" t="0" r="0" b="0"/>
            <a:pathLst>
              <a:path w="400050" h="238125">
                <a:moveTo>
                  <a:pt x="0" y="147638"/>
                </a:moveTo>
                <a:lnTo>
                  <a:pt x="56007" y="47625"/>
                </a:lnTo>
                <a:lnTo>
                  <a:pt x="116015" y="171450"/>
                </a:lnTo>
                <a:lnTo>
                  <a:pt x="180023" y="66675"/>
                </a:lnTo>
                <a:lnTo>
                  <a:pt x="244031" y="185738"/>
                </a:lnTo>
                <a:lnTo>
                  <a:pt x="312039" y="54769"/>
                </a:lnTo>
                <a:lnTo>
                  <a:pt x="364046" y="114300"/>
                </a:lnTo>
                <a:lnTo>
                  <a:pt x="400050" y="71438"/>
                </a:lnTo>
              </a:path>
            </a:pathLst>
          </a:custGeom>
          <a:noFill/>
          <a:ln w="18098">
            <a:solidFill>
              <a:srgbClr val="DE7A2E"/>
            </a:solidFill>
            <a:prstDash val="solid"/>
          </a:ln>
        </p:spPr>
      </p:sp>
      <p:sp>
        <p:nvSpPr>
          <p:cNvPr id="156" name="MICRO__INPUT_LABEL">
            <a:extLst>
              <a:ext uri="{FF2B5EF4-FFF2-40B4-BE49-F238E27FC236}">
                <a16:creationId xmlns:a16="http://schemas.microsoft.com/office/drawing/2014/main" id="{75B39FB5-3B9B-473E-B7B6-480E3EC35306}"/>
              </a:ext>
            </a:extLst>
          </p:cNvPr>
          <p:cNvSpPr>
            <a:spLocks noGrp="1"/>
          </p:cNvSpPr>
          <p:nvPr/>
        </p:nvSpPr>
        <p:spPr>
          <a:xfrm>
            <a:off x="120455" y="1165129"/>
            <a:ext cx="697983" cy="1986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C76520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Wspd</a:t>
            </a:r>
            <a:endParaRPr sz="800" b="1" i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7" name="MICRO__TRAIN_ONLY">
            <a:extLst>
              <a:ext uri="{FF2B5EF4-FFF2-40B4-BE49-F238E27FC236}">
                <a16:creationId xmlns:a16="http://schemas.microsoft.com/office/drawing/2014/main" id="{B2E3C266-19B4-4CDD-B00B-2B17248D9634}"/>
              </a:ext>
            </a:extLst>
          </p:cNvPr>
          <p:cNvSpPr>
            <a:spLocks noGrp="1"/>
          </p:cNvSpPr>
          <p:nvPr/>
        </p:nvSpPr>
        <p:spPr>
          <a:xfrm>
            <a:off x="198009" y="1350571"/>
            <a:ext cx="542876" cy="154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0" i="0">
                <a:solidFill>
                  <a:srgbClr val="6F7E87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train-only</a:t>
            </a:r>
          </a:p>
        </p:txBody>
      </p:sp>
      <p:sp>
        <p:nvSpPr>
          <p:cNvPr id="158" name="MICRO__TRANSFORM_RAW">
            <a:extLst>
              <a:ext uri="{FF2B5EF4-FFF2-40B4-BE49-F238E27FC236}">
                <a16:creationId xmlns:a16="http://schemas.microsoft.com/office/drawing/2014/main" id="{BDC8692B-DF4A-4FC4-97E9-CB067DE2B937}"/>
              </a:ext>
            </a:extLst>
          </p:cNvPr>
          <p:cNvSpPr>
            <a:spLocks noGrp="1"/>
          </p:cNvSpPr>
          <p:nvPr/>
        </p:nvSpPr>
        <p:spPr>
          <a:xfrm>
            <a:off x="934768" y="881225"/>
            <a:ext cx="174496" cy="231803"/>
          </a:xfrm>
          <a:custGeom>
            <a:avLst/>
            <a:gdLst/>
            <a:ahLst/>
            <a:cxnLst/>
            <a:rect l="0" t="0" r="0" b="0"/>
            <a:pathLst>
              <a:path w="171450" h="200025">
                <a:moveTo>
                  <a:pt x="0" y="124016"/>
                </a:moveTo>
                <a:lnTo>
                  <a:pt x="24003" y="40005"/>
                </a:lnTo>
                <a:lnTo>
                  <a:pt x="49721" y="144018"/>
                </a:lnTo>
                <a:lnTo>
                  <a:pt x="77153" y="56007"/>
                </a:lnTo>
                <a:lnTo>
                  <a:pt x="104585" y="156020"/>
                </a:lnTo>
                <a:lnTo>
                  <a:pt x="133731" y="46006"/>
                </a:lnTo>
                <a:lnTo>
                  <a:pt x="156020" y="96012"/>
                </a:lnTo>
                <a:lnTo>
                  <a:pt x="171450" y="60008"/>
                </a:lnTo>
              </a:path>
            </a:pathLst>
          </a:custGeom>
          <a:noFill/>
          <a:ln w="14764">
            <a:solidFill>
              <a:srgbClr val="DE7A2E"/>
            </a:solidFill>
            <a:prstDash val="solid"/>
          </a:ln>
        </p:spPr>
      </p:sp>
      <p:sp>
        <p:nvSpPr>
          <p:cNvPr id="159" name="MICRO__TRANSFORM_OUT">
            <a:extLst>
              <a:ext uri="{FF2B5EF4-FFF2-40B4-BE49-F238E27FC236}">
                <a16:creationId xmlns:a16="http://schemas.microsoft.com/office/drawing/2014/main" id="{FE8F80AD-DE15-4EC4-8D19-029843E917AC}"/>
              </a:ext>
            </a:extLst>
          </p:cNvPr>
          <p:cNvSpPr>
            <a:spLocks noGrp="1"/>
          </p:cNvSpPr>
          <p:nvPr/>
        </p:nvSpPr>
        <p:spPr>
          <a:xfrm>
            <a:off x="1225595" y="881225"/>
            <a:ext cx="184190" cy="231803"/>
          </a:xfrm>
          <a:custGeom>
            <a:avLst/>
            <a:gdLst/>
            <a:ahLst/>
            <a:cxnLst/>
            <a:rect l="0" t="0" r="0" b="0"/>
            <a:pathLst>
              <a:path w="180975" h="200025">
                <a:moveTo>
                  <a:pt x="0" y="84011"/>
                </a:moveTo>
                <a:lnTo>
                  <a:pt x="21717" y="152019"/>
                </a:lnTo>
                <a:lnTo>
                  <a:pt x="41624" y="36005"/>
                </a:lnTo>
                <a:lnTo>
                  <a:pt x="61532" y="142018"/>
                </a:lnTo>
                <a:lnTo>
                  <a:pt x="85058" y="52007"/>
                </a:lnTo>
                <a:lnTo>
                  <a:pt x="106775" y="164021"/>
                </a:lnTo>
                <a:lnTo>
                  <a:pt x="130302" y="40005"/>
                </a:lnTo>
                <a:lnTo>
                  <a:pt x="155639" y="124016"/>
                </a:lnTo>
                <a:lnTo>
                  <a:pt x="180975" y="70009"/>
                </a:lnTo>
              </a:path>
            </a:pathLst>
          </a:custGeom>
          <a:noFill/>
          <a:ln w="16669">
            <a:solidFill>
              <a:srgbClr val="DE7A2E"/>
            </a:solidFill>
            <a:prstDash val="solid"/>
          </a:ln>
        </p:spPr>
      </p:sp>
      <p:sp>
        <p:nvSpPr>
          <p:cNvPr id="160" name="MICRO__TRANSFORM_LABEL">
            <a:extLst>
              <a:ext uri="{FF2B5EF4-FFF2-40B4-BE49-F238E27FC236}">
                <a16:creationId xmlns:a16="http://schemas.microsoft.com/office/drawing/2014/main" id="{6BB0412C-15DD-4AA1-8509-8D411CCD8C60}"/>
              </a:ext>
            </a:extLst>
          </p:cNvPr>
          <p:cNvSpPr>
            <a:spLocks noGrp="1"/>
          </p:cNvSpPr>
          <p:nvPr/>
        </p:nvSpPr>
        <p:spPr>
          <a:xfrm>
            <a:off x="808744" y="1168219"/>
            <a:ext cx="727066" cy="37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1st-Order</a:t>
            </a:r>
          </a:p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Difference</a:t>
            </a:r>
          </a:p>
        </p:txBody>
      </p:sp>
      <p:sp>
        <p:nvSpPr>
          <p:cNvPr id="161" name="MICRO__SIM_A">
            <a:extLst>
              <a:ext uri="{FF2B5EF4-FFF2-40B4-BE49-F238E27FC236}">
                <a16:creationId xmlns:a16="http://schemas.microsoft.com/office/drawing/2014/main" id="{622100B0-224A-410C-8023-2ABFAFDB42C1}"/>
              </a:ext>
            </a:extLst>
          </p:cNvPr>
          <p:cNvSpPr>
            <a:spLocks noGrp="1"/>
          </p:cNvSpPr>
          <p:nvPr/>
        </p:nvSpPr>
        <p:spPr>
          <a:xfrm>
            <a:off x="1758776" y="903302"/>
            <a:ext cx="213273" cy="187650"/>
          </a:xfrm>
          <a:custGeom>
            <a:avLst/>
            <a:gdLst/>
            <a:ahLst/>
            <a:cxnLst/>
            <a:rect l="0" t="0" r="0" b="0"/>
            <a:pathLst>
              <a:path w="209550" h="161925">
                <a:moveTo>
                  <a:pt x="0" y="68009"/>
                </a:moveTo>
                <a:lnTo>
                  <a:pt x="25146" y="123063"/>
                </a:lnTo>
                <a:lnTo>
                  <a:pt x="48197" y="29147"/>
                </a:lnTo>
                <a:lnTo>
                  <a:pt x="71247" y="114967"/>
                </a:lnTo>
                <a:lnTo>
                  <a:pt x="98489" y="42101"/>
                </a:lnTo>
                <a:lnTo>
                  <a:pt x="123634" y="132779"/>
                </a:lnTo>
                <a:lnTo>
                  <a:pt x="150876" y="32385"/>
                </a:lnTo>
                <a:lnTo>
                  <a:pt x="180213" y="100393"/>
                </a:lnTo>
                <a:lnTo>
                  <a:pt x="209550" y="56674"/>
                </a:lnTo>
              </a:path>
            </a:pathLst>
          </a:custGeom>
          <a:noFill/>
          <a:ln w="13811">
            <a:solidFill>
              <a:srgbClr val="DE7A2E"/>
            </a:solidFill>
            <a:prstDash val="solid"/>
          </a:ln>
        </p:spPr>
      </p:sp>
      <p:sp>
        <p:nvSpPr>
          <p:cNvPr id="162" name="MICRO__SIM_SYMBOL">
            <a:extLst>
              <a:ext uri="{FF2B5EF4-FFF2-40B4-BE49-F238E27FC236}">
                <a16:creationId xmlns:a16="http://schemas.microsoft.com/office/drawing/2014/main" id="{78B168AE-F50F-45AF-8F8F-40E12A991F13}"/>
              </a:ext>
            </a:extLst>
          </p:cNvPr>
          <p:cNvSpPr>
            <a:spLocks noGrp="1"/>
          </p:cNvSpPr>
          <p:nvPr/>
        </p:nvSpPr>
        <p:spPr>
          <a:xfrm>
            <a:off x="1981743" y="859149"/>
            <a:ext cx="232661" cy="2538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DE7A2E"/>
                </a:solidFill>
                <a:latin typeface="Arial"/>
                <a:ea typeface="Arial"/>
                <a:cs typeface="Arial"/>
              </a:defRPr>
            </a:pPr>
            <a:r>
              <a:rPr sz="1163" b="0" i="0">
                <a:solidFill>
                  <a:srgbClr val="DE7A2E"/>
                </a:solidFill>
                <a:latin typeface="Times New Roman"/>
                <a:ea typeface="Times New Roman"/>
                <a:cs typeface="Times New Roman"/>
              </a:rPr>
              <a:t>cos</a:t>
            </a:r>
          </a:p>
        </p:txBody>
      </p:sp>
      <p:sp>
        <p:nvSpPr>
          <p:cNvPr id="163" name="MICRO__SIM_B">
            <a:extLst>
              <a:ext uri="{FF2B5EF4-FFF2-40B4-BE49-F238E27FC236}">
                <a16:creationId xmlns:a16="http://schemas.microsoft.com/office/drawing/2014/main" id="{AD0C0AD5-25E3-489B-98A5-A82231481292}"/>
              </a:ext>
            </a:extLst>
          </p:cNvPr>
          <p:cNvSpPr>
            <a:spLocks noGrp="1"/>
          </p:cNvSpPr>
          <p:nvPr/>
        </p:nvSpPr>
        <p:spPr>
          <a:xfrm>
            <a:off x="2214404" y="903302"/>
            <a:ext cx="213273" cy="187650"/>
          </a:xfrm>
          <a:custGeom>
            <a:avLst/>
            <a:gdLst/>
            <a:ahLst/>
            <a:cxnLst/>
            <a:rect l="0" t="0" r="0" b="0"/>
            <a:pathLst>
              <a:path w="209550" h="161925">
                <a:moveTo>
                  <a:pt x="0" y="68009"/>
                </a:moveTo>
                <a:lnTo>
                  <a:pt x="25146" y="123063"/>
                </a:lnTo>
                <a:lnTo>
                  <a:pt x="48197" y="29147"/>
                </a:lnTo>
                <a:lnTo>
                  <a:pt x="71247" y="114967"/>
                </a:lnTo>
                <a:lnTo>
                  <a:pt x="98489" y="42101"/>
                </a:lnTo>
                <a:lnTo>
                  <a:pt x="123634" y="132779"/>
                </a:lnTo>
                <a:lnTo>
                  <a:pt x="150876" y="32385"/>
                </a:lnTo>
                <a:lnTo>
                  <a:pt x="180213" y="100393"/>
                </a:lnTo>
                <a:lnTo>
                  <a:pt x="209550" y="56674"/>
                </a:lnTo>
              </a:path>
            </a:pathLst>
          </a:custGeom>
          <a:noFill/>
          <a:ln w="13811">
            <a:solidFill>
              <a:srgbClr val="DE7A2E"/>
            </a:solidFill>
            <a:prstDash val="solid"/>
          </a:ln>
        </p:spPr>
      </p:sp>
      <p:sp>
        <p:nvSpPr>
          <p:cNvPr id="164" name="MICRO__SIM_LABEL">
            <a:extLst>
              <a:ext uri="{FF2B5EF4-FFF2-40B4-BE49-F238E27FC236}">
                <a16:creationId xmlns:a16="http://schemas.microsoft.com/office/drawing/2014/main" id="{9A9DA6C6-D7CA-445F-843D-B2E3CA78F9DE}"/>
              </a:ext>
            </a:extLst>
          </p:cNvPr>
          <p:cNvSpPr>
            <a:spLocks noGrp="1"/>
          </p:cNvSpPr>
          <p:nvPr/>
        </p:nvSpPr>
        <p:spPr>
          <a:xfrm>
            <a:off x="1564892" y="1120793"/>
            <a:ext cx="1226640" cy="4558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Cosine Similarity on</a:t>
            </a:r>
          </a:p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1st-Order Difference</a:t>
            </a:r>
          </a:p>
        </p:txBody>
      </p:sp>
      <p:sp>
        <p:nvSpPr>
          <p:cNvPr id="165" name="MICRO__K">
            <a:extLst>
              <a:ext uri="{FF2B5EF4-FFF2-40B4-BE49-F238E27FC236}">
                <a16:creationId xmlns:a16="http://schemas.microsoft.com/office/drawing/2014/main" id="{28341F40-010B-411A-8360-C440277D7360}"/>
              </a:ext>
            </a:extLst>
          </p:cNvPr>
          <p:cNvSpPr>
            <a:spLocks noGrp="1"/>
          </p:cNvSpPr>
          <p:nvPr/>
        </p:nvSpPr>
        <p:spPr>
          <a:xfrm>
            <a:off x="3034146" y="682095"/>
            <a:ext cx="465322" cy="1655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1" i="0">
                <a:solidFill>
                  <a:srgbClr val="6F7E87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K = 5</a:t>
            </a:r>
          </a:p>
        </p:txBody>
      </p:sp>
      <p:sp>
        <p:nvSpPr>
          <p:cNvPr id="166" name="MICRO__SPARSE_GRAPH__EDGE_1">
            <a:extLst>
              <a:ext uri="{FF2B5EF4-FFF2-40B4-BE49-F238E27FC236}">
                <a16:creationId xmlns:a16="http://schemas.microsoft.com/office/drawing/2014/main" id="{C3F0828C-14F6-4523-AC32-0CE6D84299A7}"/>
              </a:ext>
            </a:extLst>
          </p:cNvPr>
          <p:cNvSpPr>
            <a:spLocks noGrp="1"/>
          </p:cNvSpPr>
          <p:nvPr/>
        </p:nvSpPr>
        <p:spPr>
          <a:xfrm flipV="1">
            <a:off x="3104332" y="873940"/>
            <a:ext cx="64466" cy="164249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67" name="MICRO__SPARSE_GRAPH__EDGE_2">
            <a:extLst>
              <a:ext uri="{FF2B5EF4-FFF2-40B4-BE49-F238E27FC236}">
                <a16:creationId xmlns:a16="http://schemas.microsoft.com/office/drawing/2014/main" id="{D49BAF7B-A68A-44E5-B2B1-B82C88ECAF2A}"/>
              </a:ext>
            </a:extLst>
          </p:cNvPr>
          <p:cNvSpPr>
            <a:spLocks noGrp="1"/>
          </p:cNvSpPr>
          <p:nvPr/>
        </p:nvSpPr>
        <p:spPr>
          <a:xfrm flipV="1">
            <a:off x="3104332" y="921846"/>
            <a:ext cx="169649" cy="116344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68" name="MICRO__SPARSE_GRAPH__EDGE_3">
            <a:extLst>
              <a:ext uri="{FF2B5EF4-FFF2-40B4-BE49-F238E27FC236}">
                <a16:creationId xmlns:a16="http://schemas.microsoft.com/office/drawing/2014/main" id="{1F6AB470-3830-470F-8227-869D791683F4}"/>
              </a:ext>
            </a:extLst>
          </p:cNvPr>
          <p:cNvSpPr>
            <a:spLocks noGrp="1"/>
          </p:cNvSpPr>
          <p:nvPr/>
        </p:nvSpPr>
        <p:spPr>
          <a:xfrm>
            <a:off x="3104332" y="1038189"/>
            <a:ext cx="128933" cy="88968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69" name="MICRO__SPARSE_GRAPH__EDGE_4">
            <a:extLst>
              <a:ext uri="{FF2B5EF4-FFF2-40B4-BE49-F238E27FC236}">
                <a16:creationId xmlns:a16="http://schemas.microsoft.com/office/drawing/2014/main" id="{00930F06-B17B-43BA-A5D2-10C78ECD556D}"/>
              </a:ext>
            </a:extLst>
          </p:cNvPr>
          <p:cNvSpPr>
            <a:spLocks noGrp="1"/>
          </p:cNvSpPr>
          <p:nvPr/>
        </p:nvSpPr>
        <p:spPr>
          <a:xfrm>
            <a:off x="3168798" y="873940"/>
            <a:ext cx="105182" cy="47907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70" name="MICRO__SPARSE_GRAPH__EDGE_5">
            <a:extLst>
              <a:ext uri="{FF2B5EF4-FFF2-40B4-BE49-F238E27FC236}">
                <a16:creationId xmlns:a16="http://schemas.microsoft.com/office/drawing/2014/main" id="{A4D59F79-3F4A-4347-9AFD-7C23B923E040}"/>
              </a:ext>
            </a:extLst>
          </p:cNvPr>
          <p:cNvSpPr>
            <a:spLocks noGrp="1"/>
          </p:cNvSpPr>
          <p:nvPr/>
        </p:nvSpPr>
        <p:spPr>
          <a:xfrm>
            <a:off x="3168798" y="873940"/>
            <a:ext cx="64466" cy="253217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71" name="MICRO__SPARSE_GRAPH__EDGE_6">
            <a:extLst>
              <a:ext uri="{FF2B5EF4-FFF2-40B4-BE49-F238E27FC236}">
                <a16:creationId xmlns:a16="http://schemas.microsoft.com/office/drawing/2014/main" id="{5E7C5B57-E8B4-43F0-BD81-047EC36BF81F}"/>
              </a:ext>
            </a:extLst>
          </p:cNvPr>
          <p:cNvSpPr>
            <a:spLocks noGrp="1"/>
          </p:cNvSpPr>
          <p:nvPr/>
        </p:nvSpPr>
        <p:spPr>
          <a:xfrm flipV="1">
            <a:off x="3273981" y="867096"/>
            <a:ext cx="95003" cy="54750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72" name="MICRO__SPARSE_GRAPH__EDGE_7">
            <a:extLst>
              <a:ext uri="{FF2B5EF4-FFF2-40B4-BE49-F238E27FC236}">
                <a16:creationId xmlns:a16="http://schemas.microsoft.com/office/drawing/2014/main" id="{29AB8C54-8131-40C5-8665-5F2A5BF70898}"/>
              </a:ext>
            </a:extLst>
          </p:cNvPr>
          <p:cNvSpPr>
            <a:spLocks noGrp="1"/>
          </p:cNvSpPr>
          <p:nvPr/>
        </p:nvSpPr>
        <p:spPr>
          <a:xfrm>
            <a:off x="3273981" y="921846"/>
            <a:ext cx="101790" cy="160827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73" name="MICRO__SPARSE_GRAPH__EDGE_8">
            <a:extLst>
              <a:ext uri="{FF2B5EF4-FFF2-40B4-BE49-F238E27FC236}">
                <a16:creationId xmlns:a16="http://schemas.microsoft.com/office/drawing/2014/main" id="{FAE98EE7-C9C9-43E8-A532-3762F2E0AB1B}"/>
              </a:ext>
            </a:extLst>
          </p:cNvPr>
          <p:cNvSpPr>
            <a:spLocks noGrp="1"/>
          </p:cNvSpPr>
          <p:nvPr/>
        </p:nvSpPr>
        <p:spPr>
          <a:xfrm flipH="1">
            <a:off x="3233266" y="921846"/>
            <a:ext cx="40716" cy="205311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74" name="MICRO__SPARSE_GRAPH__EDGE_9">
            <a:extLst>
              <a:ext uri="{FF2B5EF4-FFF2-40B4-BE49-F238E27FC236}">
                <a16:creationId xmlns:a16="http://schemas.microsoft.com/office/drawing/2014/main" id="{80234195-17B4-4B25-BF08-7FB4B11712E7}"/>
              </a:ext>
            </a:extLst>
          </p:cNvPr>
          <p:cNvSpPr>
            <a:spLocks noGrp="1"/>
          </p:cNvSpPr>
          <p:nvPr/>
        </p:nvSpPr>
        <p:spPr>
          <a:xfrm>
            <a:off x="3368985" y="867096"/>
            <a:ext cx="6785" cy="215577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75" name="MICRO__SPARSE_GRAPH__EDGE_10">
            <a:extLst>
              <a:ext uri="{FF2B5EF4-FFF2-40B4-BE49-F238E27FC236}">
                <a16:creationId xmlns:a16="http://schemas.microsoft.com/office/drawing/2014/main" id="{4ED7E551-7AFC-4562-840C-07AA228C410C}"/>
              </a:ext>
            </a:extLst>
          </p:cNvPr>
          <p:cNvSpPr>
            <a:spLocks noGrp="1"/>
          </p:cNvSpPr>
          <p:nvPr/>
        </p:nvSpPr>
        <p:spPr>
          <a:xfrm flipH="1">
            <a:off x="3233266" y="1082673"/>
            <a:ext cx="142504" cy="44484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76" name="MICRO__SPARSE_GRAPH__NODE_1">
            <a:extLst>
              <a:ext uri="{FF2B5EF4-FFF2-40B4-BE49-F238E27FC236}">
                <a16:creationId xmlns:a16="http://schemas.microsoft.com/office/drawing/2014/main" id="{A2526023-D9C7-40AC-B59C-8AD158E00C0C}"/>
              </a:ext>
            </a:extLst>
          </p:cNvPr>
          <p:cNvSpPr>
            <a:spLocks noGrp="1"/>
          </p:cNvSpPr>
          <p:nvPr/>
        </p:nvSpPr>
        <p:spPr>
          <a:xfrm>
            <a:off x="3078392" y="1012249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177" name="MICRO__SPARSE_GRAPH__NODE_2">
            <a:extLst>
              <a:ext uri="{FF2B5EF4-FFF2-40B4-BE49-F238E27FC236}">
                <a16:creationId xmlns:a16="http://schemas.microsoft.com/office/drawing/2014/main" id="{61486F41-8E39-4260-9AA9-EE307B7DEEED}"/>
              </a:ext>
            </a:extLst>
          </p:cNvPr>
          <p:cNvSpPr>
            <a:spLocks noGrp="1"/>
          </p:cNvSpPr>
          <p:nvPr/>
        </p:nvSpPr>
        <p:spPr>
          <a:xfrm>
            <a:off x="3142858" y="848000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178" name="MICRO__SPARSE_GRAPH__NODE_3">
            <a:extLst>
              <a:ext uri="{FF2B5EF4-FFF2-40B4-BE49-F238E27FC236}">
                <a16:creationId xmlns:a16="http://schemas.microsoft.com/office/drawing/2014/main" id="{71131021-D988-475C-BBD2-444FDD0E1853}"/>
              </a:ext>
            </a:extLst>
          </p:cNvPr>
          <p:cNvSpPr>
            <a:spLocks noGrp="1"/>
          </p:cNvSpPr>
          <p:nvPr/>
        </p:nvSpPr>
        <p:spPr>
          <a:xfrm>
            <a:off x="3248041" y="895906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179" name="MICRO__SPARSE_GRAPH__NODE_4">
            <a:extLst>
              <a:ext uri="{FF2B5EF4-FFF2-40B4-BE49-F238E27FC236}">
                <a16:creationId xmlns:a16="http://schemas.microsoft.com/office/drawing/2014/main" id="{F115AD71-27F8-418E-99FA-278754EEAB35}"/>
              </a:ext>
            </a:extLst>
          </p:cNvPr>
          <p:cNvSpPr>
            <a:spLocks noGrp="1"/>
          </p:cNvSpPr>
          <p:nvPr/>
        </p:nvSpPr>
        <p:spPr>
          <a:xfrm>
            <a:off x="3343044" y="841156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180" name="MICRO__SPARSE_GRAPH__NODE_5">
            <a:extLst>
              <a:ext uri="{FF2B5EF4-FFF2-40B4-BE49-F238E27FC236}">
                <a16:creationId xmlns:a16="http://schemas.microsoft.com/office/drawing/2014/main" id="{CA897155-8F15-40C0-AD1B-E5DE565E6D60}"/>
              </a:ext>
            </a:extLst>
          </p:cNvPr>
          <p:cNvSpPr>
            <a:spLocks noGrp="1"/>
          </p:cNvSpPr>
          <p:nvPr/>
        </p:nvSpPr>
        <p:spPr>
          <a:xfrm>
            <a:off x="3349830" y="1056734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181" name="MICRO__SPARSE_GRAPH__NODE_6">
            <a:extLst>
              <a:ext uri="{FF2B5EF4-FFF2-40B4-BE49-F238E27FC236}">
                <a16:creationId xmlns:a16="http://schemas.microsoft.com/office/drawing/2014/main" id="{809E6289-0874-4844-B219-A3A7EAA39CE2}"/>
              </a:ext>
            </a:extLst>
          </p:cNvPr>
          <p:cNvSpPr>
            <a:spLocks noGrp="1"/>
          </p:cNvSpPr>
          <p:nvPr/>
        </p:nvSpPr>
        <p:spPr>
          <a:xfrm>
            <a:off x="3207325" y="1101217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182" name="MICRO__SPARSE_LABEL">
            <a:extLst>
              <a:ext uri="{FF2B5EF4-FFF2-40B4-BE49-F238E27FC236}">
                <a16:creationId xmlns:a16="http://schemas.microsoft.com/office/drawing/2014/main" id="{890C4452-A1B3-4D2B-899D-7AC17A03301B}"/>
              </a:ext>
            </a:extLst>
          </p:cNvPr>
          <p:cNvSpPr>
            <a:spLocks noGrp="1"/>
          </p:cNvSpPr>
          <p:nvPr/>
        </p:nvSpPr>
        <p:spPr>
          <a:xfrm>
            <a:off x="2689420" y="1189413"/>
            <a:ext cx="1046974" cy="3311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Sparse Local-Change</a:t>
            </a:r>
          </a:p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184" name="MICRO__FUSION_SIGMA">
            <a:extLst>
              <a:ext uri="{FF2B5EF4-FFF2-40B4-BE49-F238E27FC236}">
                <a16:creationId xmlns:a16="http://schemas.microsoft.com/office/drawing/2014/main" id="{D5BBE948-71FF-4833-830A-DD24A13C0A0F}"/>
              </a:ext>
            </a:extLst>
          </p:cNvPr>
          <p:cNvSpPr>
            <a:spLocks noGrp="1"/>
          </p:cNvSpPr>
          <p:nvPr/>
        </p:nvSpPr>
        <p:spPr>
          <a:xfrm>
            <a:off x="4633109" y="865846"/>
            <a:ext cx="242355" cy="275956"/>
          </a:xfrm>
          <a:prstGeom prst="ellipse">
            <a:avLst/>
          </a:prstGeom>
          <a:solidFill>
            <a:srgbClr val="FFFFFF"/>
          </a:solidFill>
          <a:ln w="14288">
            <a:solidFill>
              <a:srgbClr val="DE7A2E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275">
                <a:solidFill>
                  <a:srgbClr val="DE7A2E"/>
                </a:solidFill>
                <a:latin typeface="Arial"/>
                <a:ea typeface="Arial"/>
                <a:cs typeface="Arial"/>
              </a:defRPr>
            </a:pPr>
            <a:r>
              <a:rPr sz="1388" b="0">
                <a:solidFill>
                  <a:srgbClr val="DE7A2E"/>
                </a:solidFill>
                <a:latin typeface="Times New Roman"/>
                <a:ea typeface="Times New Roman"/>
                <a:cs typeface="Times New Roman"/>
              </a:rPr>
              <a:t>Σ</a:t>
            </a:r>
          </a:p>
        </p:txBody>
      </p:sp>
      <p:sp>
        <p:nvSpPr>
          <p:cNvPr id="185" name="MICRO__PRIOR_GRAPH__EDGE_1">
            <a:extLst>
              <a:ext uri="{FF2B5EF4-FFF2-40B4-BE49-F238E27FC236}">
                <a16:creationId xmlns:a16="http://schemas.microsoft.com/office/drawing/2014/main" id="{7614D8E7-5495-4335-9854-477A6514BEC8}"/>
              </a:ext>
            </a:extLst>
          </p:cNvPr>
          <p:cNvSpPr>
            <a:spLocks noGrp="1"/>
          </p:cNvSpPr>
          <p:nvPr/>
        </p:nvSpPr>
        <p:spPr>
          <a:xfrm flipV="1">
            <a:off x="5169198" y="873940"/>
            <a:ext cx="64466" cy="164249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86" name="MICRO__PRIOR_GRAPH__EDGE_2">
            <a:extLst>
              <a:ext uri="{FF2B5EF4-FFF2-40B4-BE49-F238E27FC236}">
                <a16:creationId xmlns:a16="http://schemas.microsoft.com/office/drawing/2014/main" id="{964AC5CB-A15E-4D3E-B44A-06B730EA62A3}"/>
              </a:ext>
            </a:extLst>
          </p:cNvPr>
          <p:cNvSpPr>
            <a:spLocks noGrp="1"/>
          </p:cNvSpPr>
          <p:nvPr/>
        </p:nvSpPr>
        <p:spPr>
          <a:xfrm flipV="1">
            <a:off x="5169198" y="921846"/>
            <a:ext cx="169649" cy="116344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87" name="MICRO__PRIOR_GRAPH__EDGE_3">
            <a:extLst>
              <a:ext uri="{FF2B5EF4-FFF2-40B4-BE49-F238E27FC236}">
                <a16:creationId xmlns:a16="http://schemas.microsoft.com/office/drawing/2014/main" id="{4C203CFC-024E-4035-A57F-DB15DF89AE0A}"/>
              </a:ext>
            </a:extLst>
          </p:cNvPr>
          <p:cNvSpPr>
            <a:spLocks noGrp="1"/>
          </p:cNvSpPr>
          <p:nvPr/>
        </p:nvSpPr>
        <p:spPr>
          <a:xfrm>
            <a:off x="5169198" y="1038189"/>
            <a:ext cx="128933" cy="88968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88" name="MICRO__PRIOR_GRAPH__EDGE_4">
            <a:extLst>
              <a:ext uri="{FF2B5EF4-FFF2-40B4-BE49-F238E27FC236}">
                <a16:creationId xmlns:a16="http://schemas.microsoft.com/office/drawing/2014/main" id="{21D4AEBE-422E-4601-9149-50BB8F447F61}"/>
              </a:ext>
            </a:extLst>
          </p:cNvPr>
          <p:cNvSpPr>
            <a:spLocks noGrp="1"/>
          </p:cNvSpPr>
          <p:nvPr/>
        </p:nvSpPr>
        <p:spPr>
          <a:xfrm>
            <a:off x="5233665" y="873940"/>
            <a:ext cx="105182" cy="47907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89" name="MICRO__PRIOR_GRAPH__EDGE_5">
            <a:extLst>
              <a:ext uri="{FF2B5EF4-FFF2-40B4-BE49-F238E27FC236}">
                <a16:creationId xmlns:a16="http://schemas.microsoft.com/office/drawing/2014/main" id="{E0A44A3A-7982-473F-AE98-199BC344A0E1}"/>
              </a:ext>
            </a:extLst>
          </p:cNvPr>
          <p:cNvSpPr>
            <a:spLocks noGrp="1"/>
          </p:cNvSpPr>
          <p:nvPr/>
        </p:nvSpPr>
        <p:spPr>
          <a:xfrm>
            <a:off x="5233665" y="873940"/>
            <a:ext cx="64466" cy="253217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90" name="MICRO__PRIOR_GRAPH__EDGE_6">
            <a:extLst>
              <a:ext uri="{FF2B5EF4-FFF2-40B4-BE49-F238E27FC236}">
                <a16:creationId xmlns:a16="http://schemas.microsoft.com/office/drawing/2014/main" id="{A1466363-6448-42B8-B7BB-92547AA7F36B}"/>
              </a:ext>
            </a:extLst>
          </p:cNvPr>
          <p:cNvSpPr>
            <a:spLocks noGrp="1"/>
          </p:cNvSpPr>
          <p:nvPr/>
        </p:nvSpPr>
        <p:spPr>
          <a:xfrm flipV="1">
            <a:off x="5338848" y="867096"/>
            <a:ext cx="95003" cy="54750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91" name="MICRO__PRIOR_GRAPH__EDGE_7">
            <a:extLst>
              <a:ext uri="{FF2B5EF4-FFF2-40B4-BE49-F238E27FC236}">
                <a16:creationId xmlns:a16="http://schemas.microsoft.com/office/drawing/2014/main" id="{867ABF4A-B513-40C6-9158-075C52841E58}"/>
              </a:ext>
            </a:extLst>
          </p:cNvPr>
          <p:cNvSpPr>
            <a:spLocks noGrp="1"/>
          </p:cNvSpPr>
          <p:nvPr/>
        </p:nvSpPr>
        <p:spPr>
          <a:xfrm>
            <a:off x="5338848" y="921846"/>
            <a:ext cx="101790" cy="160827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92" name="MICRO__PRIOR_GRAPH__EDGE_8">
            <a:extLst>
              <a:ext uri="{FF2B5EF4-FFF2-40B4-BE49-F238E27FC236}">
                <a16:creationId xmlns:a16="http://schemas.microsoft.com/office/drawing/2014/main" id="{7E9F85BC-7B2A-43C5-B0EF-F2DB5D83E579}"/>
              </a:ext>
            </a:extLst>
          </p:cNvPr>
          <p:cNvSpPr>
            <a:spLocks noGrp="1"/>
          </p:cNvSpPr>
          <p:nvPr/>
        </p:nvSpPr>
        <p:spPr>
          <a:xfrm flipH="1">
            <a:off x="5298132" y="921846"/>
            <a:ext cx="40716" cy="205311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93" name="MICRO__PRIOR_GRAPH__EDGE_9">
            <a:extLst>
              <a:ext uri="{FF2B5EF4-FFF2-40B4-BE49-F238E27FC236}">
                <a16:creationId xmlns:a16="http://schemas.microsoft.com/office/drawing/2014/main" id="{EBB7A624-FF2D-4650-82ED-BCBBB6D9CEF0}"/>
              </a:ext>
            </a:extLst>
          </p:cNvPr>
          <p:cNvSpPr>
            <a:spLocks noGrp="1"/>
          </p:cNvSpPr>
          <p:nvPr/>
        </p:nvSpPr>
        <p:spPr>
          <a:xfrm>
            <a:off x="5433851" y="867096"/>
            <a:ext cx="6785" cy="215577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94" name="MICRO__PRIOR_GRAPH__EDGE_10">
            <a:extLst>
              <a:ext uri="{FF2B5EF4-FFF2-40B4-BE49-F238E27FC236}">
                <a16:creationId xmlns:a16="http://schemas.microsoft.com/office/drawing/2014/main" id="{EACE29EF-F172-4E88-83B8-F1C98E65BAD6}"/>
              </a:ext>
            </a:extLst>
          </p:cNvPr>
          <p:cNvSpPr>
            <a:spLocks noGrp="1"/>
          </p:cNvSpPr>
          <p:nvPr/>
        </p:nvSpPr>
        <p:spPr>
          <a:xfrm flipH="1">
            <a:off x="5298132" y="1082673"/>
            <a:ext cx="142504" cy="44484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195" name="MICRO__PRIOR_GRAPH__NODE_1">
            <a:extLst>
              <a:ext uri="{FF2B5EF4-FFF2-40B4-BE49-F238E27FC236}">
                <a16:creationId xmlns:a16="http://schemas.microsoft.com/office/drawing/2014/main" id="{E7A099C7-0CA2-4FFD-BC48-8817290BD099}"/>
              </a:ext>
            </a:extLst>
          </p:cNvPr>
          <p:cNvSpPr>
            <a:spLocks noGrp="1"/>
          </p:cNvSpPr>
          <p:nvPr/>
        </p:nvSpPr>
        <p:spPr>
          <a:xfrm>
            <a:off x="5143258" y="1012249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196" name="MICRO__PRIOR_GRAPH__NODE_2">
            <a:extLst>
              <a:ext uri="{FF2B5EF4-FFF2-40B4-BE49-F238E27FC236}">
                <a16:creationId xmlns:a16="http://schemas.microsoft.com/office/drawing/2014/main" id="{2B8EBAB9-A97F-49DA-9996-5856F9193864}"/>
              </a:ext>
            </a:extLst>
          </p:cNvPr>
          <p:cNvSpPr>
            <a:spLocks noGrp="1"/>
          </p:cNvSpPr>
          <p:nvPr/>
        </p:nvSpPr>
        <p:spPr>
          <a:xfrm>
            <a:off x="5207726" y="848000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197" name="MICRO__PRIOR_GRAPH__NODE_3">
            <a:extLst>
              <a:ext uri="{FF2B5EF4-FFF2-40B4-BE49-F238E27FC236}">
                <a16:creationId xmlns:a16="http://schemas.microsoft.com/office/drawing/2014/main" id="{5CE8E3C7-5C79-4E35-B2D1-C4D6F499C8E4}"/>
              </a:ext>
            </a:extLst>
          </p:cNvPr>
          <p:cNvSpPr>
            <a:spLocks noGrp="1"/>
          </p:cNvSpPr>
          <p:nvPr/>
        </p:nvSpPr>
        <p:spPr>
          <a:xfrm>
            <a:off x="5312907" y="895906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198" name="MICRO__PRIOR_GRAPH__NODE_4">
            <a:extLst>
              <a:ext uri="{FF2B5EF4-FFF2-40B4-BE49-F238E27FC236}">
                <a16:creationId xmlns:a16="http://schemas.microsoft.com/office/drawing/2014/main" id="{9E9D6B29-9391-448E-9B2A-C9351BDBEFF5}"/>
              </a:ext>
            </a:extLst>
          </p:cNvPr>
          <p:cNvSpPr>
            <a:spLocks noGrp="1"/>
          </p:cNvSpPr>
          <p:nvPr/>
        </p:nvSpPr>
        <p:spPr>
          <a:xfrm>
            <a:off x="5407911" y="841156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199" name="MICRO__PRIOR_GRAPH__NODE_5">
            <a:extLst>
              <a:ext uri="{FF2B5EF4-FFF2-40B4-BE49-F238E27FC236}">
                <a16:creationId xmlns:a16="http://schemas.microsoft.com/office/drawing/2014/main" id="{4C237544-7CF1-40F1-8197-4C3B5B1750C8}"/>
              </a:ext>
            </a:extLst>
          </p:cNvPr>
          <p:cNvSpPr>
            <a:spLocks noGrp="1"/>
          </p:cNvSpPr>
          <p:nvPr/>
        </p:nvSpPr>
        <p:spPr>
          <a:xfrm>
            <a:off x="5414696" y="1056734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200" name="MICRO__PRIOR_GRAPH__NODE_6">
            <a:extLst>
              <a:ext uri="{FF2B5EF4-FFF2-40B4-BE49-F238E27FC236}">
                <a16:creationId xmlns:a16="http://schemas.microsoft.com/office/drawing/2014/main" id="{64009E04-0DB2-4EC2-AD5F-3690274DE9A2}"/>
              </a:ext>
            </a:extLst>
          </p:cNvPr>
          <p:cNvSpPr>
            <a:spLocks noGrp="1"/>
          </p:cNvSpPr>
          <p:nvPr/>
        </p:nvSpPr>
        <p:spPr>
          <a:xfrm>
            <a:off x="5272192" y="1101217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201" name="MICRO__PRIOR_LABEL">
            <a:extLst>
              <a:ext uri="{FF2B5EF4-FFF2-40B4-BE49-F238E27FC236}">
                <a16:creationId xmlns:a16="http://schemas.microsoft.com/office/drawing/2014/main" id="{AEEA8958-E204-433C-BCCE-55E33374E108}"/>
              </a:ext>
            </a:extLst>
          </p:cNvPr>
          <p:cNvSpPr>
            <a:spLocks noGrp="1"/>
          </p:cNvSpPr>
          <p:nvPr/>
        </p:nvSpPr>
        <p:spPr>
          <a:xfrm>
            <a:off x="4977253" y="1201334"/>
            <a:ext cx="668900" cy="34218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C76520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C76520"/>
                </a:solidFill>
                <a:latin typeface="Times New Roman"/>
                <a:ea typeface="Times New Roman"/>
                <a:cs typeface="Times New Roman"/>
              </a:rPr>
              <a:t>Micro Prior</a:t>
            </a:r>
          </a:p>
        </p:txBody>
      </p:sp>
      <p:sp>
        <p:nvSpPr>
          <p:cNvPr id="204" name="MICRO__E1__SYMBOL">
            <a:extLst>
              <a:ext uri="{FF2B5EF4-FFF2-40B4-BE49-F238E27FC236}">
                <a16:creationId xmlns:a16="http://schemas.microsoft.com/office/drawing/2014/main" id="{EC5D78D3-B948-408A-B77F-A2C65C64D1E1}"/>
              </a:ext>
            </a:extLst>
          </p:cNvPr>
          <p:cNvSpPr>
            <a:spLocks noGrp="1"/>
          </p:cNvSpPr>
          <p:nvPr/>
        </p:nvSpPr>
        <p:spPr>
          <a:xfrm>
            <a:off x="6303421" y="722274"/>
            <a:ext cx="164802" cy="1214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0743"/>
          </a:bodyPr>
          <a:lstStyle/>
          <a:p>
            <a:pPr algn="ctr">
              <a:buNone/>
              <a:defRPr sz="800" b="1" i="0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78" b="0" i="0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rPr>
              <a:t>E₁</a:t>
            </a:r>
          </a:p>
        </p:txBody>
      </p:sp>
      <p:sp>
        <p:nvSpPr>
          <p:cNvPr id="205" name="MICRO__E1__CELL_0_0">
            <a:extLst>
              <a:ext uri="{FF2B5EF4-FFF2-40B4-BE49-F238E27FC236}">
                <a16:creationId xmlns:a16="http://schemas.microsoft.com/office/drawing/2014/main" id="{F5043D08-D3E5-4C69-8819-A480F411F245}"/>
              </a:ext>
            </a:extLst>
          </p:cNvPr>
          <p:cNvSpPr>
            <a:spLocks noGrp="1"/>
          </p:cNvSpPr>
          <p:nvPr/>
        </p:nvSpPr>
        <p:spPr>
          <a:xfrm>
            <a:off x="6353831" y="616307"/>
            <a:ext cx="39747" cy="45257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206" name="MICRO__E1__CELL_0_1">
            <a:extLst>
              <a:ext uri="{FF2B5EF4-FFF2-40B4-BE49-F238E27FC236}">
                <a16:creationId xmlns:a16="http://schemas.microsoft.com/office/drawing/2014/main" id="{1364C549-1D9A-46AA-B6BD-0D93F129B3ED}"/>
              </a:ext>
            </a:extLst>
          </p:cNvPr>
          <p:cNvSpPr>
            <a:spLocks noGrp="1"/>
          </p:cNvSpPr>
          <p:nvPr/>
        </p:nvSpPr>
        <p:spPr>
          <a:xfrm>
            <a:off x="6404241" y="616307"/>
            <a:ext cx="39747" cy="45257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207" name="MICRO__E1__CELL_0_2">
            <a:extLst>
              <a:ext uri="{FF2B5EF4-FFF2-40B4-BE49-F238E27FC236}">
                <a16:creationId xmlns:a16="http://schemas.microsoft.com/office/drawing/2014/main" id="{AEA66A9D-EFCD-4713-A6E2-185FF7AC1CDE}"/>
              </a:ext>
            </a:extLst>
          </p:cNvPr>
          <p:cNvSpPr>
            <a:spLocks noGrp="1"/>
          </p:cNvSpPr>
          <p:nvPr/>
        </p:nvSpPr>
        <p:spPr>
          <a:xfrm>
            <a:off x="6454650" y="616307"/>
            <a:ext cx="39747" cy="45257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208" name="MICRO__E1__CELL_1_0">
            <a:extLst>
              <a:ext uri="{FF2B5EF4-FFF2-40B4-BE49-F238E27FC236}">
                <a16:creationId xmlns:a16="http://schemas.microsoft.com/office/drawing/2014/main" id="{3AE18E84-2EEB-4B69-BD15-B24C3C4C0AAD}"/>
              </a:ext>
            </a:extLst>
          </p:cNvPr>
          <p:cNvSpPr>
            <a:spLocks noGrp="1"/>
          </p:cNvSpPr>
          <p:nvPr/>
        </p:nvSpPr>
        <p:spPr>
          <a:xfrm>
            <a:off x="6353831" y="673706"/>
            <a:ext cx="39747" cy="45257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209" name="MICRO__E1__CELL_1_1">
            <a:extLst>
              <a:ext uri="{FF2B5EF4-FFF2-40B4-BE49-F238E27FC236}">
                <a16:creationId xmlns:a16="http://schemas.microsoft.com/office/drawing/2014/main" id="{DA1FD6EC-3107-43B5-926A-60522F84B7B4}"/>
              </a:ext>
            </a:extLst>
          </p:cNvPr>
          <p:cNvSpPr>
            <a:spLocks noGrp="1"/>
          </p:cNvSpPr>
          <p:nvPr/>
        </p:nvSpPr>
        <p:spPr>
          <a:xfrm>
            <a:off x="6404241" y="673706"/>
            <a:ext cx="39747" cy="45257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210" name="MICRO__E1__CELL_1_2">
            <a:extLst>
              <a:ext uri="{FF2B5EF4-FFF2-40B4-BE49-F238E27FC236}">
                <a16:creationId xmlns:a16="http://schemas.microsoft.com/office/drawing/2014/main" id="{08E42592-C490-48FE-8380-A20829B46CD2}"/>
              </a:ext>
            </a:extLst>
          </p:cNvPr>
          <p:cNvSpPr>
            <a:spLocks noGrp="1"/>
          </p:cNvSpPr>
          <p:nvPr/>
        </p:nvSpPr>
        <p:spPr>
          <a:xfrm>
            <a:off x="6454650" y="673706"/>
            <a:ext cx="39747" cy="45257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211" name="MICRO__E2__SYMBOL">
            <a:extLst>
              <a:ext uri="{FF2B5EF4-FFF2-40B4-BE49-F238E27FC236}">
                <a16:creationId xmlns:a16="http://schemas.microsoft.com/office/drawing/2014/main" id="{30AC2402-95C7-43A3-9EF7-58E6BF49ED47}"/>
              </a:ext>
            </a:extLst>
          </p:cNvPr>
          <p:cNvSpPr>
            <a:spLocks noGrp="1"/>
          </p:cNvSpPr>
          <p:nvPr/>
        </p:nvSpPr>
        <p:spPr>
          <a:xfrm>
            <a:off x="6634963" y="722274"/>
            <a:ext cx="164802" cy="1214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0743"/>
          </a:bodyPr>
          <a:lstStyle/>
          <a:p>
            <a:pPr algn="ctr">
              <a:buNone/>
              <a:defRPr sz="800" b="1" i="0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78" b="0" i="0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rPr>
              <a:t>E₂</a:t>
            </a:r>
          </a:p>
        </p:txBody>
      </p:sp>
      <p:sp>
        <p:nvSpPr>
          <p:cNvPr id="212" name="MICRO__E2__CELL_0_0">
            <a:extLst>
              <a:ext uri="{FF2B5EF4-FFF2-40B4-BE49-F238E27FC236}">
                <a16:creationId xmlns:a16="http://schemas.microsoft.com/office/drawing/2014/main" id="{073D671A-EAC6-4488-86D1-8CBA1D81692C}"/>
              </a:ext>
            </a:extLst>
          </p:cNvPr>
          <p:cNvSpPr>
            <a:spLocks noGrp="1"/>
          </p:cNvSpPr>
          <p:nvPr/>
        </p:nvSpPr>
        <p:spPr>
          <a:xfrm>
            <a:off x="6683434" y="616307"/>
            <a:ext cx="39747" cy="45257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213" name="MICRO__E2__CELL_0_1">
            <a:extLst>
              <a:ext uri="{FF2B5EF4-FFF2-40B4-BE49-F238E27FC236}">
                <a16:creationId xmlns:a16="http://schemas.microsoft.com/office/drawing/2014/main" id="{F5A76F05-B4EC-4943-BE1C-F5336B7EBF30}"/>
              </a:ext>
            </a:extLst>
          </p:cNvPr>
          <p:cNvSpPr>
            <a:spLocks noGrp="1"/>
          </p:cNvSpPr>
          <p:nvPr/>
        </p:nvSpPr>
        <p:spPr>
          <a:xfrm>
            <a:off x="6733844" y="616307"/>
            <a:ext cx="39747" cy="45257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214" name="MICRO__E2__CELL_0_2">
            <a:extLst>
              <a:ext uri="{FF2B5EF4-FFF2-40B4-BE49-F238E27FC236}">
                <a16:creationId xmlns:a16="http://schemas.microsoft.com/office/drawing/2014/main" id="{A33FB0E2-700C-4296-AFC3-C00F51428B28}"/>
              </a:ext>
            </a:extLst>
          </p:cNvPr>
          <p:cNvSpPr>
            <a:spLocks noGrp="1"/>
          </p:cNvSpPr>
          <p:nvPr/>
        </p:nvSpPr>
        <p:spPr>
          <a:xfrm>
            <a:off x="6784254" y="616307"/>
            <a:ext cx="39747" cy="45257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215" name="MICRO__E2__CELL_1_0">
            <a:extLst>
              <a:ext uri="{FF2B5EF4-FFF2-40B4-BE49-F238E27FC236}">
                <a16:creationId xmlns:a16="http://schemas.microsoft.com/office/drawing/2014/main" id="{559DC26D-8DC3-4020-A482-39CC2BB163F9}"/>
              </a:ext>
            </a:extLst>
          </p:cNvPr>
          <p:cNvSpPr>
            <a:spLocks noGrp="1"/>
          </p:cNvSpPr>
          <p:nvPr/>
        </p:nvSpPr>
        <p:spPr>
          <a:xfrm>
            <a:off x="6683434" y="673706"/>
            <a:ext cx="39747" cy="45257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216" name="MICRO__E2__CELL_1_1">
            <a:extLst>
              <a:ext uri="{FF2B5EF4-FFF2-40B4-BE49-F238E27FC236}">
                <a16:creationId xmlns:a16="http://schemas.microsoft.com/office/drawing/2014/main" id="{4E41F1BA-FD9D-4A05-B5C2-9B80567696F8}"/>
              </a:ext>
            </a:extLst>
          </p:cNvPr>
          <p:cNvSpPr>
            <a:spLocks noGrp="1"/>
          </p:cNvSpPr>
          <p:nvPr/>
        </p:nvSpPr>
        <p:spPr>
          <a:xfrm>
            <a:off x="6733844" y="673706"/>
            <a:ext cx="39747" cy="45257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217" name="MICRO__E2__CELL_1_2">
            <a:extLst>
              <a:ext uri="{FF2B5EF4-FFF2-40B4-BE49-F238E27FC236}">
                <a16:creationId xmlns:a16="http://schemas.microsoft.com/office/drawing/2014/main" id="{88C8C222-9BF1-446B-8DF1-4E74201F23F6}"/>
              </a:ext>
            </a:extLst>
          </p:cNvPr>
          <p:cNvSpPr>
            <a:spLocks noGrp="1"/>
          </p:cNvSpPr>
          <p:nvPr/>
        </p:nvSpPr>
        <p:spPr>
          <a:xfrm>
            <a:off x="6784254" y="673706"/>
            <a:ext cx="39747" cy="45257"/>
          </a:xfrm>
          <a:prstGeom prst="rect">
            <a:avLst/>
          </a:prstGeom>
          <a:solidFill>
            <a:srgbClr val="785AA4"/>
          </a:solidFill>
          <a:ln w="0">
            <a:noFill/>
            <a:prstDash val="solid"/>
          </a:ln>
        </p:spPr>
      </p:sp>
      <p:sp>
        <p:nvSpPr>
          <p:cNvPr id="218" name="MICRO__DE">
            <a:extLst>
              <a:ext uri="{FF2B5EF4-FFF2-40B4-BE49-F238E27FC236}">
                <a16:creationId xmlns:a16="http://schemas.microsoft.com/office/drawing/2014/main" id="{BD9712C1-AD54-4983-8825-9F6EAE95D57B}"/>
              </a:ext>
            </a:extLst>
          </p:cNvPr>
          <p:cNvSpPr>
            <a:spLocks noGrp="1"/>
          </p:cNvSpPr>
          <p:nvPr/>
        </p:nvSpPr>
        <p:spPr>
          <a:xfrm>
            <a:off x="6950994" y="653837"/>
            <a:ext cx="348991" cy="18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1" i="0">
                <a:solidFill>
                  <a:srgbClr val="6F7E87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dₑ = 10</a:t>
            </a:r>
          </a:p>
        </p:txBody>
      </p:sp>
      <p:sp>
        <p:nvSpPr>
          <p:cNvPr id="219" name="MICRO__EDGE_IMPORTANCE">
            <a:extLst>
              <a:ext uri="{FF2B5EF4-FFF2-40B4-BE49-F238E27FC236}">
                <a16:creationId xmlns:a16="http://schemas.microsoft.com/office/drawing/2014/main" id="{DC6BE2EE-691F-48B2-A99C-0583C849CA80}"/>
              </a:ext>
            </a:extLst>
          </p:cNvPr>
          <p:cNvSpPr>
            <a:spLocks noGrp="1"/>
          </p:cNvSpPr>
          <p:nvPr/>
        </p:nvSpPr>
        <p:spPr>
          <a:xfrm>
            <a:off x="5562600" y="666750"/>
            <a:ext cx="78105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Adaptive Edge</a:t>
            </a:r>
          </a:p>
          <a:p>
            <a:pPr algn="ctr">
              <a:buNone/>
              <a:defRPr sz="713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25323B"/>
                </a:solidFill>
                <a:latin typeface="Times New Roman"/>
                <a:ea typeface="Times New Roman"/>
                <a:cs typeface="Times New Roman"/>
              </a:rPr>
              <a:t>Importance</a:t>
            </a:r>
          </a:p>
        </p:txBody>
      </p:sp>
      <p:sp>
        <p:nvSpPr>
          <p:cNvPr id="220" name="MICRO__REWEIGHT_OPERATOR">
            <a:extLst>
              <a:ext uri="{FF2B5EF4-FFF2-40B4-BE49-F238E27FC236}">
                <a16:creationId xmlns:a16="http://schemas.microsoft.com/office/drawing/2014/main" id="{F11FA43D-3476-4966-B812-AF3ABD2266F7}"/>
              </a:ext>
            </a:extLst>
          </p:cNvPr>
          <p:cNvSpPr>
            <a:spLocks noGrp="1"/>
          </p:cNvSpPr>
          <p:nvPr/>
        </p:nvSpPr>
        <p:spPr>
          <a:xfrm>
            <a:off x="6460467" y="859149"/>
            <a:ext cx="252049" cy="286994"/>
          </a:xfrm>
          <a:prstGeom prst="ellipse">
            <a:avLst/>
          </a:prstGeom>
          <a:solidFill>
            <a:srgbClr val="FFFFFF"/>
          </a:solidFill>
          <a:ln w="14288">
            <a:solidFill>
              <a:srgbClr val="785AA4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200">
                <a:solidFill>
                  <a:srgbClr val="785AA4"/>
                </a:solidFill>
                <a:latin typeface="Arial"/>
                <a:ea typeface="Arial"/>
                <a:cs typeface="Arial"/>
              </a:defRPr>
            </a:pPr>
            <a:r>
              <a:rPr sz="1313" b="0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rPr>
              <a:t>⊙</a:t>
            </a:r>
          </a:p>
        </p:txBody>
      </p:sp>
      <p:sp>
        <p:nvSpPr>
          <p:cNvPr id="221" name="MICRO__REWEIGHT_LABEL">
            <a:extLst>
              <a:ext uri="{FF2B5EF4-FFF2-40B4-BE49-F238E27FC236}">
                <a16:creationId xmlns:a16="http://schemas.microsoft.com/office/drawing/2014/main" id="{4300DC82-BBAF-454C-A780-CA2E25785D46}"/>
              </a:ext>
            </a:extLst>
          </p:cNvPr>
          <p:cNvSpPr>
            <a:spLocks noGrp="1"/>
          </p:cNvSpPr>
          <p:nvPr/>
        </p:nvSpPr>
        <p:spPr>
          <a:xfrm>
            <a:off x="6024228" y="1201334"/>
            <a:ext cx="1134222" cy="3532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785AA4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rPr>
              <a:t>Prior-Constrained</a:t>
            </a:r>
          </a:p>
          <a:p>
            <a:pPr algn="ctr">
              <a:buNone/>
              <a:defRPr sz="713" b="1" i="0">
                <a:solidFill>
                  <a:srgbClr val="785AA4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rPr>
              <a:t>Re-weighting</a:t>
            </a:r>
          </a:p>
        </p:txBody>
      </p:sp>
      <p:sp>
        <p:nvSpPr>
          <p:cNvPr id="222" name="MICRO__ROW_NORM">
            <a:extLst>
              <a:ext uri="{FF2B5EF4-FFF2-40B4-BE49-F238E27FC236}">
                <a16:creationId xmlns:a16="http://schemas.microsoft.com/office/drawing/2014/main" id="{C1BDFD43-6895-434B-B3E6-9A0325FAD333}"/>
              </a:ext>
            </a:extLst>
          </p:cNvPr>
          <p:cNvSpPr>
            <a:spLocks noGrp="1"/>
          </p:cNvSpPr>
          <p:nvPr/>
        </p:nvSpPr>
        <p:spPr>
          <a:xfrm>
            <a:off x="6572250" y="723900"/>
            <a:ext cx="1066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1" i="0">
                <a:solidFill>
                  <a:srgbClr val="6F7E87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chemeClr val="accent2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Row normalization</a:t>
            </a:r>
          </a:p>
        </p:txBody>
      </p:sp>
      <p:sp>
        <p:nvSpPr>
          <p:cNvPr id="223" name="MICRO__EFFECTIVE_GRAPH__EDGE_1">
            <a:extLst>
              <a:ext uri="{FF2B5EF4-FFF2-40B4-BE49-F238E27FC236}">
                <a16:creationId xmlns:a16="http://schemas.microsoft.com/office/drawing/2014/main" id="{B8790CEA-2E52-4701-A55A-9F717765047E}"/>
              </a:ext>
            </a:extLst>
          </p:cNvPr>
          <p:cNvSpPr>
            <a:spLocks noGrp="1"/>
          </p:cNvSpPr>
          <p:nvPr/>
        </p:nvSpPr>
        <p:spPr>
          <a:xfrm flipV="1">
            <a:off x="7573362" y="873940"/>
            <a:ext cx="64466" cy="164249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224" name="MICRO__EFFECTIVE_GRAPH__EDGE_2">
            <a:extLst>
              <a:ext uri="{FF2B5EF4-FFF2-40B4-BE49-F238E27FC236}">
                <a16:creationId xmlns:a16="http://schemas.microsoft.com/office/drawing/2014/main" id="{7EF69373-E290-4D4C-9AD8-643C8846E49A}"/>
              </a:ext>
            </a:extLst>
          </p:cNvPr>
          <p:cNvSpPr>
            <a:spLocks noGrp="1"/>
          </p:cNvSpPr>
          <p:nvPr/>
        </p:nvSpPr>
        <p:spPr>
          <a:xfrm flipV="1">
            <a:off x="7573362" y="921846"/>
            <a:ext cx="169649" cy="116344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225" name="MICRO__EFFECTIVE_GRAPH__EDGE_3">
            <a:extLst>
              <a:ext uri="{FF2B5EF4-FFF2-40B4-BE49-F238E27FC236}">
                <a16:creationId xmlns:a16="http://schemas.microsoft.com/office/drawing/2014/main" id="{5D116E75-A16D-465A-BA19-F78D0BF51F05}"/>
              </a:ext>
            </a:extLst>
          </p:cNvPr>
          <p:cNvSpPr>
            <a:spLocks noGrp="1"/>
          </p:cNvSpPr>
          <p:nvPr/>
        </p:nvSpPr>
        <p:spPr>
          <a:xfrm>
            <a:off x="7573362" y="1038189"/>
            <a:ext cx="128933" cy="88968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226" name="MICRO__EFFECTIVE_GRAPH__EDGE_4">
            <a:extLst>
              <a:ext uri="{FF2B5EF4-FFF2-40B4-BE49-F238E27FC236}">
                <a16:creationId xmlns:a16="http://schemas.microsoft.com/office/drawing/2014/main" id="{F494C373-2060-469F-BBCC-08BB8B6296F1}"/>
              </a:ext>
            </a:extLst>
          </p:cNvPr>
          <p:cNvSpPr>
            <a:spLocks noGrp="1"/>
          </p:cNvSpPr>
          <p:nvPr/>
        </p:nvSpPr>
        <p:spPr>
          <a:xfrm>
            <a:off x="7637828" y="873940"/>
            <a:ext cx="105182" cy="47907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227" name="MICRO__EFFECTIVE_GRAPH__EDGE_5">
            <a:extLst>
              <a:ext uri="{FF2B5EF4-FFF2-40B4-BE49-F238E27FC236}">
                <a16:creationId xmlns:a16="http://schemas.microsoft.com/office/drawing/2014/main" id="{E4702417-664B-47AC-96A6-89D5BDBE833E}"/>
              </a:ext>
            </a:extLst>
          </p:cNvPr>
          <p:cNvSpPr>
            <a:spLocks noGrp="1"/>
          </p:cNvSpPr>
          <p:nvPr/>
        </p:nvSpPr>
        <p:spPr>
          <a:xfrm flipV="1">
            <a:off x="7637828" y="867096"/>
            <a:ext cx="200185" cy="6843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228" name="MICRO__EFFECTIVE_GRAPH__EDGE_6">
            <a:extLst>
              <a:ext uri="{FF2B5EF4-FFF2-40B4-BE49-F238E27FC236}">
                <a16:creationId xmlns:a16="http://schemas.microsoft.com/office/drawing/2014/main" id="{F4B9E0E5-3F5E-4C3C-8B62-66AB6B13B778}"/>
              </a:ext>
            </a:extLst>
          </p:cNvPr>
          <p:cNvSpPr>
            <a:spLocks noGrp="1"/>
          </p:cNvSpPr>
          <p:nvPr/>
        </p:nvSpPr>
        <p:spPr>
          <a:xfrm>
            <a:off x="7637828" y="873940"/>
            <a:ext cx="64466" cy="253217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229" name="MICRO__EFFECTIVE_GRAPH__EDGE_7">
            <a:extLst>
              <a:ext uri="{FF2B5EF4-FFF2-40B4-BE49-F238E27FC236}">
                <a16:creationId xmlns:a16="http://schemas.microsoft.com/office/drawing/2014/main" id="{B5011983-D899-4787-8A36-A7A07733E53C}"/>
              </a:ext>
            </a:extLst>
          </p:cNvPr>
          <p:cNvSpPr>
            <a:spLocks noGrp="1"/>
          </p:cNvSpPr>
          <p:nvPr/>
        </p:nvSpPr>
        <p:spPr>
          <a:xfrm flipV="1">
            <a:off x="7743011" y="867096"/>
            <a:ext cx="95003" cy="54750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230" name="MICRO__EFFECTIVE_GRAPH__EDGE_8">
            <a:extLst>
              <a:ext uri="{FF2B5EF4-FFF2-40B4-BE49-F238E27FC236}">
                <a16:creationId xmlns:a16="http://schemas.microsoft.com/office/drawing/2014/main" id="{DC2CABBD-96D0-488A-9B55-C389E1F1D9B2}"/>
              </a:ext>
            </a:extLst>
          </p:cNvPr>
          <p:cNvSpPr>
            <a:spLocks noGrp="1"/>
          </p:cNvSpPr>
          <p:nvPr/>
        </p:nvSpPr>
        <p:spPr>
          <a:xfrm>
            <a:off x="7743011" y="921846"/>
            <a:ext cx="101790" cy="160827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231" name="MICRO__EFFECTIVE_GRAPH__EDGE_9">
            <a:extLst>
              <a:ext uri="{FF2B5EF4-FFF2-40B4-BE49-F238E27FC236}">
                <a16:creationId xmlns:a16="http://schemas.microsoft.com/office/drawing/2014/main" id="{1E0BCEAF-B2E6-4347-ACB8-A8033888681F}"/>
              </a:ext>
            </a:extLst>
          </p:cNvPr>
          <p:cNvSpPr>
            <a:spLocks noGrp="1"/>
          </p:cNvSpPr>
          <p:nvPr/>
        </p:nvSpPr>
        <p:spPr>
          <a:xfrm flipH="1">
            <a:off x="7702296" y="921846"/>
            <a:ext cx="40716" cy="205311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232" name="MICRO__EFFECTIVE_GRAPH__EDGE_10">
            <a:extLst>
              <a:ext uri="{FF2B5EF4-FFF2-40B4-BE49-F238E27FC236}">
                <a16:creationId xmlns:a16="http://schemas.microsoft.com/office/drawing/2014/main" id="{F3A9118E-A83D-40BC-B863-458461880BED}"/>
              </a:ext>
            </a:extLst>
          </p:cNvPr>
          <p:cNvSpPr>
            <a:spLocks noGrp="1"/>
          </p:cNvSpPr>
          <p:nvPr/>
        </p:nvSpPr>
        <p:spPr>
          <a:xfrm>
            <a:off x="7838014" y="867096"/>
            <a:ext cx="6785" cy="215577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233" name="MICRO__EFFECTIVE_GRAPH__EDGE_11">
            <a:extLst>
              <a:ext uri="{FF2B5EF4-FFF2-40B4-BE49-F238E27FC236}">
                <a16:creationId xmlns:a16="http://schemas.microsoft.com/office/drawing/2014/main" id="{19AA33F5-A129-428D-83C3-3767FEA41297}"/>
              </a:ext>
            </a:extLst>
          </p:cNvPr>
          <p:cNvSpPr>
            <a:spLocks noGrp="1"/>
          </p:cNvSpPr>
          <p:nvPr/>
        </p:nvSpPr>
        <p:spPr>
          <a:xfrm flipH="1">
            <a:off x="7702296" y="1082673"/>
            <a:ext cx="142504" cy="44484"/>
          </a:xfrm>
          <a:prstGeom prst="line">
            <a:avLst/>
          </a:prstGeom>
          <a:noFill/>
          <a:ln w="10954">
            <a:solidFill>
              <a:srgbClr val="DE7A2E"/>
            </a:solidFill>
            <a:prstDash val="solid"/>
          </a:ln>
        </p:spPr>
      </p:sp>
      <p:sp>
        <p:nvSpPr>
          <p:cNvPr id="234" name="MICRO__EFFECTIVE_GRAPH__NODE_1">
            <a:extLst>
              <a:ext uri="{FF2B5EF4-FFF2-40B4-BE49-F238E27FC236}">
                <a16:creationId xmlns:a16="http://schemas.microsoft.com/office/drawing/2014/main" id="{ED2F9F34-973B-47AF-93D2-97ABD69B9045}"/>
              </a:ext>
            </a:extLst>
          </p:cNvPr>
          <p:cNvSpPr>
            <a:spLocks noGrp="1"/>
          </p:cNvSpPr>
          <p:nvPr/>
        </p:nvSpPr>
        <p:spPr>
          <a:xfrm>
            <a:off x="7547422" y="1012249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235" name="MICRO__EFFECTIVE_GRAPH__NODE_2">
            <a:extLst>
              <a:ext uri="{FF2B5EF4-FFF2-40B4-BE49-F238E27FC236}">
                <a16:creationId xmlns:a16="http://schemas.microsoft.com/office/drawing/2014/main" id="{FD516614-5D0F-42A8-8AFA-FCB3303F6043}"/>
              </a:ext>
            </a:extLst>
          </p:cNvPr>
          <p:cNvSpPr>
            <a:spLocks noGrp="1"/>
          </p:cNvSpPr>
          <p:nvPr/>
        </p:nvSpPr>
        <p:spPr>
          <a:xfrm>
            <a:off x="7611889" y="848000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236" name="MICRO__EFFECTIVE_GRAPH__NODE_3">
            <a:extLst>
              <a:ext uri="{FF2B5EF4-FFF2-40B4-BE49-F238E27FC236}">
                <a16:creationId xmlns:a16="http://schemas.microsoft.com/office/drawing/2014/main" id="{1B6E5B85-1079-425E-942D-F8D3F07EAC07}"/>
              </a:ext>
            </a:extLst>
          </p:cNvPr>
          <p:cNvSpPr>
            <a:spLocks noGrp="1"/>
          </p:cNvSpPr>
          <p:nvPr/>
        </p:nvSpPr>
        <p:spPr>
          <a:xfrm>
            <a:off x="7717071" y="895906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237" name="MICRO__EFFECTIVE_GRAPH__NODE_4">
            <a:extLst>
              <a:ext uri="{FF2B5EF4-FFF2-40B4-BE49-F238E27FC236}">
                <a16:creationId xmlns:a16="http://schemas.microsoft.com/office/drawing/2014/main" id="{A052BFE9-A4A7-4D5F-A7B7-4199A0CED065}"/>
              </a:ext>
            </a:extLst>
          </p:cNvPr>
          <p:cNvSpPr>
            <a:spLocks noGrp="1"/>
          </p:cNvSpPr>
          <p:nvPr/>
        </p:nvSpPr>
        <p:spPr>
          <a:xfrm>
            <a:off x="7812074" y="841156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238" name="MICRO__EFFECTIVE_GRAPH__NODE_5">
            <a:extLst>
              <a:ext uri="{FF2B5EF4-FFF2-40B4-BE49-F238E27FC236}">
                <a16:creationId xmlns:a16="http://schemas.microsoft.com/office/drawing/2014/main" id="{B34F2E9E-A563-4E3C-AEAD-82FBC3AAC04C}"/>
              </a:ext>
            </a:extLst>
          </p:cNvPr>
          <p:cNvSpPr>
            <a:spLocks noGrp="1"/>
          </p:cNvSpPr>
          <p:nvPr/>
        </p:nvSpPr>
        <p:spPr>
          <a:xfrm>
            <a:off x="7818860" y="1056734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239" name="MICRO__EFFECTIVE_GRAPH__NODE_6">
            <a:extLst>
              <a:ext uri="{FF2B5EF4-FFF2-40B4-BE49-F238E27FC236}">
                <a16:creationId xmlns:a16="http://schemas.microsoft.com/office/drawing/2014/main" id="{91A42412-910B-4CF0-AA45-DD5556AC2F3C}"/>
              </a:ext>
            </a:extLst>
          </p:cNvPr>
          <p:cNvSpPr>
            <a:spLocks noGrp="1"/>
          </p:cNvSpPr>
          <p:nvPr/>
        </p:nvSpPr>
        <p:spPr>
          <a:xfrm>
            <a:off x="7676355" y="1101217"/>
            <a:ext cx="51880" cy="51880"/>
          </a:xfrm>
          <a:prstGeom prst="ellipse">
            <a:avLst/>
          </a:prstGeom>
          <a:solidFill>
            <a:srgbClr val="FFFFFF"/>
          </a:solidFill>
          <a:ln w="10954">
            <a:solidFill>
              <a:srgbClr val="DE7A2E"/>
            </a:solidFill>
            <a:prstDash val="solid"/>
          </a:ln>
        </p:spPr>
      </p:sp>
      <p:sp>
        <p:nvSpPr>
          <p:cNvPr id="240" name="MICRO__EFFECTIVE_LABEL">
            <a:extLst>
              <a:ext uri="{FF2B5EF4-FFF2-40B4-BE49-F238E27FC236}">
                <a16:creationId xmlns:a16="http://schemas.microsoft.com/office/drawing/2014/main" id="{5EA4385F-A578-4CC3-AA3B-98CE1D950B0E}"/>
              </a:ext>
            </a:extLst>
          </p:cNvPr>
          <p:cNvSpPr>
            <a:spLocks noGrp="1"/>
          </p:cNvSpPr>
          <p:nvPr/>
        </p:nvSpPr>
        <p:spPr>
          <a:xfrm>
            <a:off x="7454317" y="1173076"/>
            <a:ext cx="580037" cy="37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C76520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C76520"/>
                </a:solidFill>
                <a:latin typeface="Times New Roman"/>
                <a:ea typeface="Times New Roman"/>
                <a:cs typeface="Times New Roman"/>
              </a:rPr>
              <a:t>Micro Effective</a:t>
            </a:r>
          </a:p>
          <a:p>
            <a:pPr algn="ctr">
              <a:buNone/>
              <a:defRPr sz="713" b="1" i="0">
                <a:solidFill>
                  <a:srgbClr val="C76520"/>
                </a:solidFill>
                <a:latin typeface="Arial"/>
                <a:ea typeface="Arial"/>
                <a:cs typeface="Arial"/>
              </a:defRPr>
            </a:pPr>
            <a:r>
              <a:rPr sz="915" b="0" i="0">
                <a:solidFill>
                  <a:srgbClr val="C76520"/>
                </a:solidFill>
                <a:latin typeface="Times New Roman"/>
                <a:ea typeface="Times New Roman"/>
                <a:cs typeface="Times New Roman"/>
              </a:rPr>
              <a:t>Graph</a:t>
            </a:r>
          </a:p>
        </p:txBody>
      </p:sp>
      <p:sp>
        <p:nvSpPr>
          <p:cNvPr id="241" name="FIG2_SHARED__TITLE">
            <a:extLst>
              <a:ext uri="{FF2B5EF4-FFF2-40B4-BE49-F238E27FC236}">
                <a16:creationId xmlns:a16="http://schemas.microsoft.com/office/drawing/2014/main" id="{33135CA5-C09F-4050-8CB5-E157A1E10B26}"/>
              </a:ext>
            </a:extLst>
          </p:cNvPr>
          <p:cNvSpPr>
            <a:spLocks noGrp="1"/>
          </p:cNvSpPr>
          <p:nvPr/>
        </p:nvSpPr>
        <p:spPr>
          <a:xfrm>
            <a:off x="3429110" y="1469420"/>
            <a:ext cx="1527974" cy="2292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637F91"/>
                </a:solidFill>
                <a:latin typeface="Arial"/>
                <a:ea typeface="Arial"/>
                <a:cs typeface="Arial"/>
              </a:defRPr>
            </a:pPr>
            <a:r>
              <a:rPr sz="1163" b="1" i="1" dirty="0">
                <a:solidFill>
                  <a:srgbClr val="937ABC"/>
                </a:solidFill>
                <a:latin typeface="Times New Roman"/>
                <a:ea typeface="Times New Roman"/>
                <a:cs typeface="Times New Roman"/>
              </a:rPr>
              <a:t>Shared Spatial Prior</a:t>
            </a:r>
          </a:p>
        </p:txBody>
      </p:sp>
      <p:sp>
        <p:nvSpPr>
          <p:cNvPr id="247" name="FIG2_SHARED__COORD_EDGE_1">
            <a:extLst>
              <a:ext uri="{FF2B5EF4-FFF2-40B4-BE49-F238E27FC236}">
                <a16:creationId xmlns:a16="http://schemas.microsoft.com/office/drawing/2014/main" id="{2F356F7A-B2D9-4D21-9EE9-8C88A691123F}"/>
              </a:ext>
            </a:extLst>
          </p:cNvPr>
          <p:cNvSpPr>
            <a:spLocks noGrp="1"/>
          </p:cNvSpPr>
          <p:nvPr/>
        </p:nvSpPr>
        <p:spPr>
          <a:xfrm flipV="1">
            <a:off x="3587682" y="1755422"/>
            <a:ext cx="87689" cy="8768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48" name="FIG2_SHARED__COORD_EDGE_2">
            <a:extLst>
              <a:ext uri="{FF2B5EF4-FFF2-40B4-BE49-F238E27FC236}">
                <a16:creationId xmlns:a16="http://schemas.microsoft.com/office/drawing/2014/main" id="{7925ADE5-C8AA-4E49-BE67-E08C78452FD6}"/>
              </a:ext>
            </a:extLst>
          </p:cNvPr>
          <p:cNvSpPr>
            <a:spLocks noGrp="1"/>
          </p:cNvSpPr>
          <p:nvPr/>
        </p:nvSpPr>
        <p:spPr>
          <a:xfrm>
            <a:off x="3675370" y="1744818"/>
            <a:ext cx="142494" cy="142494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49" name="FIG2_SHARED__COORD_EDGE_3">
            <a:extLst>
              <a:ext uri="{FF2B5EF4-FFF2-40B4-BE49-F238E27FC236}">
                <a16:creationId xmlns:a16="http://schemas.microsoft.com/office/drawing/2014/main" id="{C7B00AA3-81C0-4A1A-9BED-12832F3009CE}"/>
              </a:ext>
            </a:extLst>
          </p:cNvPr>
          <p:cNvSpPr>
            <a:spLocks noGrp="1"/>
          </p:cNvSpPr>
          <p:nvPr/>
        </p:nvSpPr>
        <p:spPr>
          <a:xfrm>
            <a:off x="3679180" y="1748411"/>
            <a:ext cx="207020" cy="5752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50" name="FIG2_SHARED__COORD_TO_G">
            <a:extLst>
              <a:ext uri="{FF2B5EF4-FFF2-40B4-BE49-F238E27FC236}">
                <a16:creationId xmlns:a16="http://schemas.microsoft.com/office/drawing/2014/main" id="{6A4F67AE-7384-4F48-AAE9-0F7B8B6F5BD3}"/>
              </a:ext>
            </a:extLst>
          </p:cNvPr>
          <p:cNvSpPr>
            <a:spLocks noGrp="1"/>
          </p:cNvSpPr>
          <p:nvPr/>
        </p:nvSpPr>
        <p:spPr>
          <a:xfrm>
            <a:off x="3903166" y="1720874"/>
            <a:ext cx="190382" cy="1903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637F9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43" name="FIG2_SHARED__COORD_1">
            <a:extLst>
              <a:ext uri="{FF2B5EF4-FFF2-40B4-BE49-F238E27FC236}">
                <a16:creationId xmlns:a16="http://schemas.microsoft.com/office/drawing/2014/main" id="{1FF62550-EB34-496A-B7FA-D44813438FB4}"/>
              </a:ext>
            </a:extLst>
          </p:cNvPr>
          <p:cNvSpPr>
            <a:spLocks noGrp="1"/>
          </p:cNvSpPr>
          <p:nvPr/>
        </p:nvSpPr>
        <p:spPr>
          <a:xfrm>
            <a:off x="3565355" y="1832863"/>
            <a:ext cx="38076" cy="380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937ABC"/>
            </a:solidFill>
            <a:prstDash val="solid"/>
          </a:ln>
        </p:spPr>
      </p:sp>
      <p:sp>
        <p:nvSpPr>
          <p:cNvPr id="244" name="FIG2_SHARED__COORD_2">
            <a:extLst>
              <a:ext uri="{FF2B5EF4-FFF2-40B4-BE49-F238E27FC236}">
                <a16:creationId xmlns:a16="http://schemas.microsoft.com/office/drawing/2014/main" id="{FAE2131C-55A7-444E-AAD0-53AE92A788C8}"/>
              </a:ext>
            </a:extLst>
          </p:cNvPr>
          <p:cNvSpPr>
            <a:spLocks noGrp="1"/>
          </p:cNvSpPr>
          <p:nvPr/>
        </p:nvSpPr>
        <p:spPr>
          <a:xfrm>
            <a:off x="3655236" y="1727593"/>
            <a:ext cx="38076" cy="380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937ABC"/>
            </a:solidFill>
            <a:prstDash val="solid"/>
          </a:ln>
        </p:spPr>
      </p:sp>
      <p:sp>
        <p:nvSpPr>
          <p:cNvPr id="245" name="FIG2_SHARED__COORD_3">
            <a:extLst>
              <a:ext uri="{FF2B5EF4-FFF2-40B4-BE49-F238E27FC236}">
                <a16:creationId xmlns:a16="http://schemas.microsoft.com/office/drawing/2014/main" id="{73CFE175-B530-41A3-9B24-3EF077F0A3DD}"/>
              </a:ext>
            </a:extLst>
          </p:cNvPr>
          <p:cNvSpPr>
            <a:spLocks noGrp="1"/>
          </p:cNvSpPr>
          <p:nvPr/>
        </p:nvSpPr>
        <p:spPr>
          <a:xfrm>
            <a:off x="3804307" y="1864220"/>
            <a:ext cx="38076" cy="380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937ABC"/>
            </a:solidFill>
            <a:prstDash val="solid"/>
          </a:ln>
        </p:spPr>
      </p:sp>
      <p:sp>
        <p:nvSpPr>
          <p:cNvPr id="246" name="FIG2_SHARED__COORD_4">
            <a:extLst>
              <a:ext uri="{FF2B5EF4-FFF2-40B4-BE49-F238E27FC236}">
                <a16:creationId xmlns:a16="http://schemas.microsoft.com/office/drawing/2014/main" id="{B77D8D8D-D114-4486-8363-8FC7E9BD9B7A}"/>
              </a:ext>
            </a:extLst>
          </p:cNvPr>
          <p:cNvSpPr>
            <a:spLocks noGrp="1"/>
          </p:cNvSpPr>
          <p:nvPr/>
        </p:nvSpPr>
        <p:spPr>
          <a:xfrm>
            <a:off x="3889803" y="1792547"/>
            <a:ext cx="38076" cy="38076"/>
          </a:xfrm>
          <a:prstGeom prst="ellipse">
            <a:avLst/>
          </a:prstGeom>
          <a:solidFill>
            <a:srgbClr val="FFFFFF"/>
          </a:solidFill>
          <a:ln w="9525">
            <a:solidFill>
              <a:srgbClr val="937ABC"/>
            </a:solidFill>
            <a:prstDash val="solid"/>
          </a:ln>
        </p:spPr>
      </p:sp>
      <p:sp>
        <p:nvSpPr>
          <p:cNvPr id="251" name="FIG2_SHARED__GAUSSIAN">
            <a:extLst>
              <a:ext uri="{FF2B5EF4-FFF2-40B4-BE49-F238E27FC236}">
                <a16:creationId xmlns:a16="http://schemas.microsoft.com/office/drawing/2014/main" id="{F5157DC9-62BB-4A78-9FFF-03D395B60989}"/>
              </a:ext>
            </a:extLst>
          </p:cNvPr>
          <p:cNvSpPr>
            <a:spLocks noGrp="1"/>
          </p:cNvSpPr>
          <p:nvPr/>
        </p:nvSpPr>
        <p:spPr>
          <a:xfrm>
            <a:off x="4096276" y="1732073"/>
            <a:ext cx="197299" cy="201581"/>
          </a:xfrm>
          <a:prstGeom prst="ellipse">
            <a:avLst/>
          </a:prstGeom>
          <a:solidFill>
            <a:srgbClr val="FFFFFF"/>
          </a:solidFill>
          <a:ln w="10478">
            <a:solidFill>
              <a:srgbClr val="937ABC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713" b="1">
                <a:solidFill>
                  <a:srgbClr val="637F91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937ABC"/>
                </a:solidFill>
                <a:latin typeface="Times New Roman"/>
                <a:ea typeface="Times New Roman"/>
                <a:cs typeface="Times New Roman"/>
              </a:rPr>
              <a:t>G</a:t>
            </a:r>
          </a:p>
        </p:txBody>
      </p:sp>
      <p:sp>
        <p:nvSpPr>
          <p:cNvPr id="252" name="FIG2_SHARED__G_TO_DIST">
            <a:extLst>
              <a:ext uri="{FF2B5EF4-FFF2-40B4-BE49-F238E27FC236}">
                <a16:creationId xmlns:a16="http://schemas.microsoft.com/office/drawing/2014/main" id="{A76CA0FE-0639-4C1A-A2A2-12DA47779695}"/>
              </a:ext>
            </a:extLst>
          </p:cNvPr>
          <p:cNvSpPr>
            <a:spLocks noGrp="1"/>
          </p:cNvSpPr>
          <p:nvPr/>
        </p:nvSpPr>
        <p:spPr>
          <a:xfrm>
            <a:off x="4316959" y="1720874"/>
            <a:ext cx="153455" cy="1903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13" b="1" i="0">
                <a:solidFill>
                  <a:srgbClr val="637F91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253" name="FIG2_SHARED__DISTANCE_GRAPH__EDGE_1">
            <a:extLst>
              <a:ext uri="{FF2B5EF4-FFF2-40B4-BE49-F238E27FC236}">
                <a16:creationId xmlns:a16="http://schemas.microsoft.com/office/drawing/2014/main" id="{58F69692-9A7B-4123-A317-49233AD6A9F7}"/>
              </a:ext>
            </a:extLst>
          </p:cNvPr>
          <p:cNvSpPr>
            <a:spLocks noGrp="1"/>
          </p:cNvSpPr>
          <p:nvPr/>
        </p:nvSpPr>
        <p:spPr>
          <a:xfrm flipV="1">
            <a:off x="4508412" y="1744167"/>
            <a:ext cx="52065" cy="118261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54" name="FIG2_SHARED__DISTANCE_GRAPH__EDGE_2">
            <a:extLst>
              <a:ext uri="{FF2B5EF4-FFF2-40B4-BE49-F238E27FC236}">
                <a16:creationId xmlns:a16="http://schemas.microsoft.com/office/drawing/2014/main" id="{740608A0-E36A-4B62-9F15-7C77D6DEADD1}"/>
              </a:ext>
            </a:extLst>
          </p:cNvPr>
          <p:cNvSpPr>
            <a:spLocks noGrp="1"/>
          </p:cNvSpPr>
          <p:nvPr/>
        </p:nvSpPr>
        <p:spPr>
          <a:xfrm flipV="1">
            <a:off x="4508412" y="1778660"/>
            <a:ext cx="137014" cy="8376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55" name="FIG2_SHARED__DISTANCE_GRAPH__EDGE_3">
            <a:extLst>
              <a:ext uri="{FF2B5EF4-FFF2-40B4-BE49-F238E27FC236}">
                <a16:creationId xmlns:a16="http://schemas.microsoft.com/office/drawing/2014/main" id="{C3F5B10A-C399-405A-A3C7-A52898DAADA4}"/>
              </a:ext>
            </a:extLst>
          </p:cNvPr>
          <p:cNvSpPr>
            <a:spLocks noGrp="1"/>
          </p:cNvSpPr>
          <p:nvPr/>
        </p:nvSpPr>
        <p:spPr>
          <a:xfrm>
            <a:off x="4508412" y="1862428"/>
            <a:ext cx="104131" cy="6405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56" name="FIG2_SHARED__DISTANCE_GRAPH__EDGE_4">
            <a:extLst>
              <a:ext uri="{FF2B5EF4-FFF2-40B4-BE49-F238E27FC236}">
                <a16:creationId xmlns:a16="http://schemas.microsoft.com/office/drawing/2014/main" id="{CE538816-7E34-4CFB-A812-12FCFAF4DD4F}"/>
              </a:ext>
            </a:extLst>
          </p:cNvPr>
          <p:cNvSpPr>
            <a:spLocks noGrp="1"/>
          </p:cNvSpPr>
          <p:nvPr/>
        </p:nvSpPr>
        <p:spPr>
          <a:xfrm>
            <a:off x="4560477" y="1744167"/>
            <a:ext cx="84949" cy="34493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57" name="FIG2_SHARED__DISTANCE_GRAPH__EDGE_5">
            <a:extLst>
              <a:ext uri="{FF2B5EF4-FFF2-40B4-BE49-F238E27FC236}">
                <a16:creationId xmlns:a16="http://schemas.microsoft.com/office/drawing/2014/main" id="{1FD963F8-35EF-42B7-AD6C-C2FBBEBF4980}"/>
              </a:ext>
            </a:extLst>
          </p:cNvPr>
          <p:cNvSpPr>
            <a:spLocks noGrp="1"/>
          </p:cNvSpPr>
          <p:nvPr/>
        </p:nvSpPr>
        <p:spPr>
          <a:xfrm>
            <a:off x="4560477" y="1744167"/>
            <a:ext cx="52065" cy="182319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58" name="FIG2_SHARED__DISTANCE_GRAPH__EDGE_6">
            <a:extLst>
              <a:ext uri="{FF2B5EF4-FFF2-40B4-BE49-F238E27FC236}">
                <a16:creationId xmlns:a16="http://schemas.microsoft.com/office/drawing/2014/main" id="{087B55E5-9BBD-4524-A8A2-EE5EE45C4AE1}"/>
              </a:ext>
            </a:extLst>
          </p:cNvPr>
          <p:cNvSpPr>
            <a:spLocks noGrp="1"/>
          </p:cNvSpPr>
          <p:nvPr/>
        </p:nvSpPr>
        <p:spPr>
          <a:xfrm flipV="1">
            <a:off x="4645426" y="1739240"/>
            <a:ext cx="76728" cy="39420"/>
          </a:xfrm>
          <a:prstGeom prst="line">
            <a:avLst/>
          </a:prstGeom>
          <a:noFill/>
          <a:ln w="10954">
            <a:solidFill>
              <a:schemeClr val="accent3">
                <a:lumMod val="75000"/>
              </a:schemeClr>
            </a:solidFill>
            <a:prstDash val="solid"/>
          </a:ln>
        </p:spPr>
      </p:sp>
      <p:sp>
        <p:nvSpPr>
          <p:cNvPr id="259" name="FIG2_SHARED__DISTANCE_GRAPH__EDGE_7">
            <a:extLst>
              <a:ext uri="{FF2B5EF4-FFF2-40B4-BE49-F238E27FC236}">
                <a16:creationId xmlns:a16="http://schemas.microsoft.com/office/drawing/2014/main" id="{A7F7013A-5C6D-42F0-B700-0D7F2864D197}"/>
              </a:ext>
            </a:extLst>
          </p:cNvPr>
          <p:cNvSpPr>
            <a:spLocks noGrp="1"/>
          </p:cNvSpPr>
          <p:nvPr/>
        </p:nvSpPr>
        <p:spPr>
          <a:xfrm>
            <a:off x="4645426" y="1778660"/>
            <a:ext cx="82209" cy="11579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60" name="FIG2_SHARED__DISTANCE_GRAPH__EDGE_8">
            <a:extLst>
              <a:ext uri="{FF2B5EF4-FFF2-40B4-BE49-F238E27FC236}">
                <a16:creationId xmlns:a16="http://schemas.microsoft.com/office/drawing/2014/main" id="{31423289-317D-429A-B6AE-4060B54D4FED}"/>
              </a:ext>
            </a:extLst>
          </p:cNvPr>
          <p:cNvSpPr>
            <a:spLocks noGrp="1"/>
          </p:cNvSpPr>
          <p:nvPr/>
        </p:nvSpPr>
        <p:spPr>
          <a:xfrm flipH="1">
            <a:off x="4612543" y="1778660"/>
            <a:ext cx="32883" cy="147826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61" name="FIG2_SHARED__DISTANCE_GRAPH__EDGE_9">
            <a:extLst>
              <a:ext uri="{FF2B5EF4-FFF2-40B4-BE49-F238E27FC236}">
                <a16:creationId xmlns:a16="http://schemas.microsoft.com/office/drawing/2014/main" id="{A33AAD8B-27DA-454A-AE38-6AFB69E88177}"/>
              </a:ext>
            </a:extLst>
          </p:cNvPr>
          <p:cNvSpPr>
            <a:spLocks noGrp="1"/>
          </p:cNvSpPr>
          <p:nvPr/>
        </p:nvSpPr>
        <p:spPr>
          <a:xfrm>
            <a:off x="4722154" y="1739240"/>
            <a:ext cx="5481" cy="15521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62" name="FIG2_SHARED__DISTANCE_GRAPH__EDGE_10">
            <a:extLst>
              <a:ext uri="{FF2B5EF4-FFF2-40B4-BE49-F238E27FC236}">
                <a16:creationId xmlns:a16="http://schemas.microsoft.com/office/drawing/2014/main" id="{FD1D0B0E-38ED-4A34-BDF0-FA07D1FB8369}"/>
              </a:ext>
            </a:extLst>
          </p:cNvPr>
          <p:cNvSpPr>
            <a:spLocks noGrp="1"/>
          </p:cNvSpPr>
          <p:nvPr/>
        </p:nvSpPr>
        <p:spPr>
          <a:xfrm flipH="1">
            <a:off x="4612543" y="1894458"/>
            <a:ext cx="115092" cy="3203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sp>
      <p:sp>
        <p:nvSpPr>
          <p:cNvPr id="263" name="FIG2_SHARED__DISTANCE_GRAPH__NODE_1">
            <a:extLst>
              <a:ext uri="{FF2B5EF4-FFF2-40B4-BE49-F238E27FC236}">
                <a16:creationId xmlns:a16="http://schemas.microsoft.com/office/drawing/2014/main" id="{F4DE61C1-9949-4B67-A3F3-79769295B0BB}"/>
              </a:ext>
            </a:extLst>
          </p:cNvPr>
          <p:cNvSpPr>
            <a:spLocks noGrp="1"/>
          </p:cNvSpPr>
          <p:nvPr/>
        </p:nvSpPr>
        <p:spPr>
          <a:xfrm>
            <a:off x="4482094" y="1836110"/>
            <a:ext cx="52636" cy="52636"/>
          </a:xfrm>
          <a:prstGeom prst="ellipse">
            <a:avLst/>
          </a:prstGeom>
          <a:solidFill>
            <a:srgbClr val="FFFFFF"/>
          </a:solidFill>
          <a:ln w="10954">
            <a:solidFill>
              <a:srgbClr val="937ABC"/>
            </a:solidFill>
            <a:prstDash val="solid"/>
          </a:ln>
        </p:spPr>
      </p:sp>
      <p:sp>
        <p:nvSpPr>
          <p:cNvPr id="264" name="FIG2_SHARED__DISTANCE_GRAPH__NODE_2">
            <a:extLst>
              <a:ext uri="{FF2B5EF4-FFF2-40B4-BE49-F238E27FC236}">
                <a16:creationId xmlns:a16="http://schemas.microsoft.com/office/drawing/2014/main" id="{2E3A5079-522C-4F3A-A755-3EA46B639956}"/>
              </a:ext>
            </a:extLst>
          </p:cNvPr>
          <p:cNvSpPr>
            <a:spLocks noGrp="1"/>
          </p:cNvSpPr>
          <p:nvPr/>
        </p:nvSpPr>
        <p:spPr>
          <a:xfrm>
            <a:off x="4534160" y="1717850"/>
            <a:ext cx="52636" cy="52636"/>
          </a:xfrm>
          <a:prstGeom prst="ellipse">
            <a:avLst/>
          </a:prstGeom>
          <a:solidFill>
            <a:srgbClr val="FFFFFF"/>
          </a:solidFill>
          <a:ln w="10954">
            <a:solidFill>
              <a:srgbClr val="937ABC"/>
            </a:solidFill>
            <a:prstDash val="solid"/>
          </a:ln>
        </p:spPr>
      </p:sp>
      <p:sp>
        <p:nvSpPr>
          <p:cNvPr id="265" name="FIG2_SHARED__DISTANCE_GRAPH__NODE_3">
            <a:extLst>
              <a:ext uri="{FF2B5EF4-FFF2-40B4-BE49-F238E27FC236}">
                <a16:creationId xmlns:a16="http://schemas.microsoft.com/office/drawing/2014/main" id="{564AB398-87D4-40E3-9B9C-7D4B71DC6FCC}"/>
              </a:ext>
            </a:extLst>
          </p:cNvPr>
          <p:cNvSpPr>
            <a:spLocks noGrp="1"/>
          </p:cNvSpPr>
          <p:nvPr/>
        </p:nvSpPr>
        <p:spPr>
          <a:xfrm>
            <a:off x="4619108" y="1752342"/>
            <a:ext cx="52636" cy="52636"/>
          </a:xfrm>
          <a:prstGeom prst="ellipse">
            <a:avLst/>
          </a:prstGeom>
          <a:solidFill>
            <a:srgbClr val="FFFFFF"/>
          </a:solidFill>
          <a:ln w="10954">
            <a:solidFill>
              <a:srgbClr val="937ABC"/>
            </a:solidFill>
            <a:prstDash val="solid"/>
          </a:ln>
        </p:spPr>
      </p:sp>
      <p:sp>
        <p:nvSpPr>
          <p:cNvPr id="266" name="FIG2_SHARED__DISTANCE_GRAPH__NODE_4">
            <a:extLst>
              <a:ext uri="{FF2B5EF4-FFF2-40B4-BE49-F238E27FC236}">
                <a16:creationId xmlns:a16="http://schemas.microsoft.com/office/drawing/2014/main" id="{B5264803-DE73-40C8-BEC1-B3DB52495782}"/>
              </a:ext>
            </a:extLst>
          </p:cNvPr>
          <p:cNvSpPr>
            <a:spLocks noGrp="1"/>
          </p:cNvSpPr>
          <p:nvPr/>
        </p:nvSpPr>
        <p:spPr>
          <a:xfrm>
            <a:off x="4677774" y="1712922"/>
            <a:ext cx="52636" cy="52636"/>
          </a:xfrm>
          <a:prstGeom prst="ellipse">
            <a:avLst/>
          </a:prstGeom>
          <a:solidFill>
            <a:srgbClr val="FFFFFF"/>
          </a:solidFill>
          <a:ln w="10954">
            <a:solidFill>
              <a:srgbClr val="937ABC"/>
            </a:solidFill>
            <a:prstDash val="solid"/>
          </a:ln>
        </p:spPr>
      </p:sp>
      <p:sp>
        <p:nvSpPr>
          <p:cNvPr id="267" name="FIG2_SHARED__DISTANCE_GRAPH__NODE_5">
            <a:extLst>
              <a:ext uri="{FF2B5EF4-FFF2-40B4-BE49-F238E27FC236}">
                <a16:creationId xmlns:a16="http://schemas.microsoft.com/office/drawing/2014/main" id="{18C0F38B-0969-4F1E-9F5A-8CB0DA5EF222}"/>
              </a:ext>
            </a:extLst>
          </p:cNvPr>
          <p:cNvSpPr>
            <a:spLocks noGrp="1"/>
          </p:cNvSpPr>
          <p:nvPr/>
        </p:nvSpPr>
        <p:spPr>
          <a:xfrm>
            <a:off x="4701316" y="1868140"/>
            <a:ext cx="52636" cy="52636"/>
          </a:xfrm>
          <a:prstGeom prst="ellipse">
            <a:avLst/>
          </a:prstGeom>
          <a:solidFill>
            <a:srgbClr val="FFFFFF"/>
          </a:solidFill>
          <a:ln w="10954">
            <a:solidFill>
              <a:srgbClr val="937ABC"/>
            </a:solidFill>
            <a:prstDash val="solid"/>
          </a:ln>
        </p:spPr>
      </p:sp>
      <p:sp>
        <p:nvSpPr>
          <p:cNvPr id="268" name="FIG2_SHARED__DISTANCE_GRAPH__NODE_6">
            <a:extLst>
              <a:ext uri="{FF2B5EF4-FFF2-40B4-BE49-F238E27FC236}">
                <a16:creationId xmlns:a16="http://schemas.microsoft.com/office/drawing/2014/main" id="{20762DB2-E991-4597-A9F5-385797E35BEF}"/>
              </a:ext>
            </a:extLst>
          </p:cNvPr>
          <p:cNvSpPr>
            <a:spLocks noGrp="1"/>
          </p:cNvSpPr>
          <p:nvPr/>
        </p:nvSpPr>
        <p:spPr>
          <a:xfrm>
            <a:off x="4586225" y="1900168"/>
            <a:ext cx="52636" cy="52636"/>
          </a:xfrm>
          <a:prstGeom prst="ellipse">
            <a:avLst/>
          </a:prstGeom>
          <a:solidFill>
            <a:srgbClr val="FFFFFF"/>
          </a:solidFill>
          <a:ln w="10954">
            <a:solidFill>
              <a:srgbClr val="937ABC"/>
            </a:solidFill>
            <a:prstDash val="solid"/>
          </a:ln>
        </p:spPr>
      </p:sp>
      <p:sp>
        <p:nvSpPr>
          <p:cNvPr id="269" name="FIG2_SHARED__GAUSSIAN_LABEL">
            <a:extLst>
              <a:ext uri="{FF2B5EF4-FFF2-40B4-BE49-F238E27FC236}">
                <a16:creationId xmlns:a16="http://schemas.microsoft.com/office/drawing/2014/main" id="{ACB5331E-8055-4754-9206-EABEAFFA0068}"/>
              </a:ext>
            </a:extLst>
          </p:cNvPr>
          <p:cNvSpPr>
            <a:spLocks noGrp="1"/>
          </p:cNvSpPr>
          <p:nvPr/>
        </p:nvSpPr>
        <p:spPr>
          <a:xfrm>
            <a:off x="3370651" y="1977301"/>
            <a:ext cx="724163" cy="2015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1" i="0">
                <a:solidFill>
                  <a:srgbClr val="25323B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937ABC"/>
                </a:solidFill>
                <a:latin typeface="Times New Roman"/>
                <a:ea typeface="Times New Roman"/>
                <a:cs typeface="Times New Roman"/>
              </a:rPr>
              <a:t>Gaussian Kernel</a:t>
            </a:r>
          </a:p>
        </p:txBody>
      </p:sp>
      <p:sp>
        <p:nvSpPr>
          <p:cNvPr id="270" name="FIG2_SHARED__DISTANCE_LABEL">
            <a:extLst>
              <a:ext uri="{FF2B5EF4-FFF2-40B4-BE49-F238E27FC236}">
                <a16:creationId xmlns:a16="http://schemas.microsoft.com/office/drawing/2014/main" id="{9BFE0188-6CE0-463A-A70A-BF26E1DB54A9}"/>
              </a:ext>
            </a:extLst>
          </p:cNvPr>
          <p:cNvSpPr>
            <a:spLocks noGrp="1"/>
          </p:cNvSpPr>
          <p:nvPr/>
        </p:nvSpPr>
        <p:spPr>
          <a:xfrm>
            <a:off x="4270922" y="1967997"/>
            <a:ext cx="745353" cy="3135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705" b="1" i="0">
                <a:solidFill>
                  <a:srgbClr val="5F47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78" b="0" i="0">
                <a:solidFill>
                  <a:srgbClr val="937ABC"/>
                </a:solidFill>
                <a:latin typeface="Times New Roman"/>
                <a:ea typeface="Times New Roman"/>
                <a:cs typeface="Times New Roman"/>
              </a:rPr>
              <a:t>Distance Graph</a:t>
            </a:r>
          </a:p>
          <a:p>
            <a:pPr algn="ctr">
              <a:buNone/>
              <a:defRPr sz="705" b="1" i="0">
                <a:solidFill>
                  <a:srgbClr val="5F478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78" b="0" i="0">
                <a:solidFill>
                  <a:srgbClr val="937ABC"/>
                </a:solidFill>
                <a:latin typeface="Times New Roman"/>
                <a:ea typeface="Times New Roman"/>
                <a:cs typeface="Times New Roman"/>
              </a:rPr>
              <a:t>Top-K = 5</a:t>
            </a:r>
          </a:p>
        </p:txBody>
      </p:sp>
      <p:sp>
        <p:nvSpPr>
          <p:cNvPr id="272" name="FIG2_MACRO__SEM_WEIGHT">
            <a:extLst>
              <a:ext uri="{FF2B5EF4-FFF2-40B4-BE49-F238E27FC236}">
                <a16:creationId xmlns:a16="http://schemas.microsoft.com/office/drawing/2014/main" id="{68414779-DBC5-4BC9-828F-9157ACBD1F5D}"/>
              </a:ext>
            </a:extLst>
          </p:cNvPr>
          <p:cNvSpPr>
            <a:spLocks noGrp="1"/>
          </p:cNvSpPr>
          <p:nvPr/>
        </p:nvSpPr>
        <p:spPr>
          <a:xfrm>
            <a:off x="4085386" y="2724388"/>
            <a:ext cx="261744" cy="1783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1" i="0">
                <a:solidFill>
                  <a:srgbClr val="1F7772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1F7772"/>
                </a:solidFill>
                <a:latin typeface="Times New Roman"/>
                <a:ea typeface="Times New Roman"/>
                <a:cs typeface="Times New Roman"/>
              </a:rPr>
              <a:t>0.7</a:t>
            </a:r>
          </a:p>
        </p:txBody>
      </p:sp>
      <p:sp>
        <p:nvSpPr>
          <p:cNvPr id="273" name="FIG2_MICRO__SEM_WEIGHT">
            <a:extLst>
              <a:ext uri="{FF2B5EF4-FFF2-40B4-BE49-F238E27FC236}">
                <a16:creationId xmlns:a16="http://schemas.microsoft.com/office/drawing/2014/main" id="{99C8AECD-DC07-4E6F-B0ED-CA7FCBD050A1}"/>
              </a:ext>
            </a:extLst>
          </p:cNvPr>
          <p:cNvSpPr>
            <a:spLocks noGrp="1"/>
          </p:cNvSpPr>
          <p:nvPr/>
        </p:nvSpPr>
        <p:spPr>
          <a:xfrm>
            <a:off x="4085386" y="759804"/>
            <a:ext cx="261744" cy="1766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1" i="0">
                <a:solidFill>
                  <a:srgbClr val="C76520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C76520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275" name="FIG2_MICRO__SPATIAL_WEIGHT">
            <a:extLst>
              <a:ext uri="{FF2B5EF4-FFF2-40B4-BE49-F238E27FC236}">
                <a16:creationId xmlns:a16="http://schemas.microsoft.com/office/drawing/2014/main" id="{DBEA7D91-687D-4A9E-B54C-16EC1D392AFB}"/>
              </a:ext>
            </a:extLst>
          </p:cNvPr>
          <p:cNvSpPr>
            <a:spLocks noGrp="1"/>
          </p:cNvSpPr>
          <p:nvPr/>
        </p:nvSpPr>
        <p:spPr>
          <a:xfrm>
            <a:off x="4680610" y="2585390"/>
            <a:ext cx="213273" cy="1783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1" i="0">
                <a:solidFill>
                  <a:srgbClr val="637F91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cxnSp>
        <p:nvCxnSpPr>
          <p:cNvPr id="1937" name="FIG2_SHARED__DISTANCE_TO_MICRO_FUSION"/>
          <p:cNvCxnSpPr>
            <a:endCxn id="96" idx="4"/>
          </p:cNvCxnSpPr>
          <p:nvPr/>
        </p:nvCxnSpPr>
        <p:spPr>
          <a:xfrm flipV="1">
            <a:off x="4537136" y="1141802"/>
            <a:ext cx="217151" cy="373424"/>
          </a:xfrm>
          <a:prstGeom prst="straightConnector1">
            <a:avLst/>
          </a:prstGeom>
          <a:ln w="12383" cap="rnd">
            <a:solidFill>
              <a:schemeClr val="accent3">
                <a:lumMod val="75000"/>
              </a:schemeClr>
            </a:solidFill>
            <a:prstDash val="solid"/>
            <a:round/>
            <a:tailEnd type="triangle" w="sm" len="sm"/>
          </a:ln>
        </p:spPr>
      </p:cxnSp>
      <p:sp>
        <p:nvSpPr>
          <p:cNvPr id="54" name="FIG2_MICRO__SPATIAL_WEIGHT">
            <a:extLst>
              <a:ext uri="{FF2B5EF4-FFF2-40B4-BE49-F238E27FC236}">
                <a16:creationId xmlns:a16="http://schemas.microsoft.com/office/drawing/2014/main" id="{50106BF9-A6C8-882E-7D63-F1302CDE2345}"/>
              </a:ext>
            </a:extLst>
          </p:cNvPr>
          <p:cNvSpPr>
            <a:spLocks noGrp="1"/>
          </p:cNvSpPr>
          <p:nvPr/>
        </p:nvSpPr>
        <p:spPr>
          <a:xfrm>
            <a:off x="4680610" y="1209723"/>
            <a:ext cx="213273" cy="1766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540" b="1" i="0">
                <a:solidFill>
                  <a:srgbClr val="637F91"/>
                </a:solidFill>
                <a:latin typeface="Arial"/>
                <a:ea typeface="Arial"/>
                <a:cs typeface="Arial"/>
              </a:defRPr>
            </a:pPr>
            <a:r>
              <a:rPr sz="878" b="0" i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0.7</a:t>
            </a:r>
            <a:endParaRPr sz="800" b="1" i="0">
              <a:solidFill>
                <a:srgbClr val="7030A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4" name="MICRO__E1__MU">
            <a:extLst>
              <a:ext uri="{FF2B5EF4-FFF2-40B4-BE49-F238E27FC236}">
                <a16:creationId xmlns:a16="http://schemas.microsoft.com/office/drawing/2014/main" id="{C278B671-A9E8-473C-AC69-2FF3F9450194}"/>
              </a:ext>
            </a:extLst>
          </p:cNvPr>
          <p:cNvSpPr>
            <a:spLocks noGrp="1"/>
          </p:cNvSpPr>
          <p:nvPr/>
        </p:nvSpPr>
        <p:spPr>
          <a:xfrm>
            <a:off x="6411996" y="703510"/>
            <a:ext cx="87248" cy="99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615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0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rPr>
              <a:t>μ</a:t>
            </a:r>
          </a:p>
        </p:txBody>
      </p:sp>
      <p:sp>
        <p:nvSpPr>
          <p:cNvPr id="1405" name="MICRO__E2__MU">
            <a:extLst>
              <a:ext uri="{FF2B5EF4-FFF2-40B4-BE49-F238E27FC236}">
                <a16:creationId xmlns:a16="http://schemas.microsoft.com/office/drawing/2014/main" id="{8BA950CE-0957-4832-805E-52D2417EDBD5}"/>
              </a:ext>
            </a:extLst>
          </p:cNvPr>
          <p:cNvSpPr>
            <a:spLocks noGrp="1"/>
          </p:cNvSpPr>
          <p:nvPr/>
        </p:nvSpPr>
        <p:spPr>
          <a:xfrm>
            <a:off x="6743538" y="694679"/>
            <a:ext cx="87248" cy="993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615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90">
                <a:solidFill>
                  <a:srgbClr val="785AA4"/>
                </a:solidFill>
                <a:latin typeface="Times New Roman"/>
                <a:ea typeface="Times New Roman"/>
                <a:cs typeface="Times New Roman"/>
              </a:rPr>
              <a:t>μ</a:t>
            </a:r>
          </a:p>
        </p:txBody>
      </p:sp>
    </p:spTree>
    <p:extLst>
      <p:ext uri="{BB962C8B-B14F-4D97-AF65-F5344CB8AC3E}">
        <p14:creationId xmlns:p14="http://schemas.microsoft.com/office/powerpoint/2010/main" val="16682920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ST-MGPrompt Scientific">
      <a:dk1>
        <a:srgbClr val="000000"/>
      </a:dk1>
      <a:lt1>
        <a:srgbClr val="FFFFFF"/>
      </a:lt1>
      <a:dk2>
        <a:srgbClr val="17232C"/>
      </a:dk2>
      <a:lt2>
        <a:srgbClr val="EEF2F4"/>
      </a:lt2>
      <a:accent1>
        <a:srgbClr val="4F9A96"/>
      </a:accent1>
      <a:accent2>
        <a:srgbClr val="E69A54"/>
      </a:accent2>
      <a:accent3>
        <a:srgbClr val="8367B2"/>
      </a:accent3>
      <a:accent4>
        <a:srgbClr val="B76F68"/>
      </a:accent4>
      <a:accent5>
        <a:srgbClr val="6F8795"/>
      </a:accent5>
      <a:accent6>
        <a:srgbClr val="4A8B6F"/>
      </a:accent6>
      <a:hlink>
        <a:srgbClr val="8367B2"/>
      </a:hlink>
      <a:folHlink>
        <a:srgbClr val="B76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-MGPrompt Scienti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10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ST-MGPrompt Scientific">
      <a:dk1>
        <a:srgbClr val="000000"/>
      </a:dk1>
      <a:lt1>
        <a:srgbClr val="FFFFFF"/>
      </a:lt1>
      <a:dk2>
        <a:srgbClr val="17232C"/>
      </a:dk2>
      <a:lt2>
        <a:srgbClr val="EEF2F4"/>
      </a:lt2>
      <a:accent1>
        <a:srgbClr val="4F9A96"/>
      </a:accent1>
      <a:accent2>
        <a:srgbClr val="E69A54"/>
      </a:accent2>
      <a:accent3>
        <a:srgbClr val="8367B2"/>
      </a:accent3>
      <a:accent4>
        <a:srgbClr val="B76F68"/>
      </a:accent4>
      <a:accent5>
        <a:srgbClr val="6F8795"/>
      </a:accent5>
      <a:accent6>
        <a:srgbClr val="4A8B6F"/>
      </a:accent6>
      <a:hlink>
        <a:srgbClr val="8367B2"/>
      </a:hlink>
      <a:folHlink>
        <a:srgbClr val="B76F6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T-MGPrompt Scientific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10000"/>
              </a:srgbClr>
            </a:outerShdw>
          </a:effectLst>
        </a:effectStyle>
        <a:effectStyle>
          <a:effectLst>
            <a:outerShdw blurRad="76200" dist="34343" dir="3378596">
              <a:srgbClr val="23343D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</Words>
  <Application>Microsoft Office PowerPoint</Application>
  <DocSecurity>0</DocSecurity>
  <PresentationFormat>自定义</PresentationFormat>
  <Paragraphs>68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人 好</cp:lastModifiedBy>
  <cp:revision>1</cp:revision>
  <dcterms:created xsi:type="dcterms:W3CDTF">2026-08-18T08:39:17Z</dcterms:created>
  <dcterms:modified xsi:type="dcterms:W3CDTF">2026-08-18T09:21:55Z</dcterms:modified>
</cp:coreProperties>
</file>