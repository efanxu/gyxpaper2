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8047038" cy="438943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823D"/>
    <a:srgbClr val="53A399"/>
    <a:srgbClr val="667681"/>
    <a:srgbClr val="CCCC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9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Figure 2 and redesign instructions;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FIG2_MACRO__001__BAND_LEFT_CAP">
            <a:extLst>
              <a:ext uri="{FF2B5EF4-FFF2-40B4-BE49-F238E27FC236}">
                <a16:creationId xmlns:a16="http://schemas.microsoft.com/office/drawing/2014/main" id="{5DE9D292-5BBB-4F6C-8A1C-88BC19AA4541}"/>
              </a:ext>
            </a:extLst>
          </p:cNvPr>
          <p:cNvSpPr>
            <a:spLocks noGrp="1"/>
          </p:cNvSpPr>
          <p:nvPr/>
        </p:nvSpPr>
        <p:spPr>
          <a:xfrm>
            <a:off x="85725" y="428625"/>
            <a:ext cx="476250" cy="1695450"/>
          </a:xfrm>
          <a:prstGeom prst="roundRect">
            <a:avLst>
              <a:gd name="adj" fmla="val 36000"/>
            </a:avLst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2" name="FIG2_MICRO_ADAPTIVE__026__BAND_LEFT_CAP">
            <a:extLst>
              <a:ext uri="{FF2B5EF4-FFF2-40B4-BE49-F238E27FC236}">
                <a16:creationId xmlns:a16="http://schemas.microsoft.com/office/drawing/2014/main" id="{B32E9C42-435B-463A-BA64-A40BD3A6B7EC}"/>
              </a:ext>
            </a:extLst>
          </p:cNvPr>
          <p:cNvSpPr>
            <a:spLocks noGrp="1"/>
          </p:cNvSpPr>
          <p:nvPr/>
        </p:nvSpPr>
        <p:spPr>
          <a:xfrm>
            <a:off x="4791075" y="2628900"/>
            <a:ext cx="438150" cy="1162050"/>
          </a:xfrm>
          <a:prstGeom prst="roundRect">
            <a:avLst>
              <a:gd name="adj" fmla="val 34783"/>
            </a:avLst>
          </a:prstGeom>
          <a:solidFill>
            <a:srgbClr val="FAF7FD"/>
          </a:solidFill>
          <a:ln w="0">
            <a:noFill/>
            <a:prstDash val="solid"/>
          </a:ln>
        </p:spPr>
      </p:sp>
      <p:sp>
        <p:nvSpPr>
          <p:cNvPr id="4" name="FIG2_MICRO__011__BAND_LEFT_CAP">
            <a:extLst>
              <a:ext uri="{FF2B5EF4-FFF2-40B4-BE49-F238E27FC236}">
                <a16:creationId xmlns:a16="http://schemas.microsoft.com/office/drawing/2014/main" id="{EABD2F8D-5CFF-45AC-B05A-242810FEC22B}"/>
              </a:ext>
            </a:extLst>
          </p:cNvPr>
          <p:cNvSpPr>
            <a:spLocks noGrp="1"/>
          </p:cNvSpPr>
          <p:nvPr/>
        </p:nvSpPr>
        <p:spPr>
          <a:xfrm>
            <a:off x="85725" y="2219325"/>
            <a:ext cx="476250" cy="1695450"/>
          </a:xfrm>
          <a:prstGeom prst="roundRect">
            <a:avLst>
              <a:gd name="adj" fmla="val 36000"/>
            </a:avLst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6" name="FIG2_MACRO_ADAPTIVE__021__BAND_LEFT_CAP">
            <a:extLst>
              <a:ext uri="{FF2B5EF4-FFF2-40B4-BE49-F238E27FC236}">
                <a16:creationId xmlns:a16="http://schemas.microsoft.com/office/drawing/2014/main" id="{F289C420-C050-49B6-A682-C10B676CEBCE}"/>
              </a:ext>
            </a:extLst>
          </p:cNvPr>
          <p:cNvSpPr>
            <a:spLocks noGrp="1"/>
          </p:cNvSpPr>
          <p:nvPr/>
        </p:nvSpPr>
        <p:spPr>
          <a:xfrm>
            <a:off x="4791075" y="838200"/>
            <a:ext cx="438150" cy="1162050"/>
          </a:xfrm>
          <a:prstGeom prst="roundRect">
            <a:avLst>
              <a:gd name="adj" fmla="val 34783"/>
            </a:avLst>
          </a:prstGeom>
          <a:solidFill>
            <a:srgbClr val="FAF7FD"/>
          </a:solidFill>
          <a:ln w="0">
            <a:noFill/>
            <a:prstDash val="solid"/>
          </a:ln>
        </p:spPr>
      </p:sp>
      <p:sp>
        <p:nvSpPr>
          <p:cNvPr id="424" name="FIG2_MACRO__002__BAND_MIDDLE_1">
            <a:extLst>
              <a:ext uri="{FF2B5EF4-FFF2-40B4-BE49-F238E27FC236}">
                <a16:creationId xmlns:a16="http://schemas.microsoft.com/office/drawing/2014/main" id="{F1C5202D-694A-4D5E-902F-FCC23A259E55}"/>
              </a:ext>
            </a:extLst>
          </p:cNvPr>
          <p:cNvSpPr>
            <a:spLocks noGrp="1"/>
          </p:cNvSpPr>
          <p:nvPr/>
        </p:nvSpPr>
        <p:spPr>
          <a:xfrm>
            <a:off x="257175" y="428625"/>
            <a:ext cx="946547" cy="1695450"/>
          </a:xfrm>
          <a:prstGeom prst="rect">
            <a:avLst/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25" name="FIG2_MACRO__003__BAND_MIDDLE_2">
            <a:extLst>
              <a:ext uri="{FF2B5EF4-FFF2-40B4-BE49-F238E27FC236}">
                <a16:creationId xmlns:a16="http://schemas.microsoft.com/office/drawing/2014/main" id="{81747700-B1C1-4890-8B1F-DDBEF7E5C5F5}"/>
              </a:ext>
            </a:extLst>
          </p:cNvPr>
          <p:cNvSpPr>
            <a:spLocks noGrp="1"/>
          </p:cNvSpPr>
          <p:nvPr/>
        </p:nvSpPr>
        <p:spPr>
          <a:xfrm>
            <a:off x="1198959" y="428625"/>
            <a:ext cx="946547" cy="1695450"/>
          </a:xfrm>
          <a:prstGeom prst="rect">
            <a:avLst/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26" name="FIG2_MACRO__004__BAND_MIDDLE_3">
            <a:extLst>
              <a:ext uri="{FF2B5EF4-FFF2-40B4-BE49-F238E27FC236}">
                <a16:creationId xmlns:a16="http://schemas.microsoft.com/office/drawing/2014/main" id="{22EC528F-6C78-4A1F-A7E8-0F64D4A374F1}"/>
              </a:ext>
            </a:extLst>
          </p:cNvPr>
          <p:cNvSpPr>
            <a:spLocks noGrp="1"/>
          </p:cNvSpPr>
          <p:nvPr/>
        </p:nvSpPr>
        <p:spPr>
          <a:xfrm>
            <a:off x="2140744" y="428625"/>
            <a:ext cx="946547" cy="1695450"/>
          </a:xfrm>
          <a:prstGeom prst="rect">
            <a:avLst/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27" name="FIG2_MACRO__005__BAND_MIDDLE_4">
            <a:extLst>
              <a:ext uri="{FF2B5EF4-FFF2-40B4-BE49-F238E27FC236}">
                <a16:creationId xmlns:a16="http://schemas.microsoft.com/office/drawing/2014/main" id="{2154EB48-ADB6-4814-A901-90AC87144740}"/>
              </a:ext>
            </a:extLst>
          </p:cNvPr>
          <p:cNvSpPr>
            <a:spLocks noGrp="1"/>
          </p:cNvSpPr>
          <p:nvPr/>
        </p:nvSpPr>
        <p:spPr>
          <a:xfrm>
            <a:off x="3082528" y="428625"/>
            <a:ext cx="946547" cy="1695450"/>
          </a:xfrm>
          <a:prstGeom prst="rect">
            <a:avLst/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28" name="FIG2_MACRO__006__BAND_MIDDLE_5">
            <a:extLst>
              <a:ext uri="{FF2B5EF4-FFF2-40B4-BE49-F238E27FC236}">
                <a16:creationId xmlns:a16="http://schemas.microsoft.com/office/drawing/2014/main" id="{B3CA1C6E-54AF-4713-AA71-C4E980C2ED10}"/>
              </a:ext>
            </a:extLst>
          </p:cNvPr>
          <p:cNvSpPr>
            <a:spLocks noGrp="1"/>
          </p:cNvSpPr>
          <p:nvPr/>
        </p:nvSpPr>
        <p:spPr>
          <a:xfrm>
            <a:off x="4024313" y="428625"/>
            <a:ext cx="946547" cy="1695450"/>
          </a:xfrm>
          <a:prstGeom prst="rect">
            <a:avLst/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29" name="FIG2_MACRO__007__BAND_MIDDLE_6">
            <a:extLst>
              <a:ext uri="{FF2B5EF4-FFF2-40B4-BE49-F238E27FC236}">
                <a16:creationId xmlns:a16="http://schemas.microsoft.com/office/drawing/2014/main" id="{029E68BA-3FB0-44F5-B90E-0DE7F2146AF8}"/>
              </a:ext>
            </a:extLst>
          </p:cNvPr>
          <p:cNvSpPr>
            <a:spLocks noGrp="1"/>
          </p:cNvSpPr>
          <p:nvPr/>
        </p:nvSpPr>
        <p:spPr>
          <a:xfrm>
            <a:off x="4966097" y="428625"/>
            <a:ext cx="946547" cy="1695450"/>
          </a:xfrm>
          <a:prstGeom prst="rect">
            <a:avLst/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30" name="FIG2_MACRO__008__BAND_MIDDLE_7">
            <a:extLst>
              <a:ext uri="{FF2B5EF4-FFF2-40B4-BE49-F238E27FC236}">
                <a16:creationId xmlns:a16="http://schemas.microsoft.com/office/drawing/2014/main" id="{DE9D55D3-B32E-465E-AC6E-CEF765F6CADE}"/>
              </a:ext>
            </a:extLst>
          </p:cNvPr>
          <p:cNvSpPr>
            <a:spLocks noGrp="1"/>
          </p:cNvSpPr>
          <p:nvPr/>
        </p:nvSpPr>
        <p:spPr>
          <a:xfrm>
            <a:off x="5907881" y="428625"/>
            <a:ext cx="946547" cy="1695450"/>
          </a:xfrm>
          <a:prstGeom prst="rect">
            <a:avLst/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31" name="FIG2_MACRO__009__BAND_MIDDLE_8">
            <a:extLst>
              <a:ext uri="{FF2B5EF4-FFF2-40B4-BE49-F238E27FC236}">
                <a16:creationId xmlns:a16="http://schemas.microsoft.com/office/drawing/2014/main" id="{175B5B69-B5B4-4469-B350-C835C7154CB8}"/>
              </a:ext>
            </a:extLst>
          </p:cNvPr>
          <p:cNvSpPr>
            <a:spLocks noGrp="1"/>
          </p:cNvSpPr>
          <p:nvPr/>
        </p:nvSpPr>
        <p:spPr>
          <a:xfrm>
            <a:off x="6849666" y="428625"/>
            <a:ext cx="946547" cy="1695450"/>
          </a:xfrm>
          <a:prstGeom prst="rect">
            <a:avLst/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32" name="FIG2_MACRO__010__BAND_RIGHT_CAP">
            <a:extLst>
              <a:ext uri="{FF2B5EF4-FFF2-40B4-BE49-F238E27FC236}">
                <a16:creationId xmlns:a16="http://schemas.microsoft.com/office/drawing/2014/main" id="{3AD170BB-470F-4DDC-9141-C3BFBD61FC79}"/>
              </a:ext>
            </a:extLst>
          </p:cNvPr>
          <p:cNvSpPr>
            <a:spLocks noGrp="1"/>
          </p:cNvSpPr>
          <p:nvPr/>
        </p:nvSpPr>
        <p:spPr>
          <a:xfrm>
            <a:off x="7486650" y="428625"/>
            <a:ext cx="476250" cy="1695450"/>
          </a:xfrm>
          <a:prstGeom prst="roundRect">
            <a:avLst>
              <a:gd name="adj" fmla="val 36000"/>
            </a:avLst>
          </a:prstGeom>
          <a:solidFill>
            <a:srgbClr val="F1FAF8"/>
          </a:solidFill>
          <a:ln w="0">
            <a:noFill/>
            <a:prstDash val="solid"/>
          </a:ln>
        </p:spPr>
      </p:sp>
      <p:sp>
        <p:nvSpPr>
          <p:cNvPr id="433" name="FIG2_MICRO__012__BAND_MIDDLE_1">
            <a:extLst>
              <a:ext uri="{FF2B5EF4-FFF2-40B4-BE49-F238E27FC236}">
                <a16:creationId xmlns:a16="http://schemas.microsoft.com/office/drawing/2014/main" id="{F27FA8A2-EBDF-4BD5-B741-0DCBFF76D6F6}"/>
              </a:ext>
            </a:extLst>
          </p:cNvPr>
          <p:cNvSpPr>
            <a:spLocks noGrp="1"/>
          </p:cNvSpPr>
          <p:nvPr/>
        </p:nvSpPr>
        <p:spPr>
          <a:xfrm>
            <a:off x="257175" y="2219325"/>
            <a:ext cx="946547" cy="1695450"/>
          </a:xfrm>
          <a:prstGeom prst="rect">
            <a:avLst/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34" name="FIG2_MICRO__013__BAND_MIDDLE_2">
            <a:extLst>
              <a:ext uri="{FF2B5EF4-FFF2-40B4-BE49-F238E27FC236}">
                <a16:creationId xmlns:a16="http://schemas.microsoft.com/office/drawing/2014/main" id="{49512510-A03C-4DC4-BFDC-191F14E21B68}"/>
              </a:ext>
            </a:extLst>
          </p:cNvPr>
          <p:cNvSpPr>
            <a:spLocks noGrp="1"/>
          </p:cNvSpPr>
          <p:nvPr/>
        </p:nvSpPr>
        <p:spPr>
          <a:xfrm>
            <a:off x="1198959" y="2219325"/>
            <a:ext cx="946547" cy="1695450"/>
          </a:xfrm>
          <a:prstGeom prst="rect">
            <a:avLst/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35" name="FIG2_MICRO__014__BAND_MIDDLE_3">
            <a:extLst>
              <a:ext uri="{FF2B5EF4-FFF2-40B4-BE49-F238E27FC236}">
                <a16:creationId xmlns:a16="http://schemas.microsoft.com/office/drawing/2014/main" id="{C0592212-79D3-4C47-B16C-50A5D16EC435}"/>
              </a:ext>
            </a:extLst>
          </p:cNvPr>
          <p:cNvSpPr>
            <a:spLocks noGrp="1"/>
          </p:cNvSpPr>
          <p:nvPr/>
        </p:nvSpPr>
        <p:spPr>
          <a:xfrm>
            <a:off x="2140744" y="2219325"/>
            <a:ext cx="946547" cy="1695450"/>
          </a:xfrm>
          <a:prstGeom prst="rect">
            <a:avLst/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36" name="FIG2_MICRO__015__BAND_MIDDLE_4">
            <a:extLst>
              <a:ext uri="{FF2B5EF4-FFF2-40B4-BE49-F238E27FC236}">
                <a16:creationId xmlns:a16="http://schemas.microsoft.com/office/drawing/2014/main" id="{AA046216-6DAD-401F-913F-EB1163DE155D}"/>
              </a:ext>
            </a:extLst>
          </p:cNvPr>
          <p:cNvSpPr>
            <a:spLocks noGrp="1"/>
          </p:cNvSpPr>
          <p:nvPr/>
        </p:nvSpPr>
        <p:spPr>
          <a:xfrm>
            <a:off x="3082528" y="2219325"/>
            <a:ext cx="946547" cy="1695450"/>
          </a:xfrm>
          <a:prstGeom prst="rect">
            <a:avLst/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37" name="FIG2_MICRO__016__BAND_MIDDLE_5">
            <a:extLst>
              <a:ext uri="{FF2B5EF4-FFF2-40B4-BE49-F238E27FC236}">
                <a16:creationId xmlns:a16="http://schemas.microsoft.com/office/drawing/2014/main" id="{C11BB0D9-4593-4D3A-B548-04295D69ABE6}"/>
              </a:ext>
            </a:extLst>
          </p:cNvPr>
          <p:cNvSpPr>
            <a:spLocks noGrp="1"/>
          </p:cNvSpPr>
          <p:nvPr/>
        </p:nvSpPr>
        <p:spPr>
          <a:xfrm>
            <a:off x="4024313" y="2219325"/>
            <a:ext cx="946547" cy="1695450"/>
          </a:xfrm>
          <a:prstGeom prst="rect">
            <a:avLst/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38" name="FIG2_MICRO__017__BAND_MIDDLE_6">
            <a:extLst>
              <a:ext uri="{FF2B5EF4-FFF2-40B4-BE49-F238E27FC236}">
                <a16:creationId xmlns:a16="http://schemas.microsoft.com/office/drawing/2014/main" id="{7BC6FF11-3D84-4F8D-AA03-17578E6E77D3}"/>
              </a:ext>
            </a:extLst>
          </p:cNvPr>
          <p:cNvSpPr>
            <a:spLocks noGrp="1"/>
          </p:cNvSpPr>
          <p:nvPr/>
        </p:nvSpPr>
        <p:spPr>
          <a:xfrm>
            <a:off x="4966097" y="2219325"/>
            <a:ext cx="946547" cy="1695450"/>
          </a:xfrm>
          <a:prstGeom prst="rect">
            <a:avLst/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39" name="FIG2_MICRO__018__BAND_MIDDLE_7">
            <a:extLst>
              <a:ext uri="{FF2B5EF4-FFF2-40B4-BE49-F238E27FC236}">
                <a16:creationId xmlns:a16="http://schemas.microsoft.com/office/drawing/2014/main" id="{9D3CDDF5-14F5-486B-A11E-871FF0A27C74}"/>
              </a:ext>
            </a:extLst>
          </p:cNvPr>
          <p:cNvSpPr>
            <a:spLocks noGrp="1"/>
          </p:cNvSpPr>
          <p:nvPr/>
        </p:nvSpPr>
        <p:spPr>
          <a:xfrm>
            <a:off x="5907881" y="2219325"/>
            <a:ext cx="946547" cy="1695450"/>
          </a:xfrm>
          <a:prstGeom prst="rect">
            <a:avLst/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40" name="FIG2_MICRO__019__BAND_MIDDLE_8">
            <a:extLst>
              <a:ext uri="{FF2B5EF4-FFF2-40B4-BE49-F238E27FC236}">
                <a16:creationId xmlns:a16="http://schemas.microsoft.com/office/drawing/2014/main" id="{83D5A9CF-F36C-45A9-BC11-5824450A3F67}"/>
              </a:ext>
            </a:extLst>
          </p:cNvPr>
          <p:cNvSpPr>
            <a:spLocks noGrp="1"/>
          </p:cNvSpPr>
          <p:nvPr/>
        </p:nvSpPr>
        <p:spPr>
          <a:xfrm>
            <a:off x="6849666" y="2219325"/>
            <a:ext cx="946547" cy="1695450"/>
          </a:xfrm>
          <a:prstGeom prst="rect">
            <a:avLst/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41" name="FIG2_MICRO__020__BAND_RIGHT_CAP">
            <a:extLst>
              <a:ext uri="{FF2B5EF4-FFF2-40B4-BE49-F238E27FC236}">
                <a16:creationId xmlns:a16="http://schemas.microsoft.com/office/drawing/2014/main" id="{B33DF223-08DF-4396-AF6A-93D0736E2328}"/>
              </a:ext>
            </a:extLst>
          </p:cNvPr>
          <p:cNvSpPr>
            <a:spLocks noGrp="1"/>
          </p:cNvSpPr>
          <p:nvPr/>
        </p:nvSpPr>
        <p:spPr>
          <a:xfrm>
            <a:off x="7486650" y="2219325"/>
            <a:ext cx="476250" cy="1695450"/>
          </a:xfrm>
          <a:prstGeom prst="roundRect">
            <a:avLst>
              <a:gd name="adj" fmla="val 36000"/>
            </a:avLst>
          </a:prstGeom>
          <a:solidFill>
            <a:srgbClr val="FFF7F0"/>
          </a:solidFill>
          <a:ln w="0">
            <a:noFill/>
            <a:prstDash val="solid"/>
          </a:ln>
        </p:spPr>
      </p:sp>
      <p:sp>
        <p:nvSpPr>
          <p:cNvPr id="451" name="FIG2_TITLE">
            <a:extLst>
              <a:ext uri="{FF2B5EF4-FFF2-40B4-BE49-F238E27FC236}">
                <a16:creationId xmlns:a16="http://schemas.microsoft.com/office/drawing/2014/main" id="{B34CB361-CD3F-48B3-A1F5-04521047BE41}"/>
              </a:ext>
            </a:extLst>
          </p:cNvPr>
          <p:cNvSpPr>
            <a:spLocks noGrp="1"/>
          </p:cNvSpPr>
          <p:nvPr/>
        </p:nvSpPr>
        <p:spPr>
          <a:xfrm>
            <a:off x="133350" y="28575"/>
            <a:ext cx="7781925" cy="3429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2" name="FIG2_MACRO">
            <a:extLst>
              <a:ext uri="{FF2B5EF4-FFF2-40B4-BE49-F238E27FC236}">
                <a16:creationId xmlns:a16="http://schemas.microsoft.com/office/drawing/2014/main" id="{0BE82425-943F-4F66-B0AE-2EE60B6A1B48}"/>
              </a:ext>
            </a:extLst>
          </p:cNvPr>
          <p:cNvSpPr>
            <a:spLocks noGrp="1"/>
          </p:cNvSpPr>
          <p:nvPr/>
        </p:nvSpPr>
        <p:spPr>
          <a:xfrm>
            <a:off x="95250" y="438150"/>
            <a:ext cx="4695825" cy="16668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3" name="FIG2_MICRO">
            <a:extLst>
              <a:ext uri="{FF2B5EF4-FFF2-40B4-BE49-F238E27FC236}">
                <a16:creationId xmlns:a16="http://schemas.microsoft.com/office/drawing/2014/main" id="{E0E9D733-623B-4160-A776-04FC053CDFEE}"/>
              </a:ext>
            </a:extLst>
          </p:cNvPr>
          <p:cNvSpPr>
            <a:spLocks noGrp="1"/>
          </p:cNvSpPr>
          <p:nvPr/>
        </p:nvSpPr>
        <p:spPr>
          <a:xfrm>
            <a:off x="95250" y="2228850"/>
            <a:ext cx="4695825" cy="16668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4" name="FIG2_DISTANCE_HUB">
            <a:extLst>
              <a:ext uri="{FF2B5EF4-FFF2-40B4-BE49-F238E27FC236}">
                <a16:creationId xmlns:a16="http://schemas.microsoft.com/office/drawing/2014/main" id="{B34745CF-DE48-4E41-B21A-8567F91333FF}"/>
              </a:ext>
            </a:extLst>
          </p:cNvPr>
          <p:cNvSpPr>
            <a:spLocks noGrp="1"/>
          </p:cNvSpPr>
          <p:nvPr/>
        </p:nvSpPr>
        <p:spPr>
          <a:xfrm>
            <a:off x="2667000" y="1504950"/>
            <a:ext cx="2571750" cy="13049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5" name="FIG2_MACRO_FUSION">
            <a:extLst>
              <a:ext uri="{FF2B5EF4-FFF2-40B4-BE49-F238E27FC236}">
                <a16:creationId xmlns:a16="http://schemas.microsoft.com/office/drawing/2014/main" id="{885EFBFB-36A6-4D37-A8E3-19700AB68B07}"/>
              </a:ext>
            </a:extLst>
          </p:cNvPr>
          <p:cNvSpPr>
            <a:spLocks noGrp="1"/>
          </p:cNvSpPr>
          <p:nvPr/>
        </p:nvSpPr>
        <p:spPr>
          <a:xfrm>
            <a:off x="3048000" y="876300"/>
            <a:ext cx="1914525" cy="914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6" name="FIG2_MICRO_FUSION">
            <a:extLst>
              <a:ext uri="{FF2B5EF4-FFF2-40B4-BE49-F238E27FC236}">
                <a16:creationId xmlns:a16="http://schemas.microsoft.com/office/drawing/2014/main" id="{9F839679-F58E-4922-AAD4-77490C9B89AB}"/>
              </a:ext>
            </a:extLst>
          </p:cNvPr>
          <p:cNvSpPr>
            <a:spLocks noGrp="1"/>
          </p:cNvSpPr>
          <p:nvPr/>
        </p:nvSpPr>
        <p:spPr>
          <a:xfrm>
            <a:off x="3048000" y="2667000"/>
            <a:ext cx="1914525" cy="914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7" name="FIG2_MACRO_ADAPTIVE">
            <a:extLst>
              <a:ext uri="{FF2B5EF4-FFF2-40B4-BE49-F238E27FC236}">
                <a16:creationId xmlns:a16="http://schemas.microsoft.com/office/drawing/2014/main" id="{AA66347B-33A5-49AD-97D9-B81D5581013A}"/>
              </a:ext>
            </a:extLst>
          </p:cNvPr>
          <p:cNvSpPr>
            <a:spLocks noGrp="1"/>
          </p:cNvSpPr>
          <p:nvPr/>
        </p:nvSpPr>
        <p:spPr>
          <a:xfrm>
            <a:off x="4286250" y="438150"/>
            <a:ext cx="3648075" cy="15621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8" name="FIG2_MICRO_ADAPTIVE">
            <a:extLst>
              <a:ext uri="{FF2B5EF4-FFF2-40B4-BE49-F238E27FC236}">
                <a16:creationId xmlns:a16="http://schemas.microsoft.com/office/drawing/2014/main" id="{9FB2D654-7F97-4C98-BBF5-A6DD9E96D4AF}"/>
              </a:ext>
            </a:extLst>
          </p:cNvPr>
          <p:cNvSpPr>
            <a:spLocks noGrp="1"/>
          </p:cNvSpPr>
          <p:nvPr/>
        </p:nvSpPr>
        <p:spPr>
          <a:xfrm>
            <a:off x="4286250" y="2228850"/>
            <a:ext cx="3648075" cy="15621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9" name="FIG2_MACRO__032__SOURCE_TO_TRANSFORM__FROM_ANCHOR">
            <a:extLst>
              <a:ext uri="{FF2B5EF4-FFF2-40B4-BE49-F238E27FC236}">
                <a16:creationId xmlns:a16="http://schemas.microsoft.com/office/drawing/2014/main" id="{10D0693F-3449-4144-B611-15A7FFBE9FCE}"/>
              </a:ext>
            </a:extLst>
          </p:cNvPr>
          <p:cNvSpPr>
            <a:spLocks noGrp="1"/>
          </p:cNvSpPr>
          <p:nvPr/>
        </p:nvSpPr>
        <p:spPr>
          <a:xfrm>
            <a:off x="7381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60" name="FIG2_MACRO__032__SOURCE_TO_TRANSFORM__TO_ANCHOR">
            <a:extLst>
              <a:ext uri="{FF2B5EF4-FFF2-40B4-BE49-F238E27FC236}">
                <a16:creationId xmlns:a16="http://schemas.microsoft.com/office/drawing/2014/main" id="{0977D09B-E7F5-4C23-AF54-0A3C2D16A478}"/>
              </a:ext>
            </a:extLst>
          </p:cNvPr>
          <p:cNvSpPr>
            <a:spLocks noGrp="1"/>
          </p:cNvSpPr>
          <p:nvPr/>
        </p:nvSpPr>
        <p:spPr>
          <a:xfrm>
            <a:off x="862013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04" name="FIG2_MACRO__032__SOURCE_TO_TRANSFORM"/>
          <p:cNvCxnSpPr>
            <a:stCxn id="459" idx="3"/>
            <a:endCxn id="460" idx="1"/>
          </p:cNvCxnSpPr>
          <p:nvPr/>
        </p:nvCxnSpPr>
        <p:spPr>
          <a:xfrm>
            <a:off x="747713" y="1209676"/>
            <a:ext cx="114300" cy="0"/>
          </a:xfrm>
          <a:prstGeom prst="straightConnector1">
            <a:avLst/>
          </a:prstGeom>
          <a:ln w="12859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462" name="FIG2_MACRO__033__TRANSFORM_TO_SIMILARITY__FROM_ANCHOR">
            <a:extLst>
              <a:ext uri="{FF2B5EF4-FFF2-40B4-BE49-F238E27FC236}">
                <a16:creationId xmlns:a16="http://schemas.microsoft.com/office/drawing/2014/main" id="{B047D0E9-5D67-4571-8027-D6F99FCD25EA}"/>
              </a:ext>
            </a:extLst>
          </p:cNvPr>
          <p:cNvSpPr>
            <a:spLocks noGrp="1"/>
          </p:cNvSpPr>
          <p:nvPr/>
        </p:nvSpPr>
        <p:spPr>
          <a:xfrm>
            <a:off x="1433513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63" name="FIG2_MACRO__033__TRANSFORM_TO_SIMILARITY__TO_ANCHOR">
            <a:extLst>
              <a:ext uri="{FF2B5EF4-FFF2-40B4-BE49-F238E27FC236}">
                <a16:creationId xmlns:a16="http://schemas.microsoft.com/office/drawing/2014/main" id="{0E7A7E0D-F2DD-4957-944B-1DB7D2562905}"/>
              </a:ext>
            </a:extLst>
          </p:cNvPr>
          <p:cNvSpPr>
            <a:spLocks noGrp="1"/>
          </p:cNvSpPr>
          <p:nvPr/>
        </p:nvSpPr>
        <p:spPr>
          <a:xfrm>
            <a:off x="1547813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07" name="FIG2_MACRO__033__TRANSFORM_TO_SIMILARITY"/>
          <p:cNvCxnSpPr>
            <a:stCxn id="462" idx="3"/>
            <a:endCxn id="463" idx="1"/>
          </p:cNvCxnSpPr>
          <p:nvPr/>
        </p:nvCxnSpPr>
        <p:spPr>
          <a:xfrm>
            <a:off x="1443038" y="1209676"/>
            <a:ext cx="104775" cy="0"/>
          </a:xfrm>
          <a:prstGeom prst="straightConnector1">
            <a:avLst/>
          </a:prstGeom>
          <a:ln w="12859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465" name="FIG2_MACRO__034__SIMILARITY_TO_DENSE__FROM_ANCHOR">
            <a:extLst>
              <a:ext uri="{FF2B5EF4-FFF2-40B4-BE49-F238E27FC236}">
                <a16:creationId xmlns:a16="http://schemas.microsoft.com/office/drawing/2014/main" id="{91FBF17B-625C-4B8D-B373-9D75A4828E5E}"/>
              </a:ext>
            </a:extLst>
          </p:cNvPr>
          <p:cNvSpPr>
            <a:spLocks noGrp="1"/>
          </p:cNvSpPr>
          <p:nvPr/>
        </p:nvSpPr>
        <p:spPr>
          <a:xfrm>
            <a:off x="220503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66" name="FIG2_MACRO__034__SIMILARITY_TO_DENSE__TO_ANCHOR">
            <a:extLst>
              <a:ext uri="{FF2B5EF4-FFF2-40B4-BE49-F238E27FC236}">
                <a16:creationId xmlns:a16="http://schemas.microsoft.com/office/drawing/2014/main" id="{D23247EC-D24B-4956-8B79-EA8225BDB5CA}"/>
              </a:ext>
            </a:extLst>
          </p:cNvPr>
          <p:cNvSpPr>
            <a:spLocks noGrp="1"/>
          </p:cNvSpPr>
          <p:nvPr/>
        </p:nvSpPr>
        <p:spPr>
          <a:xfrm>
            <a:off x="22621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10" name="FIG2_MACRO__034__SIMILARITY_TO_DENSE"/>
          <p:cNvCxnSpPr>
            <a:stCxn id="465" idx="3"/>
            <a:endCxn id="466" idx="1"/>
          </p:cNvCxnSpPr>
          <p:nvPr/>
        </p:nvCxnSpPr>
        <p:spPr>
          <a:xfrm>
            <a:off x="2214563" y="1209676"/>
            <a:ext cx="47625" cy="0"/>
          </a:xfrm>
          <a:prstGeom prst="straightConnector1">
            <a:avLst/>
          </a:prstGeom>
          <a:ln w="12859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468" name="FIG2_MACRO__035__TOPK__FROM_ANCHOR">
            <a:extLst>
              <a:ext uri="{FF2B5EF4-FFF2-40B4-BE49-F238E27FC236}">
                <a16:creationId xmlns:a16="http://schemas.microsoft.com/office/drawing/2014/main" id="{D077B003-BBDE-4D07-B453-605BBDBBCC2F}"/>
              </a:ext>
            </a:extLst>
          </p:cNvPr>
          <p:cNvSpPr>
            <a:spLocks noGrp="1"/>
          </p:cNvSpPr>
          <p:nvPr/>
        </p:nvSpPr>
        <p:spPr>
          <a:xfrm>
            <a:off x="25669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69" name="FIG2_MACRO__035__TOPK__TO_ANCHOR">
            <a:extLst>
              <a:ext uri="{FF2B5EF4-FFF2-40B4-BE49-F238E27FC236}">
                <a16:creationId xmlns:a16="http://schemas.microsoft.com/office/drawing/2014/main" id="{58BFD44D-8EA5-4BEE-8031-AF61F96BE8C4}"/>
              </a:ext>
            </a:extLst>
          </p:cNvPr>
          <p:cNvSpPr>
            <a:spLocks noGrp="1"/>
          </p:cNvSpPr>
          <p:nvPr/>
        </p:nvSpPr>
        <p:spPr>
          <a:xfrm>
            <a:off x="27574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13" name="FIG2_MACRO__035__TOPK"/>
          <p:cNvCxnSpPr>
            <a:stCxn id="468" idx="3"/>
            <a:endCxn id="469" idx="1"/>
          </p:cNvCxnSpPr>
          <p:nvPr/>
        </p:nvCxnSpPr>
        <p:spPr>
          <a:xfrm>
            <a:off x="2576513" y="1209676"/>
            <a:ext cx="180975" cy="0"/>
          </a:xfrm>
          <a:prstGeom prst="straightConnector1">
            <a:avLst/>
          </a:prstGeom>
          <a:ln w="12859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471" name="FIG2_MACRO__036__SEMANTIC_TO_FUSION__FROM_ANCHOR">
            <a:extLst>
              <a:ext uri="{FF2B5EF4-FFF2-40B4-BE49-F238E27FC236}">
                <a16:creationId xmlns:a16="http://schemas.microsoft.com/office/drawing/2014/main" id="{BF7CBFE3-6C61-4A40-819A-71F923AA7DF0}"/>
              </a:ext>
            </a:extLst>
          </p:cNvPr>
          <p:cNvSpPr>
            <a:spLocks noGrp="1"/>
          </p:cNvSpPr>
          <p:nvPr/>
        </p:nvSpPr>
        <p:spPr>
          <a:xfrm>
            <a:off x="308133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72" name="FIG2_MACRO__036__SEMANTIC_TO_FUSION__TO_ANCHOR">
            <a:extLst>
              <a:ext uri="{FF2B5EF4-FFF2-40B4-BE49-F238E27FC236}">
                <a16:creationId xmlns:a16="http://schemas.microsoft.com/office/drawing/2014/main" id="{A7E1E9BE-622E-4153-A76C-6F7A633ECF89}"/>
              </a:ext>
            </a:extLst>
          </p:cNvPr>
          <p:cNvSpPr>
            <a:spLocks noGrp="1"/>
          </p:cNvSpPr>
          <p:nvPr/>
        </p:nvSpPr>
        <p:spPr>
          <a:xfrm>
            <a:off x="39385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16" name="FIG2_MACRO__036__SEMANTIC_TO_FUSION"/>
          <p:cNvCxnSpPr>
            <a:stCxn id="471" idx="3"/>
            <a:endCxn id="472" idx="1"/>
          </p:cNvCxnSpPr>
          <p:nvPr/>
        </p:nvCxnSpPr>
        <p:spPr>
          <a:xfrm>
            <a:off x="3090863" y="1209676"/>
            <a:ext cx="847725" cy="0"/>
          </a:xfrm>
          <a:prstGeom prst="straightConnector1">
            <a:avLst/>
          </a:prstGeom>
          <a:ln w="13811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474" name="FIG2_MACRO__037__FUSION_TO_PRIOR__FROM_ANCHOR">
            <a:extLst>
              <a:ext uri="{FF2B5EF4-FFF2-40B4-BE49-F238E27FC236}">
                <a16:creationId xmlns:a16="http://schemas.microsoft.com/office/drawing/2014/main" id="{49284122-3452-446C-98FC-FBF1840D99C0}"/>
              </a:ext>
            </a:extLst>
          </p:cNvPr>
          <p:cNvSpPr>
            <a:spLocks noGrp="1"/>
          </p:cNvSpPr>
          <p:nvPr/>
        </p:nvSpPr>
        <p:spPr>
          <a:xfrm>
            <a:off x="42052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75" name="FIG2_MACRO__037__FUSION_TO_PRIOR__TO_ANCHOR">
            <a:extLst>
              <a:ext uri="{FF2B5EF4-FFF2-40B4-BE49-F238E27FC236}">
                <a16:creationId xmlns:a16="http://schemas.microsoft.com/office/drawing/2014/main" id="{90FC5B7B-7B8C-4950-97B2-751875B74C7C}"/>
              </a:ext>
            </a:extLst>
          </p:cNvPr>
          <p:cNvSpPr>
            <a:spLocks noGrp="1"/>
          </p:cNvSpPr>
          <p:nvPr/>
        </p:nvSpPr>
        <p:spPr>
          <a:xfrm>
            <a:off x="42814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19" name="FIG2_MACRO__037__FUSION_TO_PRIOR"/>
          <p:cNvCxnSpPr>
            <a:stCxn id="474" idx="3"/>
            <a:endCxn id="475" idx="1"/>
          </p:cNvCxnSpPr>
          <p:nvPr/>
        </p:nvCxnSpPr>
        <p:spPr>
          <a:xfrm>
            <a:off x="4214813" y="1209676"/>
            <a:ext cx="66675" cy="0"/>
          </a:xfrm>
          <a:prstGeom prst="straightConnector1">
            <a:avLst/>
          </a:prstGeom>
          <a:ln w="13811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477" name="FIG2_MACRO__038__PRIOR_TO_ODOT__FROM_ANCHOR">
            <a:extLst>
              <a:ext uri="{FF2B5EF4-FFF2-40B4-BE49-F238E27FC236}">
                <a16:creationId xmlns:a16="http://schemas.microsoft.com/office/drawing/2014/main" id="{19D9742A-787F-4505-83AB-D8C6796A9AEA}"/>
              </a:ext>
            </a:extLst>
          </p:cNvPr>
          <p:cNvSpPr>
            <a:spLocks noGrp="1"/>
          </p:cNvSpPr>
          <p:nvPr/>
        </p:nvSpPr>
        <p:spPr>
          <a:xfrm>
            <a:off x="475773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78" name="FIG2_MACRO__038__PRIOR_TO_ODOT__TO_ANCHOR">
            <a:extLst>
              <a:ext uri="{FF2B5EF4-FFF2-40B4-BE49-F238E27FC236}">
                <a16:creationId xmlns:a16="http://schemas.microsoft.com/office/drawing/2014/main" id="{73447D52-9261-418D-997E-3A6973B87A98}"/>
              </a:ext>
            </a:extLst>
          </p:cNvPr>
          <p:cNvSpPr>
            <a:spLocks noGrp="1"/>
          </p:cNvSpPr>
          <p:nvPr/>
        </p:nvSpPr>
        <p:spPr>
          <a:xfrm>
            <a:off x="58816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22" name="FIG2_MACRO__038__PRIOR_TO_ODOT"/>
          <p:cNvCxnSpPr>
            <a:stCxn id="477" idx="3"/>
            <a:endCxn id="478" idx="1"/>
          </p:cNvCxnSpPr>
          <p:nvPr/>
        </p:nvCxnSpPr>
        <p:spPr>
          <a:xfrm>
            <a:off x="4767263" y="1209676"/>
            <a:ext cx="1114425" cy="0"/>
          </a:xfrm>
          <a:prstGeom prst="straightConnector1">
            <a:avLst/>
          </a:prstGeom>
          <a:ln w="13811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480" name="FIG2_MACRO__039__ODOT_TO_EFFECTIVE__FROM_ANCHOR">
            <a:extLst>
              <a:ext uri="{FF2B5EF4-FFF2-40B4-BE49-F238E27FC236}">
                <a16:creationId xmlns:a16="http://schemas.microsoft.com/office/drawing/2014/main" id="{2520A7DF-0DBE-4AFD-AF12-FA84A7CE3F7D}"/>
              </a:ext>
            </a:extLst>
          </p:cNvPr>
          <p:cNvSpPr>
            <a:spLocks noGrp="1"/>
          </p:cNvSpPr>
          <p:nvPr/>
        </p:nvSpPr>
        <p:spPr>
          <a:xfrm>
            <a:off x="61483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81" name="FIG2_MACRO__039__ODOT_TO_EFFECTIVE__TO_ANCHOR">
            <a:extLst>
              <a:ext uri="{FF2B5EF4-FFF2-40B4-BE49-F238E27FC236}">
                <a16:creationId xmlns:a16="http://schemas.microsoft.com/office/drawing/2014/main" id="{DA848130-E72F-42B1-9831-B5B7D0B84387}"/>
              </a:ext>
            </a:extLst>
          </p:cNvPr>
          <p:cNvSpPr>
            <a:spLocks noGrp="1"/>
          </p:cNvSpPr>
          <p:nvPr/>
        </p:nvSpPr>
        <p:spPr>
          <a:xfrm>
            <a:off x="729138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25" name="FIG2_MACRO__039__ODOT_TO_EFFECTIVE"/>
          <p:cNvCxnSpPr>
            <a:stCxn id="480" idx="3"/>
            <a:endCxn id="481" idx="1"/>
          </p:cNvCxnSpPr>
          <p:nvPr/>
        </p:nvCxnSpPr>
        <p:spPr>
          <a:xfrm>
            <a:off x="6157913" y="1209676"/>
            <a:ext cx="1133475" cy="0"/>
          </a:xfrm>
          <a:prstGeom prst="straightConnector1">
            <a:avLst/>
          </a:prstGeom>
          <a:ln w="13811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483" name="FIG2_MICRO__040__SOURCE_TO_TRANSFORM__FROM_ANCHOR">
            <a:extLst>
              <a:ext uri="{FF2B5EF4-FFF2-40B4-BE49-F238E27FC236}">
                <a16:creationId xmlns:a16="http://schemas.microsoft.com/office/drawing/2014/main" id="{D56D4F09-9B42-4939-9B01-3990682A0FD2}"/>
              </a:ext>
            </a:extLst>
          </p:cNvPr>
          <p:cNvSpPr>
            <a:spLocks noGrp="1"/>
          </p:cNvSpPr>
          <p:nvPr/>
        </p:nvSpPr>
        <p:spPr>
          <a:xfrm>
            <a:off x="7381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84" name="FIG2_MICRO__040__SOURCE_TO_TRANSFORM__TO_ANCHOR">
            <a:extLst>
              <a:ext uri="{FF2B5EF4-FFF2-40B4-BE49-F238E27FC236}">
                <a16:creationId xmlns:a16="http://schemas.microsoft.com/office/drawing/2014/main" id="{CA45A546-CAF0-41F7-B293-F06911937F18}"/>
              </a:ext>
            </a:extLst>
          </p:cNvPr>
          <p:cNvSpPr>
            <a:spLocks noGrp="1"/>
          </p:cNvSpPr>
          <p:nvPr/>
        </p:nvSpPr>
        <p:spPr>
          <a:xfrm>
            <a:off x="862013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28" name="FIG2_MICRO__040__SOURCE_TO_TRANSFORM"/>
          <p:cNvCxnSpPr>
            <a:stCxn id="483" idx="3"/>
            <a:endCxn id="484" idx="1"/>
          </p:cNvCxnSpPr>
          <p:nvPr/>
        </p:nvCxnSpPr>
        <p:spPr>
          <a:xfrm>
            <a:off x="747713" y="3000376"/>
            <a:ext cx="114300" cy="0"/>
          </a:xfrm>
          <a:prstGeom prst="straightConnector1">
            <a:avLst/>
          </a:prstGeom>
          <a:ln w="12859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486" name="FIG2_MICRO__041__TRANSFORM_TO_SIMILARITY__FROM_ANCHOR">
            <a:extLst>
              <a:ext uri="{FF2B5EF4-FFF2-40B4-BE49-F238E27FC236}">
                <a16:creationId xmlns:a16="http://schemas.microsoft.com/office/drawing/2014/main" id="{A86B3D44-D048-47F5-ABDB-69322E8DC26F}"/>
              </a:ext>
            </a:extLst>
          </p:cNvPr>
          <p:cNvSpPr>
            <a:spLocks noGrp="1"/>
          </p:cNvSpPr>
          <p:nvPr/>
        </p:nvSpPr>
        <p:spPr>
          <a:xfrm>
            <a:off x="1433513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87" name="FIG2_MICRO__041__TRANSFORM_TO_SIMILARITY__TO_ANCHOR">
            <a:extLst>
              <a:ext uri="{FF2B5EF4-FFF2-40B4-BE49-F238E27FC236}">
                <a16:creationId xmlns:a16="http://schemas.microsoft.com/office/drawing/2014/main" id="{94A3A5E6-16D0-4B7E-ABEF-2903F4D10C35}"/>
              </a:ext>
            </a:extLst>
          </p:cNvPr>
          <p:cNvSpPr>
            <a:spLocks noGrp="1"/>
          </p:cNvSpPr>
          <p:nvPr/>
        </p:nvSpPr>
        <p:spPr>
          <a:xfrm>
            <a:off x="1547813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31" name="FIG2_MICRO__041__TRANSFORM_TO_SIMILARITY"/>
          <p:cNvCxnSpPr>
            <a:stCxn id="486" idx="3"/>
            <a:endCxn id="487" idx="1"/>
          </p:cNvCxnSpPr>
          <p:nvPr/>
        </p:nvCxnSpPr>
        <p:spPr>
          <a:xfrm>
            <a:off x="1443038" y="3000376"/>
            <a:ext cx="104775" cy="0"/>
          </a:xfrm>
          <a:prstGeom prst="straightConnector1">
            <a:avLst/>
          </a:prstGeom>
          <a:ln w="12859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489" name="FIG2_MICRO__042__SIMILARITY_TO_DENSE__FROM_ANCHOR">
            <a:extLst>
              <a:ext uri="{FF2B5EF4-FFF2-40B4-BE49-F238E27FC236}">
                <a16:creationId xmlns:a16="http://schemas.microsoft.com/office/drawing/2014/main" id="{5E8C74D2-2774-4E53-940B-040A6E5762C5}"/>
              </a:ext>
            </a:extLst>
          </p:cNvPr>
          <p:cNvSpPr>
            <a:spLocks noGrp="1"/>
          </p:cNvSpPr>
          <p:nvPr/>
        </p:nvSpPr>
        <p:spPr>
          <a:xfrm>
            <a:off x="220503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90" name="FIG2_MICRO__042__SIMILARITY_TO_DENSE__TO_ANCHOR">
            <a:extLst>
              <a:ext uri="{FF2B5EF4-FFF2-40B4-BE49-F238E27FC236}">
                <a16:creationId xmlns:a16="http://schemas.microsoft.com/office/drawing/2014/main" id="{41279532-7120-4B51-9CCC-51EFA32C3EC4}"/>
              </a:ext>
            </a:extLst>
          </p:cNvPr>
          <p:cNvSpPr>
            <a:spLocks noGrp="1"/>
          </p:cNvSpPr>
          <p:nvPr/>
        </p:nvSpPr>
        <p:spPr>
          <a:xfrm>
            <a:off x="22621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34" name="FIG2_MICRO__042__SIMILARITY_TO_DENSE"/>
          <p:cNvCxnSpPr>
            <a:stCxn id="489" idx="3"/>
            <a:endCxn id="490" idx="1"/>
          </p:cNvCxnSpPr>
          <p:nvPr/>
        </p:nvCxnSpPr>
        <p:spPr>
          <a:xfrm>
            <a:off x="2214563" y="3000376"/>
            <a:ext cx="47625" cy="0"/>
          </a:xfrm>
          <a:prstGeom prst="straightConnector1">
            <a:avLst/>
          </a:prstGeom>
          <a:ln w="12859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492" name="FIG2_MICRO__043__TOPK__FROM_ANCHOR">
            <a:extLst>
              <a:ext uri="{FF2B5EF4-FFF2-40B4-BE49-F238E27FC236}">
                <a16:creationId xmlns:a16="http://schemas.microsoft.com/office/drawing/2014/main" id="{1C6101CE-1584-43B7-854D-BE619B9D7A0B}"/>
              </a:ext>
            </a:extLst>
          </p:cNvPr>
          <p:cNvSpPr>
            <a:spLocks noGrp="1"/>
          </p:cNvSpPr>
          <p:nvPr/>
        </p:nvSpPr>
        <p:spPr>
          <a:xfrm>
            <a:off x="25669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93" name="FIG2_MICRO__043__TOPK__TO_ANCHOR">
            <a:extLst>
              <a:ext uri="{FF2B5EF4-FFF2-40B4-BE49-F238E27FC236}">
                <a16:creationId xmlns:a16="http://schemas.microsoft.com/office/drawing/2014/main" id="{27AA02F2-C102-43CF-9870-7A7BB87E5759}"/>
              </a:ext>
            </a:extLst>
          </p:cNvPr>
          <p:cNvSpPr>
            <a:spLocks noGrp="1"/>
          </p:cNvSpPr>
          <p:nvPr/>
        </p:nvSpPr>
        <p:spPr>
          <a:xfrm>
            <a:off x="27574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37" name="FIG2_MICRO__043__TOPK"/>
          <p:cNvCxnSpPr>
            <a:stCxn id="492" idx="3"/>
            <a:endCxn id="493" idx="1"/>
          </p:cNvCxnSpPr>
          <p:nvPr/>
        </p:nvCxnSpPr>
        <p:spPr>
          <a:xfrm>
            <a:off x="2576513" y="3000376"/>
            <a:ext cx="180975" cy="0"/>
          </a:xfrm>
          <a:prstGeom prst="straightConnector1">
            <a:avLst/>
          </a:prstGeom>
          <a:ln w="12859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495" name="FIG2_MICRO__044__SEMANTIC_TO_FUSION__FROM_ANCHOR">
            <a:extLst>
              <a:ext uri="{FF2B5EF4-FFF2-40B4-BE49-F238E27FC236}">
                <a16:creationId xmlns:a16="http://schemas.microsoft.com/office/drawing/2014/main" id="{6C17EDD0-3084-4F16-9F04-9CFBF558CC2A}"/>
              </a:ext>
            </a:extLst>
          </p:cNvPr>
          <p:cNvSpPr>
            <a:spLocks noGrp="1"/>
          </p:cNvSpPr>
          <p:nvPr/>
        </p:nvSpPr>
        <p:spPr>
          <a:xfrm>
            <a:off x="308133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96" name="FIG2_MICRO__044__SEMANTIC_TO_FUSION__TO_ANCHOR">
            <a:extLst>
              <a:ext uri="{FF2B5EF4-FFF2-40B4-BE49-F238E27FC236}">
                <a16:creationId xmlns:a16="http://schemas.microsoft.com/office/drawing/2014/main" id="{4A061B44-0209-4C21-AEA2-38225017995A}"/>
              </a:ext>
            </a:extLst>
          </p:cNvPr>
          <p:cNvSpPr>
            <a:spLocks noGrp="1"/>
          </p:cNvSpPr>
          <p:nvPr/>
        </p:nvSpPr>
        <p:spPr>
          <a:xfrm>
            <a:off x="39385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40" name="FIG2_MICRO__044__SEMANTIC_TO_FUSION"/>
          <p:cNvCxnSpPr>
            <a:stCxn id="495" idx="3"/>
            <a:endCxn id="496" idx="1"/>
          </p:cNvCxnSpPr>
          <p:nvPr/>
        </p:nvCxnSpPr>
        <p:spPr>
          <a:xfrm>
            <a:off x="3090863" y="3000376"/>
            <a:ext cx="847725" cy="0"/>
          </a:xfrm>
          <a:prstGeom prst="straightConnector1">
            <a:avLst/>
          </a:prstGeom>
          <a:ln w="13811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498" name="FIG2_MICRO__045__FUSION_TO_PRIOR__FROM_ANCHOR">
            <a:extLst>
              <a:ext uri="{FF2B5EF4-FFF2-40B4-BE49-F238E27FC236}">
                <a16:creationId xmlns:a16="http://schemas.microsoft.com/office/drawing/2014/main" id="{06487FED-5AD5-41D5-B7BE-A353EF930E93}"/>
              </a:ext>
            </a:extLst>
          </p:cNvPr>
          <p:cNvSpPr>
            <a:spLocks noGrp="1"/>
          </p:cNvSpPr>
          <p:nvPr/>
        </p:nvSpPr>
        <p:spPr>
          <a:xfrm>
            <a:off x="42052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99" name="FIG2_MICRO__045__FUSION_TO_PRIOR__TO_ANCHOR">
            <a:extLst>
              <a:ext uri="{FF2B5EF4-FFF2-40B4-BE49-F238E27FC236}">
                <a16:creationId xmlns:a16="http://schemas.microsoft.com/office/drawing/2014/main" id="{515D1AC4-1D30-4E38-BC49-D548F52D1ED8}"/>
              </a:ext>
            </a:extLst>
          </p:cNvPr>
          <p:cNvSpPr>
            <a:spLocks noGrp="1"/>
          </p:cNvSpPr>
          <p:nvPr/>
        </p:nvSpPr>
        <p:spPr>
          <a:xfrm>
            <a:off x="42814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43" name="FIG2_MICRO__045__FUSION_TO_PRIOR"/>
          <p:cNvCxnSpPr>
            <a:stCxn id="498" idx="3"/>
            <a:endCxn id="499" idx="1"/>
          </p:cNvCxnSpPr>
          <p:nvPr/>
        </p:nvCxnSpPr>
        <p:spPr>
          <a:xfrm>
            <a:off x="4214813" y="3000376"/>
            <a:ext cx="66675" cy="0"/>
          </a:xfrm>
          <a:prstGeom prst="straightConnector1">
            <a:avLst/>
          </a:prstGeom>
          <a:ln w="13811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501" name="FIG2_MICRO__046__PRIOR_TO_ODOT__FROM_ANCHOR">
            <a:extLst>
              <a:ext uri="{FF2B5EF4-FFF2-40B4-BE49-F238E27FC236}">
                <a16:creationId xmlns:a16="http://schemas.microsoft.com/office/drawing/2014/main" id="{4EF057C3-98B7-453F-BB5F-14F368C87C22}"/>
              </a:ext>
            </a:extLst>
          </p:cNvPr>
          <p:cNvSpPr>
            <a:spLocks noGrp="1"/>
          </p:cNvSpPr>
          <p:nvPr/>
        </p:nvSpPr>
        <p:spPr>
          <a:xfrm>
            <a:off x="475773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02" name="FIG2_MICRO__046__PRIOR_TO_ODOT__TO_ANCHOR">
            <a:extLst>
              <a:ext uri="{FF2B5EF4-FFF2-40B4-BE49-F238E27FC236}">
                <a16:creationId xmlns:a16="http://schemas.microsoft.com/office/drawing/2014/main" id="{D81F7AD4-D9FC-4504-A777-43AE101FC648}"/>
              </a:ext>
            </a:extLst>
          </p:cNvPr>
          <p:cNvSpPr>
            <a:spLocks noGrp="1"/>
          </p:cNvSpPr>
          <p:nvPr/>
        </p:nvSpPr>
        <p:spPr>
          <a:xfrm>
            <a:off x="58816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46" name="FIG2_MICRO__046__PRIOR_TO_ODOT"/>
          <p:cNvCxnSpPr>
            <a:stCxn id="501" idx="3"/>
            <a:endCxn id="502" idx="1"/>
          </p:cNvCxnSpPr>
          <p:nvPr/>
        </p:nvCxnSpPr>
        <p:spPr>
          <a:xfrm>
            <a:off x="4767263" y="3000376"/>
            <a:ext cx="1114425" cy="0"/>
          </a:xfrm>
          <a:prstGeom prst="straightConnector1">
            <a:avLst/>
          </a:prstGeom>
          <a:ln w="13811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504" name="FIG2_MICRO__047__ODOT_TO_EFFECTIVE__FROM_ANCHOR">
            <a:extLst>
              <a:ext uri="{FF2B5EF4-FFF2-40B4-BE49-F238E27FC236}">
                <a16:creationId xmlns:a16="http://schemas.microsoft.com/office/drawing/2014/main" id="{25D17F98-76BD-491A-B8E8-9481324363BE}"/>
              </a:ext>
            </a:extLst>
          </p:cNvPr>
          <p:cNvSpPr>
            <a:spLocks noGrp="1"/>
          </p:cNvSpPr>
          <p:nvPr/>
        </p:nvSpPr>
        <p:spPr>
          <a:xfrm>
            <a:off x="61483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05" name="FIG2_MICRO__047__ODOT_TO_EFFECTIVE__TO_ANCHOR">
            <a:extLst>
              <a:ext uri="{FF2B5EF4-FFF2-40B4-BE49-F238E27FC236}">
                <a16:creationId xmlns:a16="http://schemas.microsoft.com/office/drawing/2014/main" id="{FC9C730E-DB3D-4993-BFE2-B6B9B1D041DF}"/>
              </a:ext>
            </a:extLst>
          </p:cNvPr>
          <p:cNvSpPr>
            <a:spLocks noGrp="1"/>
          </p:cNvSpPr>
          <p:nvPr/>
        </p:nvSpPr>
        <p:spPr>
          <a:xfrm>
            <a:off x="729138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49" name="FIG2_MICRO__047__ODOT_TO_EFFECTIVE"/>
          <p:cNvCxnSpPr>
            <a:stCxn id="504" idx="3"/>
            <a:endCxn id="505" idx="1"/>
          </p:cNvCxnSpPr>
          <p:nvPr/>
        </p:nvCxnSpPr>
        <p:spPr>
          <a:xfrm>
            <a:off x="6157913" y="3000376"/>
            <a:ext cx="1133475" cy="0"/>
          </a:xfrm>
          <a:prstGeom prst="straightConnector1">
            <a:avLst/>
          </a:prstGeom>
          <a:ln w="13811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507" name="FIG2_MACRO__048__RAW_TO_TREND__FROM_ANCHOR">
            <a:extLst>
              <a:ext uri="{FF2B5EF4-FFF2-40B4-BE49-F238E27FC236}">
                <a16:creationId xmlns:a16="http://schemas.microsoft.com/office/drawing/2014/main" id="{CB0DE28A-4904-4573-9D98-D4AAFA00EEB1}"/>
              </a:ext>
            </a:extLst>
          </p:cNvPr>
          <p:cNvSpPr>
            <a:spLocks noGrp="1"/>
          </p:cNvSpPr>
          <p:nvPr/>
        </p:nvSpPr>
        <p:spPr>
          <a:xfrm>
            <a:off x="1100138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08" name="FIG2_MACRO__048__RAW_TO_TREND__TO_ANCHOR">
            <a:extLst>
              <a:ext uri="{FF2B5EF4-FFF2-40B4-BE49-F238E27FC236}">
                <a16:creationId xmlns:a16="http://schemas.microsoft.com/office/drawing/2014/main" id="{B5E3458E-C0F1-4182-B7BA-EAC15601F0B8}"/>
              </a:ext>
            </a:extLst>
          </p:cNvPr>
          <p:cNvSpPr>
            <a:spLocks noGrp="1"/>
          </p:cNvSpPr>
          <p:nvPr/>
        </p:nvSpPr>
        <p:spPr>
          <a:xfrm>
            <a:off x="1185863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52" name="FIG2_MACRO__048__RAW_TO_TREND"/>
          <p:cNvCxnSpPr>
            <a:stCxn id="507" idx="3"/>
            <a:endCxn id="508" idx="1"/>
          </p:cNvCxnSpPr>
          <p:nvPr/>
        </p:nvCxnSpPr>
        <p:spPr>
          <a:xfrm>
            <a:off x="1109663" y="1209676"/>
            <a:ext cx="76200" cy="0"/>
          </a:xfrm>
          <a:prstGeom prst="straightConnector1">
            <a:avLst/>
          </a:prstGeom>
          <a:ln w="10478">
            <a:solidFill>
              <a:srgbClr val="2F8F83"/>
            </a:solidFill>
            <a:prstDash val="solid"/>
            <a:tailEnd type="triangle" w="sm" len="sm"/>
          </a:ln>
        </p:spPr>
      </p:cxnSp>
      <p:sp>
        <p:nvSpPr>
          <p:cNvPr id="510" name="FIG2_MICRO__049__RAW_TO_DIFF__FROM_ANCHOR">
            <a:extLst>
              <a:ext uri="{FF2B5EF4-FFF2-40B4-BE49-F238E27FC236}">
                <a16:creationId xmlns:a16="http://schemas.microsoft.com/office/drawing/2014/main" id="{3893CB5F-4C63-46E9-8639-2F727DFCF257}"/>
              </a:ext>
            </a:extLst>
          </p:cNvPr>
          <p:cNvSpPr>
            <a:spLocks noGrp="1"/>
          </p:cNvSpPr>
          <p:nvPr/>
        </p:nvSpPr>
        <p:spPr>
          <a:xfrm>
            <a:off x="1100138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11" name="FIG2_MICRO__049__RAW_TO_DIFF__TO_ANCHOR">
            <a:extLst>
              <a:ext uri="{FF2B5EF4-FFF2-40B4-BE49-F238E27FC236}">
                <a16:creationId xmlns:a16="http://schemas.microsoft.com/office/drawing/2014/main" id="{02B7CFC9-7789-4430-8B38-08EA3A1C72E7}"/>
              </a:ext>
            </a:extLst>
          </p:cNvPr>
          <p:cNvSpPr>
            <a:spLocks noGrp="1"/>
          </p:cNvSpPr>
          <p:nvPr/>
        </p:nvSpPr>
        <p:spPr>
          <a:xfrm>
            <a:off x="1185863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55" name="FIG2_MICRO__049__RAW_TO_DIFF"/>
          <p:cNvCxnSpPr>
            <a:stCxn id="510" idx="3"/>
            <a:endCxn id="511" idx="1"/>
          </p:cNvCxnSpPr>
          <p:nvPr/>
        </p:nvCxnSpPr>
        <p:spPr>
          <a:xfrm>
            <a:off x="1109663" y="3000376"/>
            <a:ext cx="76200" cy="0"/>
          </a:xfrm>
          <a:prstGeom prst="straightConnector1">
            <a:avLst/>
          </a:prstGeom>
          <a:ln w="10478">
            <a:solidFill>
              <a:srgbClr val="E0823D"/>
            </a:solidFill>
            <a:prstDash val="solid"/>
            <a:tailEnd type="triangle" w="sm" len="sm"/>
          </a:ln>
        </p:spPr>
      </p:cxnSp>
      <p:sp>
        <p:nvSpPr>
          <p:cNvPr id="513" name="FIG2_DISTANCE_HUB__050__COORD_TO_WEIGHTED__FROM_ANCHOR">
            <a:extLst>
              <a:ext uri="{FF2B5EF4-FFF2-40B4-BE49-F238E27FC236}">
                <a16:creationId xmlns:a16="http://schemas.microsoft.com/office/drawing/2014/main" id="{CFCEAF9B-A2D8-4AE1-A9F9-786584110F3B}"/>
              </a:ext>
            </a:extLst>
          </p:cNvPr>
          <p:cNvSpPr>
            <a:spLocks noGrp="1"/>
          </p:cNvSpPr>
          <p:nvPr/>
        </p:nvSpPr>
        <p:spPr>
          <a:xfrm>
            <a:off x="3509963" y="17478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14" name="FIG2_DISTANCE_HUB__050__COORD_TO_WEIGHTED__TO_ANCHOR">
            <a:extLst>
              <a:ext uri="{FF2B5EF4-FFF2-40B4-BE49-F238E27FC236}">
                <a16:creationId xmlns:a16="http://schemas.microsoft.com/office/drawing/2014/main" id="{A97A5644-1FE8-4F13-B984-B91D2EAFA9B6}"/>
              </a:ext>
            </a:extLst>
          </p:cNvPr>
          <p:cNvSpPr>
            <a:spLocks noGrp="1"/>
          </p:cNvSpPr>
          <p:nvPr/>
        </p:nvSpPr>
        <p:spPr>
          <a:xfrm>
            <a:off x="3567113" y="17478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58" name="FIG2_DISTANCE_HUB__050__COORD_TO_WEIGHTED"/>
          <p:cNvCxnSpPr>
            <a:stCxn id="513" idx="3"/>
            <a:endCxn id="514" idx="1"/>
          </p:cNvCxnSpPr>
          <p:nvPr/>
        </p:nvCxnSpPr>
        <p:spPr>
          <a:xfrm>
            <a:off x="3519488" y="1752601"/>
            <a:ext cx="47625" cy="0"/>
          </a:xfrm>
          <a:prstGeom prst="straightConnector1">
            <a:avLst/>
          </a:prstGeom>
          <a:ln w="10954">
            <a:solidFill>
              <a:srgbClr val="5F7D8D"/>
            </a:solidFill>
            <a:prstDash val="solid"/>
            <a:tailEnd type="triangle" w="sm" len="sm"/>
          </a:ln>
        </p:spPr>
      </p:cxnSp>
      <p:sp>
        <p:nvSpPr>
          <p:cNvPr id="516" name="FIG2_DISTANCE_HUB__051__WEIGHTED_TO_SPARSE__FROM_ANCHOR">
            <a:extLst>
              <a:ext uri="{FF2B5EF4-FFF2-40B4-BE49-F238E27FC236}">
                <a16:creationId xmlns:a16="http://schemas.microsoft.com/office/drawing/2014/main" id="{16E96066-ABE3-45E5-A3BF-A35634BD9011}"/>
              </a:ext>
            </a:extLst>
          </p:cNvPr>
          <p:cNvSpPr>
            <a:spLocks noGrp="1"/>
          </p:cNvSpPr>
          <p:nvPr/>
        </p:nvSpPr>
        <p:spPr>
          <a:xfrm>
            <a:off x="3748088" y="18430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17" name="FIG2_DISTANCE_HUB__051__WEIGHTED_TO_SPARSE__TO_ANCHOR">
            <a:extLst>
              <a:ext uri="{FF2B5EF4-FFF2-40B4-BE49-F238E27FC236}">
                <a16:creationId xmlns:a16="http://schemas.microsoft.com/office/drawing/2014/main" id="{3BB08F98-B2C6-49D8-AC95-3F66EAE5381A}"/>
              </a:ext>
            </a:extLst>
          </p:cNvPr>
          <p:cNvSpPr>
            <a:spLocks noGrp="1"/>
          </p:cNvSpPr>
          <p:nvPr/>
        </p:nvSpPr>
        <p:spPr>
          <a:xfrm>
            <a:off x="3748088" y="19764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61" name="FIG2_DISTANCE_HUB__051__WEIGHTED_TO_SPARSE"/>
          <p:cNvCxnSpPr>
            <a:stCxn id="516" idx="3"/>
            <a:endCxn id="517" idx="1"/>
          </p:cNvCxnSpPr>
          <p:nvPr/>
        </p:nvCxnSpPr>
        <p:spPr>
          <a:xfrm flipH="1">
            <a:off x="3748088" y="1847851"/>
            <a:ext cx="9525" cy="133350"/>
          </a:xfrm>
          <a:prstGeom prst="straightConnector1">
            <a:avLst/>
          </a:prstGeom>
          <a:ln w="10954">
            <a:solidFill>
              <a:srgbClr val="5F7D8D"/>
            </a:solidFill>
            <a:prstDash val="solid"/>
            <a:tailEnd type="triangle" w="sm" len="sm"/>
          </a:ln>
        </p:spPr>
      </p:cxnSp>
      <p:sp>
        <p:nvSpPr>
          <p:cNvPr id="519" name="FIG2_DISTANCE_HUB__052__TO_MACRO_FUSION__FROM_ANCHOR">
            <a:extLst>
              <a:ext uri="{FF2B5EF4-FFF2-40B4-BE49-F238E27FC236}">
                <a16:creationId xmlns:a16="http://schemas.microsoft.com/office/drawing/2014/main" id="{298CA380-3546-4B52-A93E-24E08F802718}"/>
              </a:ext>
            </a:extLst>
          </p:cNvPr>
          <p:cNvSpPr>
            <a:spLocks noGrp="1"/>
          </p:cNvSpPr>
          <p:nvPr/>
        </p:nvSpPr>
        <p:spPr>
          <a:xfrm>
            <a:off x="3938588" y="21002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20" name="FIG2_DISTANCE_HUB__052__TO_MACRO_FUSION__TO_ANCHOR">
            <a:extLst>
              <a:ext uri="{FF2B5EF4-FFF2-40B4-BE49-F238E27FC236}">
                <a16:creationId xmlns:a16="http://schemas.microsoft.com/office/drawing/2014/main" id="{246AD47C-F76C-4C63-A60F-158ABF8DAEF2}"/>
              </a:ext>
            </a:extLst>
          </p:cNvPr>
          <p:cNvSpPr>
            <a:spLocks noGrp="1"/>
          </p:cNvSpPr>
          <p:nvPr/>
        </p:nvSpPr>
        <p:spPr>
          <a:xfrm>
            <a:off x="4005263" y="13001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64" name="FIG2_DISTANCE_HUB__052__TO_MACRO_FUSION"/>
          <p:cNvCxnSpPr>
            <a:stCxn id="519" idx="3"/>
            <a:endCxn id="520" idx="1"/>
          </p:cNvCxnSpPr>
          <p:nvPr/>
        </p:nvCxnSpPr>
        <p:spPr>
          <a:xfrm flipV="1">
            <a:off x="3948113" y="1304926"/>
            <a:ext cx="57150" cy="800100"/>
          </a:xfrm>
          <a:prstGeom prst="straightConnector1">
            <a:avLst/>
          </a:prstGeom>
          <a:ln w="12383">
            <a:solidFill>
              <a:srgbClr val="5F7D8D"/>
            </a:solidFill>
            <a:prstDash val="solid"/>
            <a:tailEnd type="triangle" w="sm" len="sm"/>
          </a:ln>
        </p:spPr>
      </p:cxnSp>
      <p:sp>
        <p:nvSpPr>
          <p:cNvPr id="522" name="FIG2_DISTANCE_HUB__053__TO_MICRO_FUSION__FROM_ANCHOR">
            <a:extLst>
              <a:ext uri="{FF2B5EF4-FFF2-40B4-BE49-F238E27FC236}">
                <a16:creationId xmlns:a16="http://schemas.microsoft.com/office/drawing/2014/main" id="{4E9FF8F6-CAC5-4C92-95B2-DC2216D9F9C7}"/>
              </a:ext>
            </a:extLst>
          </p:cNvPr>
          <p:cNvSpPr>
            <a:spLocks noGrp="1"/>
          </p:cNvSpPr>
          <p:nvPr/>
        </p:nvSpPr>
        <p:spPr>
          <a:xfrm>
            <a:off x="3938588" y="21002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23" name="FIG2_DISTANCE_HUB__053__TO_MICRO_FUSION__TO_ANCHOR">
            <a:extLst>
              <a:ext uri="{FF2B5EF4-FFF2-40B4-BE49-F238E27FC236}">
                <a16:creationId xmlns:a16="http://schemas.microsoft.com/office/drawing/2014/main" id="{F0B91BBD-9DE5-4BC2-BE37-18576C70E3EB}"/>
              </a:ext>
            </a:extLst>
          </p:cNvPr>
          <p:cNvSpPr>
            <a:spLocks noGrp="1"/>
          </p:cNvSpPr>
          <p:nvPr/>
        </p:nvSpPr>
        <p:spPr>
          <a:xfrm>
            <a:off x="4005263" y="29003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67" name="FIG2_DISTANCE_HUB__053__TO_MICRO_FUSION"/>
          <p:cNvCxnSpPr>
            <a:stCxn id="522" idx="3"/>
            <a:endCxn id="523" idx="1"/>
          </p:cNvCxnSpPr>
          <p:nvPr/>
        </p:nvCxnSpPr>
        <p:spPr>
          <a:xfrm>
            <a:off x="3948113" y="2105026"/>
            <a:ext cx="57150" cy="800100"/>
          </a:xfrm>
          <a:prstGeom prst="straightConnector1">
            <a:avLst/>
          </a:prstGeom>
          <a:ln w="12383">
            <a:solidFill>
              <a:srgbClr val="5F7D8D"/>
            </a:solidFill>
            <a:prstDash val="solid"/>
            <a:tailEnd type="triangle" w="sm" len="sm"/>
          </a:ln>
        </p:spPr>
      </p:cxnSp>
      <p:sp>
        <p:nvSpPr>
          <p:cNvPr id="525" name="FIG2_MACRO_ADAPTIVE__054__EMBED_TO_SCORE__FROM_ANCHOR">
            <a:extLst>
              <a:ext uri="{FF2B5EF4-FFF2-40B4-BE49-F238E27FC236}">
                <a16:creationId xmlns:a16="http://schemas.microsoft.com/office/drawing/2014/main" id="{14E7BD87-D76A-4A53-AB11-9CC8D04BD2C5}"/>
              </a:ext>
            </a:extLst>
          </p:cNvPr>
          <p:cNvSpPr>
            <a:spLocks noGrp="1"/>
          </p:cNvSpPr>
          <p:nvPr/>
        </p:nvSpPr>
        <p:spPr>
          <a:xfrm>
            <a:off x="5300663" y="1204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26" name="FIG2_MACRO_ADAPTIVE__054__EMBED_TO_SCORE__TO_ANCHOR">
            <a:extLst>
              <a:ext uri="{FF2B5EF4-FFF2-40B4-BE49-F238E27FC236}">
                <a16:creationId xmlns:a16="http://schemas.microsoft.com/office/drawing/2014/main" id="{E33705F3-5DCF-424C-A7E0-15A33B1B8B31}"/>
              </a:ext>
            </a:extLst>
          </p:cNvPr>
          <p:cNvSpPr>
            <a:spLocks noGrp="1"/>
          </p:cNvSpPr>
          <p:nvPr/>
        </p:nvSpPr>
        <p:spPr>
          <a:xfrm>
            <a:off x="5300663" y="13192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70" name="FIG2_MACRO_ADAPTIVE__054__EMBED_TO_SCORE"/>
          <p:cNvCxnSpPr>
            <a:stCxn id="525" idx="3"/>
            <a:endCxn id="526" idx="1"/>
          </p:cNvCxnSpPr>
          <p:nvPr/>
        </p:nvCxnSpPr>
        <p:spPr>
          <a:xfrm flipH="1">
            <a:off x="5300663" y="1209676"/>
            <a:ext cx="9525" cy="114300"/>
          </a:xfrm>
          <a:prstGeom prst="straightConnector1">
            <a:avLst/>
          </a:prstGeom>
          <a:ln w="10954">
            <a:solidFill>
              <a:srgbClr val="8065A5"/>
            </a:solidFill>
            <a:prstDash val="solid"/>
            <a:tailEnd type="triangle" w="sm" len="sm"/>
          </a:ln>
        </p:spPr>
      </p:cxnSp>
      <p:sp>
        <p:nvSpPr>
          <p:cNvPr id="528" name="FIG2_MICRO_ADAPTIVE__055__EMBED_TO_SCORE__FROM_ANCHOR">
            <a:extLst>
              <a:ext uri="{FF2B5EF4-FFF2-40B4-BE49-F238E27FC236}">
                <a16:creationId xmlns:a16="http://schemas.microsoft.com/office/drawing/2014/main" id="{90B19D48-49BF-47DF-9D80-5C5E10066637}"/>
              </a:ext>
            </a:extLst>
          </p:cNvPr>
          <p:cNvSpPr>
            <a:spLocks noGrp="1"/>
          </p:cNvSpPr>
          <p:nvPr/>
        </p:nvSpPr>
        <p:spPr>
          <a:xfrm>
            <a:off x="5300663" y="29956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29" name="FIG2_MICRO_ADAPTIVE__055__EMBED_TO_SCORE__TO_ANCHOR">
            <a:extLst>
              <a:ext uri="{FF2B5EF4-FFF2-40B4-BE49-F238E27FC236}">
                <a16:creationId xmlns:a16="http://schemas.microsoft.com/office/drawing/2014/main" id="{618F9B05-7055-4F9B-BFDD-397C58735261}"/>
              </a:ext>
            </a:extLst>
          </p:cNvPr>
          <p:cNvSpPr>
            <a:spLocks noGrp="1"/>
          </p:cNvSpPr>
          <p:nvPr/>
        </p:nvSpPr>
        <p:spPr>
          <a:xfrm>
            <a:off x="5300663" y="3109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73" name="FIG2_MICRO_ADAPTIVE__055__EMBED_TO_SCORE"/>
          <p:cNvCxnSpPr>
            <a:stCxn id="528" idx="3"/>
            <a:endCxn id="529" idx="1"/>
          </p:cNvCxnSpPr>
          <p:nvPr/>
        </p:nvCxnSpPr>
        <p:spPr>
          <a:xfrm flipH="1">
            <a:off x="5300663" y="3000376"/>
            <a:ext cx="9525" cy="114300"/>
          </a:xfrm>
          <a:prstGeom prst="straightConnector1">
            <a:avLst/>
          </a:prstGeom>
          <a:ln w="10954">
            <a:solidFill>
              <a:srgbClr val="8065A5"/>
            </a:solidFill>
            <a:prstDash val="solid"/>
            <a:tailEnd type="triangle" w="sm" len="sm"/>
          </a:ln>
        </p:spPr>
      </p:cxnSp>
      <p:sp>
        <p:nvSpPr>
          <p:cNvPr id="531" name="FIG2_MACRO_ADAPTIVE__056__SCORE_TO_ODOT__FROM_ANCHOR">
            <a:extLst>
              <a:ext uri="{FF2B5EF4-FFF2-40B4-BE49-F238E27FC236}">
                <a16:creationId xmlns:a16="http://schemas.microsoft.com/office/drawing/2014/main" id="{DD17B2D3-B219-487C-87C3-3DF7A1295728}"/>
              </a:ext>
            </a:extLst>
          </p:cNvPr>
          <p:cNvSpPr>
            <a:spLocks noGrp="1"/>
          </p:cNvSpPr>
          <p:nvPr/>
        </p:nvSpPr>
        <p:spPr>
          <a:xfrm>
            <a:off x="5424488" y="1423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32" name="FIG2_MACRO_ADAPTIVE__056__SCORE_TO_ODOT__TO_ANCHOR">
            <a:extLst>
              <a:ext uri="{FF2B5EF4-FFF2-40B4-BE49-F238E27FC236}">
                <a16:creationId xmlns:a16="http://schemas.microsoft.com/office/drawing/2014/main" id="{E9004CE7-BF83-447C-A6E0-F59E1A1C8134}"/>
              </a:ext>
            </a:extLst>
          </p:cNvPr>
          <p:cNvSpPr>
            <a:spLocks noGrp="1"/>
          </p:cNvSpPr>
          <p:nvPr/>
        </p:nvSpPr>
        <p:spPr>
          <a:xfrm>
            <a:off x="5919788" y="12811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76" name="FIG2_MACRO_ADAPTIVE__056__SCORE_TO_ODOT"/>
          <p:cNvCxnSpPr>
            <a:stCxn id="531" idx="3"/>
            <a:endCxn id="532" idx="1"/>
          </p:cNvCxnSpPr>
          <p:nvPr/>
        </p:nvCxnSpPr>
        <p:spPr>
          <a:xfrm flipV="1">
            <a:off x="5434013" y="1285876"/>
            <a:ext cx="485775" cy="142875"/>
          </a:xfrm>
          <a:prstGeom prst="straightConnector1">
            <a:avLst/>
          </a:prstGeom>
          <a:ln w="11906">
            <a:solidFill>
              <a:srgbClr val="8065A5"/>
            </a:solidFill>
            <a:prstDash val="solid"/>
            <a:tailEnd type="triangle" w="sm" len="sm"/>
          </a:ln>
        </p:spPr>
      </p:cxnSp>
      <p:sp>
        <p:nvSpPr>
          <p:cNvPr id="534" name="FIG2_MICRO_ADAPTIVE__057__SCORE_TO_ODOT__FROM_ANCHOR">
            <a:extLst>
              <a:ext uri="{FF2B5EF4-FFF2-40B4-BE49-F238E27FC236}">
                <a16:creationId xmlns:a16="http://schemas.microsoft.com/office/drawing/2014/main" id="{653332BA-80D6-4DBE-8837-2B301DE32BF0}"/>
              </a:ext>
            </a:extLst>
          </p:cNvPr>
          <p:cNvSpPr>
            <a:spLocks noGrp="1"/>
          </p:cNvSpPr>
          <p:nvPr/>
        </p:nvSpPr>
        <p:spPr>
          <a:xfrm>
            <a:off x="5424488" y="32146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35" name="FIG2_MICRO_ADAPTIVE__057__SCORE_TO_ODOT__TO_ANCHOR">
            <a:extLst>
              <a:ext uri="{FF2B5EF4-FFF2-40B4-BE49-F238E27FC236}">
                <a16:creationId xmlns:a16="http://schemas.microsoft.com/office/drawing/2014/main" id="{0BA466C7-288C-446D-A432-57F1A33D9001}"/>
              </a:ext>
            </a:extLst>
          </p:cNvPr>
          <p:cNvSpPr>
            <a:spLocks noGrp="1"/>
          </p:cNvSpPr>
          <p:nvPr/>
        </p:nvSpPr>
        <p:spPr>
          <a:xfrm>
            <a:off x="5919788" y="30718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79" name="FIG2_MICRO_ADAPTIVE__057__SCORE_TO_ODOT"/>
          <p:cNvCxnSpPr>
            <a:stCxn id="534" idx="3"/>
            <a:endCxn id="535" idx="1"/>
          </p:cNvCxnSpPr>
          <p:nvPr/>
        </p:nvCxnSpPr>
        <p:spPr>
          <a:xfrm flipV="1">
            <a:off x="5434013" y="3076576"/>
            <a:ext cx="485775" cy="142875"/>
          </a:xfrm>
          <a:prstGeom prst="straightConnector1">
            <a:avLst/>
          </a:prstGeom>
          <a:ln w="11906">
            <a:solidFill>
              <a:srgbClr val="8065A5"/>
            </a:solidFill>
            <a:prstDash val="solid"/>
            <a:tailEnd type="triangle" w="sm" len="sm"/>
          </a:ln>
        </p:spPr>
      </p:cxnSp>
      <p:sp>
        <p:nvSpPr>
          <p:cNvPr id="538" name="FIG2_MACRO__059__LANE_HEADING">
            <a:extLst>
              <a:ext uri="{FF2B5EF4-FFF2-40B4-BE49-F238E27FC236}">
                <a16:creationId xmlns:a16="http://schemas.microsoft.com/office/drawing/2014/main" id="{08524D8C-E73F-4A51-A8F8-07C348A28F47}"/>
              </a:ext>
            </a:extLst>
          </p:cNvPr>
          <p:cNvSpPr>
            <a:spLocks noGrp="1"/>
          </p:cNvSpPr>
          <p:nvPr/>
        </p:nvSpPr>
        <p:spPr>
          <a:xfrm>
            <a:off x="171450" y="4762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50" b="0">
                <a:solidFill>
                  <a:srgbClr val="246F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0" b="0">
                <a:solidFill>
                  <a:srgbClr val="246F67"/>
                </a:solidFill>
                <a:latin typeface="Times New Roman"/>
                <a:ea typeface="Times New Roman"/>
                <a:cs typeface="Times New Roman"/>
              </a:rPr>
              <a:t>Macro Semantic Prior</a:t>
            </a:r>
          </a:p>
        </p:txBody>
      </p:sp>
      <p:sp>
        <p:nvSpPr>
          <p:cNvPr id="539" name="FIG2_MICRO__060__LANE_HEADING">
            <a:extLst>
              <a:ext uri="{FF2B5EF4-FFF2-40B4-BE49-F238E27FC236}">
                <a16:creationId xmlns:a16="http://schemas.microsoft.com/office/drawing/2014/main" id="{A4720113-DF44-4FD6-8B49-04948C8E62ED}"/>
              </a:ext>
            </a:extLst>
          </p:cNvPr>
          <p:cNvSpPr>
            <a:spLocks noGrp="1"/>
          </p:cNvSpPr>
          <p:nvPr/>
        </p:nvSpPr>
        <p:spPr>
          <a:xfrm>
            <a:off x="171450" y="22669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50" b="0">
                <a:solidFill>
                  <a:srgbClr val="B965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0" b="0">
                <a:solidFill>
                  <a:srgbClr val="B9652F"/>
                </a:solidFill>
                <a:latin typeface="Times New Roman"/>
                <a:ea typeface="Times New Roman"/>
                <a:cs typeface="Times New Roman"/>
              </a:rPr>
              <a:t>Micro Semantic Prior</a:t>
            </a:r>
          </a:p>
        </p:txBody>
      </p:sp>
      <p:sp>
        <p:nvSpPr>
          <p:cNvPr id="540" name="FIG2_MACRO_ADAPTIVE__061__ADAPTIVE_HEADING">
            <a:extLst>
              <a:ext uri="{FF2B5EF4-FFF2-40B4-BE49-F238E27FC236}">
                <a16:creationId xmlns:a16="http://schemas.microsoft.com/office/drawing/2014/main" id="{1F50BC27-2BE2-4B46-8108-2EA97DB93C22}"/>
              </a:ext>
            </a:extLst>
          </p:cNvPr>
          <p:cNvSpPr>
            <a:spLocks noGrp="1"/>
          </p:cNvSpPr>
          <p:nvPr/>
        </p:nvSpPr>
        <p:spPr>
          <a:xfrm>
            <a:off x="4048125" y="466725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5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rPr>
              <a:t>Prior-Constrained Adaptive Edge Re-weighting</a:t>
            </a:r>
          </a:p>
        </p:txBody>
      </p:sp>
      <p:sp>
        <p:nvSpPr>
          <p:cNvPr id="542" name="FIG2_MACRO__063__TRAIN_ONLY">
            <a:extLst>
              <a:ext uri="{FF2B5EF4-FFF2-40B4-BE49-F238E27FC236}">
                <a16:creationId xmlns:a16="http://schemas.microsoft.com/office/drawing/2014/main" id="{C1587DA4-CE0B-4A8B-BE4C-97A1CD9342E9}"/>
              </a:ext>
            </a:extLst>
          </p:cNvPr>
          <p:cNvSpPr>
            <a:spLocks noGrp="1"/>
          </p:cNvSpPr>
          <p:nvPr/>
        </p:nvSpPr>
        <p:spPr>
          <a:xfrm>
            <a:off x="209550" y="81915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train-only</a:t>
            </a:r>
          </a:p>
        </p:txBody>
      </p:sp>
      <p:sp>
        <p:nvSpPr>
          <p:cNvPr id="543" name="FIG2_MACRO__SOURCE_WAVE__064__WAVE_1">
            <a:extLst>
              <a:ext uri="{FF2B5EF4-FFF2-40B4-BE49-F238E27FC236}">
                <a16:creationId xmlns:a16="http://schemas.microsoft.com/office/drawing/2014/main" id="{8B5B83F9-EB04-4B2B-862E-F28E1AF3E2E2}"/>
              </a:ext>
            </a:extLst>
          </p:cNvPr>
          <p:cNvSpPr>
            <a:spLocks noGrp="1"/>
          </p:cNvSpPr>
          <p:nvPr/>
        </p:nvSpPr>
        <p:spPr>
          <a:xfrm flipV="1">
            <a:off x="228600" y="1171956"/>
            <a:ext cx="70757" cy="96393"/>
          </a:xfrm>
          <a:prstGeom prst="line">
            <a:avLst/>
          </a:prstGeom>
          <a:noFill/>
          <a:ln w="20003">
            <a:solidFill>
              <a:srgbClr val="2F8F83"/>
            </a:solidFill>
            <a:prstDash val="solid"/>
          </a:ln>
        </p:spPr>
      </p:sp>
      <p:sp>
        <p:nvSpPr>
          <p:cNvPr id="544" name="FIG2_MACRO__SOURCE_WAVE__065__WAVE_2">
            <a:extLst>
              <a:ext uri="{FF2B5EF4-FFF2-40B4-BE49-F238E27FC236}">
                <a16:creationId xmlns:a16="http://schemas.microsoft.com/office/drawing/2014/main" id="{D08B9A88-8508-4A91-970F-EB124DEF5D18}"/>
              </a:ext>
            </a:extLst>
          </p:cNvPr>
          <p:cNvSpPr>
            <a:spLocks noGrp="1"/>
          </p:cNvSpPr>
          <p:nvPr/>
        </p:nvSpPr>
        <p:spPr>
          <a:xfrm>
            <a:off x="299357" y="1171956"/>
            <a:ext cx="70757" cy="69152"/>
          </a:xfrm>
          <a:prstGeom prst="line">
            <a:avLst/>
          </a:prstGeom>
          <a:noFill/>
          <a:ln w="20003">
            <a:solidFill>
              <a:srgbClr val="2F8F83"/>
            </a:solidFill>
            <a:prstDash val="solid"/>
          </a:ln>
        </p:spPr>
      </p:sp>
      <p:sp>
        <p:nvSpPr>
          <p:cNvPr id="545" name="FIG2_MACRO__SOURCE_WAVE__066__WAVE_3">
            <a:extLst>
              <a:ext uri="{FF2B5EF4-FFF2-40B4-BE49-F238E27FC236}">
                <a16:creationId xmlns:a16="http://schemas.microsoft.com/office/drawing/2014/main" id="{AC8A3649-E74E-49A2-8D9D-287540C5833E}"/>
              </a:ext>
            </a:extLst>
          </p:cNvPr>
          <p:cNvSpPr>
            <a:spLocks noGrp="1"/>
          </p:cNvSpPr>
          <p:nvPr/>
        </p:nvSpPr>
        <p:spPr>
          <a:xfrm flipV="1">
            <a:off x="370114" y="1138428"/>
            <a:ext cx="70757" cy="102680"/>
          </a:xfrm>
          <a:prstGeom prst="line">
            <a:avLst/>
          </a:prstGeom>
          <a:noFill/>
          <a:ln w="20003">
            <a:solidFill>
              <a:srgbClr val="2F8F83"/>
            </a:solidFill>
            <a:prstDash val="solid"/>
          </a:ln>
        </p:spPr>
      </p:sp>
      <p:sp>
        <p:nvSpPr>
          <p:cNvPr id="546" name="FIG2_MACRO__SOURCE_WAVE__067__WAVE_4">
            <a:extLst>
              <a:ext uri="{FF2B5EF4-FFF2-40B4-BE49-F238E27FC236}">
                <a16:creationId xmlns:a16="http://schemas.microsoft.com/office/drawing/2014/main" id="{19A10648-F172-475C-9942-44204CF11C20}"/>
              </a:ext>
            </a:extLst>
          </p:cNvPr>
          <p:cNvSpPr>
            <a:spLocks noGrp="1"/>
          </p:cNvSpPr>
          <p:nvPr/>
        </p:nvSpPr>
        <p:spPr>
          <a:xfrm>
            <a:off x="440871" y="1138428"/>
            <a:ext cx="70757" cy="50292"/>
          </a:xfrm>
          <a:prstGeom prst="line">
            <a:avLst/>
          </a:prstGeom>
          <a:noFill/>
          <a:ln w="20003">
            <a:solidFill>
              <a:srgbClr val="2F8F83"/>
            </a:solidFill>
            <a:prstDash val="solid"/>
          </a:ln>
        </p:spPr>
      </p:sp>
      <p:sp>
        <p:nvSpPr>
          <p:cNvPr id="547" name="FIG2_MACRO__SOURCE_WAVE__068__WAVE_5">
            <a:extLst>
              <a:ext uri="{FF2B5EF4-FFF2-40B4-BE49-F238E27FC236}">
                <a16:creationId xmlns:a16="http://schemas.microsoft.com/office/drawing/2014/main" id="{A0D69DB1-D9EA-460B-8DA7-83470EFF0D0A}"/>
              </a:ext>
            </a:extLst>
          </p:cNvPr>
          <p:cNvSpPr>
            <a:spLocks noGrp="1"/>
          </p:cNvSpPr>
          <p:nvPr/>
        </p:nvSpPr>
        <p:spPr>
          <a:xfrm flipV="1">
            <a:off x="511629" y="1130046"/>
            <a:ext cx="70757" cy="58674"/>
          </a:xfrm>
          <a:prstGeom prst="line">
            <a:avLst/>
          </a:prstGeom>
          <a:noFill/>
          <a:ln w="20003">
            <a:solidFill>
              <a:srgbClr val="2F8F83"/>
            </a:solidFill>
            <a:prstDash val="solid"/>
          </a:ln>
        </p:spPr>
      </p:sp>
      <p:sp>
        <p:nvSpPr>
          <p:cNvPr id="548" name="FIG2_MACRO__SOURCE_WAVE__069__WAVE_6">
            <a:extLst>
              <a:ext uri="{FF2B5EF4-FFF2-40B4-BE49-F238E27FC236}">
                <a16:creationId xmlns:a16="http://schemas.microsoft.com/office/drawing/2014/main" id="{7EC26E24-F115-4C9D-9654-C17E889DBBFF}"/>
              </a:ext>
            </a:extLst>
          </p:cNvPr>
          <p:cNvSpPr>
            <a:spLocks noGrp="1"/>
          </p:cNvSpPr>
          <p:nvPr/>
        </p:nvSpPr>
        <p:spPr>
          <a:xfrm>
            <a:off x="582386" y="1130046"/>
            <a:ext cx="70757" cy="33528"/>
          </a:xfrm>
          <a:prstGeom prst="line">
            <a:avLst/>
          </a:prstGeom>
          <a:noFill/>
          <a:ln w="20003">
            <a:solidFill>
              <a:srgbClr val="2F8F83"/>
            </a:solidFill>
            <a:prstDash val="solid"/>
          </a:ln>
        </p:spPr>
      </p:sp>
      <p:sp>
        <p:nvSpPr>
          <p:cNvPr id="549" name="FIG2_MACRO__SOURCE_WAVE__070__WAVE_7">
            <a:extLst>
              <a:ext uri="{FF2B5EF4-FFF2-40B4-BE49-F238E27FC236}">
                <a16:creationId xmlns:a16="http://schemas.microsoft.com/office/drawing/2014/main" id="{60914253-70D2-4AC7-B6F4-07D6D77138E5}"/>
              </a:ext>
            </a:extLst>
          </p:cNvPr>
          <p:cNvSpPr>
            <a:spLocks noGrp="1"/>
          </p:cNvSpPr>
          <p:nvPr/>
        </p:nvSpPr>
        <p:spPr>
          <a:xfrm flipV="1">
            <a:off x="653143" y="1119569"/>
            <a:ext cx="70757" cy="44006"/>
          </a:xfrm>
          <a:prstGeom prst="line">
            <a:avLst/>
          </a:prstGeom>
          <a:noFill/>
          <a:ln w="20003">
            <a:solidFill>
              <a:srgbClr val="2F8F83"/>
            </a:solidFill>
            <a:prstDash val="solid"/>
          </a:ln>
        </p:spPr>
      </p:sp>
      <p:sp>
        <p:nvSpPr>
          <p:cNvPr id="550" name="FIG2_MACRO__071__SOURCE_LABEL">
            <a:extLst>
              <a:ext uri="{FF2B5EF4-FFF2-40B4-BE49-F238E27FC236}">
                <a16:creationId xmlns:a16="http://schemas.microsoft.com/office/drawing/2014/main" id="{8DAFB906-53C6-45EA-953F-BD31E64E1421}"/>
              </a:ext>
            </a:extLst>
          </p:cNvPr>
          <p:cNvSpPr>
            <a:spLocks noGrp="1"/>
          </p:cNvSpPr>
          <p:nvPr/>
        </p:nvSpPr>
        <p:spPr>
          <a:xfrm>
            <a:off x="95250" y="1343025"/>
            <a:ext cx="742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Patv_raw</a:t>
            </a:r>
          </a:p>
        </p:txBody>
      </p:sp>
      <p:sp>
        <p:nvSpPr>
          <p:cNvPr id="551" name="FIG2_MACRO__TRANSFORM_RAW__072__WAVE_1">
            <a:extLst>
              <a:ext uri="{FF2B5EF4-FFF2-40B4-BE49-F238E27FC236}">
                <a16:creationId xmlns:a16="http://schemas.microsoft.com/office/drawing/2014/main" id="{B4222908-B1E4-4CAA-8785-838F6C8A9E90}"/>
              </a:ext>
            </a:extLst>
          </p:cNvPr>
          <p:cNvSpPr>
            <a:spLocks noGrp="1"/>
          </p:cNvSpPr>
          <p:nvPr/>
        </p:nvSpPr>
        <p:spPr>
          <a:xfrm flipV="1">
            <a:off x="895350" y="1168908"/>
            <a:ext cx="40005" cy="92011"/>
          </a:xfrm>
          <a:prstGeom prst="line">
            <a:avLst/>
          </a:prstGeom>
          <a:noFill/>
          <a:ln w="12859">
            <a:solidFill>
              <a:srgbClr val="2F8F83"/>
            </a:solidFill>
            <a:prstDash val="solid"/>
          </a:ln>
        </p:spPr>
      </p:sp>
      <p:sp>
        <p:nvSpPr>
          <p:cNvPr id="552" name="FIG2_MACRO__TRANSFORM_RAW__073__WAVE_2">
            <a:extLst>
              <a:ext uri="{FF2B5EF4-FFF2-40B4-BE49-F238E27FC236}">
                <a16:creationId xmlns:a16="http://schemas.microsoft.com/office/drawing/2014/main" id="{9E998378-5616-4664-A141-CF94C1DD568F}"/>
              </a:ext>
            </a:extLst>
          </p:cNvPr>
          <p:cNvSpPr>
            <a:spLocks noGrp="1"/>
          </p:cNvSpPr>
          <p:nvPr/>
        </p:nvSpPr>
        <p:spPr>
          <a:xfrm>
            <a:off x="935355" y="1168908"/>
            <a:ext cx="40005" cy="66008"/>
          </a:xfrm>
          <a:prstGeom prst="line">
            <a:avLst/>
          </a:prstGeom>
          <a:noFill/>
          <a:ln w="12859">
            <a:solidFill>
              <a:srgbClr val="2F8F83"/>
            </a:solidFill>
            <a:prstDash val="solid"/>
          </a:ln>
        </p:spPr>
      </p:sp>
      <p:sp>
        <p:nvSpPr>
          <p:cNvPr id="553" name="FIG2_MACRO__TRANSFORM_RAW__074__WAVE_3">
            <a:extLst>
              <a:ext uri="{FF2B5EF4-FFF2-40B4-BE49-F238E27FC236}">
                <a16:creationId xmlns:a16="http://schemas.microsoft.com/office/drawing/2014/main" id="{ECE2EE0F-87B7-4130-AAF1-B0BD596F85EF}"/>
              </a:ext>
            </a:extLst>
          </p:cNvPr>
          <p:cNvSpPr>
            <a:spLocks noGrp="1"/>
          </p:cNvSpPr>
          <p:nvPr/>
        </p:nvSpPr>
        <p:spPr>
          <a:xfrm flipV="1">
            <a:off x="975360" y="1136904"/>
            <a:ext cx="40005" cy="98012"/>
          </a:xfrm>
          <a:prstGeom prst="line">
            <a:avLst/>
          </a:prstGeom>
          <a:noFill/>
          <a:ln w="12859">
            <a:solidFill>
              <a:srgbClr val="2F8F83"/>
            </a:solidFill>
            <a:prstDash val="solid"/>
          </a:ln>
        </p:spPr>
      </p:sp>
      <p:sp>
        <p:nvSpPr>
          <p:cNvPr id="554" name="FIG2_MACRO__TRANSFORM_RAW__075__WAVE_4">
            <a:extLst>
              <a:ext uri="{FF2B5EF4-FFF2-40B4-BE49-F238E27FC236}">
                <a16:creationId xmlns:a16="http://schemas.microsoft.com/office/drawing/2014/main" id="{AA9F06EF-6519-4AB2-8582-223693DFD92D}"/>
              </a:ext>
            </a:extLst>
          </p:cNvPr>
          <p:cNvSpPr>
            <a:spLocks noGrp="1"/>
          </p:cNvSpPr>
          <p:nvPr/>
        </p:nvSpPr>
        <p:spPr>
          <a:xfrm>
            <a:off x="1015365" y="1136904"/>
            <a:ext cx="40005" cy="48006"/>
          </a:xfrm>
          <a:prstGeom prst="line">
            <a:avLst/>
          </a:prstGeom>
          <a:noFill/>
          <a:ln w="12859">
            <a:solidFill>
              <a:srgbClr val="2F8F83"/>
            </a:solidFill>
            <a:prstDash val="solid"/>
          </a:ln>
        </p:spPr>
      </p:sp>
      <p:sp>
        <p:nvSpPr>
          <p:cNvPr id="555" name="FIG2_MACRO__TRANSFORM_RAW__076__WAVE_5">
            <a:extLst>
              <a:ext uri="{FF2B5EF4-FFF2-40B4-BE49-F238E27FC236}">
                <a16:creationId xmlns:a16="http://schemas.microsoft.com/office/drawing/2014/main" id="{B96EDB19-19A7-4C89-8E25-63026672A764}"/>
              </a:ext>
            </a:extLst>
          </p:cNvPr>
          <p:cNvSpPr>
            <a:spLocks noGrp="1"/>
          </p:cNvSpPr>
          <p:nvPr/>
        </p:nvSpPr>
        <p:spPr>
          <a:xfrm flipV="1">
            <a:off x="1055370" y="1128903"/>
            <a:ext cx="40005" cy="56007"/>
          </a:xfrm>
          <a:prstGeom prst="line">
            <a:avLst/>
          </a:prstGeom>
          <a:noFill/>
          <a:ln w="12859">
            <a:solidFill>
              <a:srgbClr val="2F8F83"/>
            </a:solidFill>
            <a:prstDash val="solid"/>
          </a:ln>
        </p:spPr>
      </p:sp>
      <p:sp>
        <p:nvSpPr>
          <p:cNvPr id="556" name="FIG2_MACRO__TRANSFORM_PROCESSED__077__WAVE_1">
            <a:extLst>
              <a:ext uri="{FF2B5EF4-FFF2-40B4-BE49-F238E27FC236}">
                <a16:creationId xmlns:a16="http://schemas.microsoft.com/office/drawing/2014/main" id="{7EA5E88C-8A0A-44A5-A2EC-3DB4EAAFD6D2}"/>
              </a:ext>
            </a:extLst>
          </p:cNvPr>
          <p:cNvSpPr>
            <a:spLocks noGrp="1"/>
          </p:cNvSpPr>
          <p:nvPr/>
        </p:nvSpPr>
        <p:spPr>
          <a:xfrm flipV="1">
            <a:off x="1200150" y="1230916"/>
            <a:ext cx="43815" cy="26003"/>
          </a:xfrm>
          <a:prstGeom prst="line">
            <a:avLst/>
          </a:prstGeom>
          <a:noFill/>
          <a:ln w="19050">
            <a:solidFill>
              <a:srgbClr val="2F8F83"/>
            </a:solidFill>
            <a:prstDash val="solid"/>
          </a:ln>
        </p:spPr>
      </p:sp>
      <p:sp>
        <p:nvSpPr>
          <p:cNvPr id="557" name="FIG2_MACRO__TRANSFORM_PROCESSED__078__WAVE_2">
            <a:extLst>
              <a:ext uri="{FF2B5EF4-FFF2-40B4-BE49-F238E27FC236}">
                <a16:creationId xmlns:a16="http://schemas.microsoft.com/office/drawing/2014/main" id="{DD3AA5EF-9132-43F7-90FE-D2C62B8AF898}"/>
              </a:ext>
            </a:extLst>
          </p:cNvPr>
          <p:cNvSpPr>
            <a:spLocks noGrp="1"/>
          </p:cNvSpPr>
          <p:nvPr/>
        </p:nvSpPr>
        <p:spPr>
          <a:xfrm flipV="1">
            <a:off x="1243965" y="1208913"/>
            <a:ext cx="43815" cy="22003"/>
          </a:xfrm>
          <a:prstGeom prst="line">
            <a:avLst/>
          </a:prstGeom>
          <a:noFill/>
          <a:ln w="19050">
            <a:solidFill>
              <a:srgbClr val="2F8F83"/>
            </a:solidFill>
            <a:prstDash val="solid"/>
          </a:ln>
        </p:spPr>
      </p:sp>
      <p:sp>
        <p:nvSpPr>
          <p:cNvPr id="558" name="FIG2_MACRO__TRANSFORM_PROCESSED__079__WAVE_3">
            <a:extLst>
              <a:ext uri="{FF2B5EF4-FFF2-40B4-BE49-F238E27FC236}">
                <a16:creationId xmlns:a16="http://schemas.microsoft.com/office/drawing/2014/main" id="{0D916EE6-40BA-4206-9BA9-34D3AD7C7D98}"/>
              </a:ext>
            </a:extLst>
          </p:cNvPr>
          <p:cNvSpPr>
            <a:spLocks noGrp="1"/>
          </p:cNvSpPr>
          <p:nvPr/>
        </p:nvSpPr>
        <p:spPr>
          <a:xfrm flipV="1">
            <a:off x="1287780" y="1184910"/>
            <a:ext cx="43815" cy="24003"/>
          </a:xfrm>
          <a:prstGeom prst="line">
            <a:avLst/>
          </a:prstGeom>
          <a:noFill/>
          <a:ln w="19050">
            <a:solidFill>
              <a:srgbClr val="2F8F83"/>
            </a:solidFill>
            <a:prstDash val="solid"/>
          </a:ln>
        </p:spPr>
      </p:sp>
      <p:sp>
        <p:nvSpPr>
          <p:cNvPr id="559" name="FIG2_MACRO__TRANSFORM_PROCESSED__080__WAVE_4">
            <a:extLst>
              <a:ext uri="{FF2B5EF4-FFF2-40B4-BE49-F238E27FC236}">
                <a16:creationId xmlns:a16="http://schemas.microsoft.com/office/drawing/2014/main" id="{55B5997D-F2CB-4785-9711-46EB342A67B6}"/>
              </a:ext>
            </a:extLst>
          </p:cNvPr>
          <p:cNvSpPr>
            <a:spLocks noGrp="1"/>
          </p:cNvSpPr>
          <p:nvPr/>
        </p:nvSpPr>
        <p:spPr>
          <a:xfrm flipV="1">
            <a:off x="1331595" y="1164908"/>
            <a:ext cx="43815" cy="20003"/>
          </a:xfrm>
          <a:prstGeom prst="line">
            <a:avLst/>
          </a:prstGeom>
          <a:noFill/>
          <a:ln w="19050">
            <a:solidFill>
              <a:srgbClr val="2F8F83"/>
            </a:solidFill>
            <a:prstDash val="solid"/>
          </a:ln>
        </p:spPr>
      </p:sp>
      <p:sp>
        <p:nvSpPr>
          <p:cNvPr id="560" name="FIG2_MACRO__TRANSFORM_PROCESSED__081__WAVE_5">
            <a:extLst>
              <a:ext uri="{FF2B5EF4-FFF2-40B4-BE49-F238E27FC236}">
                <a16:creationId xmlns:a16="http://schemas.microsoft.com/office/drawing/2014/main" id="{6147FA25-62D7-4D2E-BF33-A4C7646576CF}"/>
              </a:ext>
            </a:extLst>
          </p:cNvPr>
          <p:cNvSpPr>
            <a:spLocks noGrp="1"/>
          </p:cNvSpPr>
          <p:nvPr/>
        </p:nvSpPr>
        <p:spPr>
          <a:xfrm flipV="1">
            <a:off x="1375410" y="1148906"/>
            <a:ext cx="43815" cy="16002"/>
          </a:xfrm>
          <a:prstGeom prst="line">
            <a:avLst/>
          </a:prstGeom>
          <a:noFill/>
          <a:ln w="19050">
            <a:solidFill>
              <a:srgbClr val="2F8F83"/>
            </a:solidFill>
            <a:prstDash val="solid"/>
          </a:ln>
        </p:spPr>
      </p:sp>
      <p:sp>
        <p:nvSpPr>
          <p:cNvPr id="561" name="FIG2_MACRO__082__TRANSFORM_LABEL">
            <a:extLst>
              <a:ext uri="{FF2B5EF4-FFF2-40B4-BE49-F238E27FC236}">
                <a16:creationId xmlns:a16="http://schemas.microsoft.com/office/drawing/2014/main" id="{4FEA4283-0354-42DF-9198-226FB202F3AD}"/>
              </a:ext>
            </a:extLst>
          </p:cNvPr>
          <p:cNvSpPr>
            <a:spLocks noGrp="1"/>
          </p:cNvSpPr>
          <p:nvPr/>
        </p:nvSpPr>
        <p:spPr>
          <a:xfrm>
            <a:off x="571500" y="1495425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53A399"/>
                </a:solidFill>
                <a:latin typeface="Times New Roman"/>
                <a:ea typeface="Times New Roman"/>
                <a:cs typeface="Times New Roman"/>
              </a:rPr>
              <a:t>Trend extraction</a:t>
            </a:r>
          </a:p>
        </p:txBody>
      </p:sp>
      <p:sp>
        <p:nvSpPr>
          <p:cNvPr id="562" name="FIG2_MACRO__SIM_A__083__WAVE_1">
            <a:extLst>
              <a:ext uri="{FF2B5EF4-FFF2-40B4-BE49-F238E27FC236}">
                <a16:creationId xmlns:a16="http://schemas.microsoft.com/office/drawing/2014/main" id="{67D8E70A-038E-41F3-853F-F7792B579513}"/>
              </a:ext>
            </a:extLst>
          </p:cNvPr>
          <p:cNvSpPr>
            <a:spLocks noGrp="1"/>
          </p:cNvSpPr>
          <p:nvPr/>
        </p:nvSpPr>
        <p:spPr>
          <a:xfrm flipV="1">
            <a:off x="1581150" y="1144810"/>
            <a:ext cx="45720" cy="16097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63" name="FIG2_MACRO__SIM_A__084__WAVE_2">
            <a:extLst>
              <a:ext uri="{FF2B5EF4-FFF2-40B4-BE49-F238E27FC236}">
                <a16:creationId xmlns:a16="http://schemas.microsoft.com/office/drawing/2014/main" id="{94BA10B1-941E-45AF-A687-288994A8D3FD}"/>
              </a:ext>
            </a:extLst>
          </p:cNvPr>
          <p:cNvSpPr>
            <a:spLocks noGrp="1"/>
          </p:cNvSpPr>
          <p:nvPr/>
        </p:nvSpPr>
        <p:spPr>
          <a:xfrm flipV="1">
            <a:off x="1626870" y="1131189"/>
            <a:ext cx="45720" cy="13621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64" name="FIG2_MACRO__SIM_A__085__WAVE_3">
            <a:extLst>
              <a:ext uri="{FF2B5EF4-FFF2-40B4-BE49-F238E27FC236}">
                <a16:creationId xmlns:a16="http://schemas.microsoft.com/office/drawing/2014/main" id="{C0079630-747D-4A14-820C-DAA8E85FA062}"/>
              </a:ext>
            </a:extLst>
          </p:cNvPr>
          <p:cNvSpPr>
            <a:spLocks noGrp="1"/>
          </p:cNvSpPr>
          <p:nvPr/>
        </p:nvSpPr>
        <p:spPr>
          <a:xfrm flipV="1">
            <a:off x="1672590" y="1116330"/>
            <a:ext cx="45720" cy="14859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65" name="FIG2_MACRO__SIM_A__086__WAVE_4">
            <a:extLst>
              <a:ext uri="{FF2B5EF4-FFF2-40B4-BE49-F238E27FC236}">
                <a16:creationId xmlns:a16="http://schemas.microsoft.com/office/drawing/2014/main" id="{A0203DD8-72A2-4162-8B84-AC86911184E5}"/>
              </a:ext>
            </a:extLst>
          </p:cNvPr>
          <p:cNvSpPr>
            <a:spLocks noGrp="1"/>
          </p:cNvSpPr>
          <p:nvPr/>
        </p:nvSpPr>
        <p:spPr>
          <a:xfrm flipV="1">
            <a:off x="1718310" y="1103948"/>
            <a:ext cx="45720" cy="12382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66" name="FIG2_MACRO__SIM_A__087__WAVE_5">
            <a:extLst>
              <a:ext uri="{FF2B5EF4-FFF2-40B4-BE49-F238E27FC236}">
                <a16:creationId xmlns:a16="http://schemas.microsoft.com/office/drawing/2014/main" id="{697C3F3F-BCDB-47FC-B4E5-388163637FEE}"/>
              </a:ext>
            </a:extLst>
          </p:cNvPr>
          <p:cNvSpPr>
            <a:spLocks noGrp="1"/>
          </p:cNvSpPr>
          <p:nvPr/>
        </p:nvSpPr>
        <p:spPr>
          <a:xfrm flipV="1">
            <a:off x="1764030" y="1094042"/>
            <a:ext cx="45720" cy="9906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67" name="FIG2_MACRO__SIM_B__088__WAVE_1">
            <a:extLst>
              <a:ext uri="{FF2B5EF4-FFF2-40B4-BE49-F238E27FC236}">
                <a16:creationId xmlns:a16="http://schemas.microsoft.com/office/drawing/2014/main" id="{76A111D8-DF34-435B-BEF2-8432AE959794}"/>
              </a:ext>
            </a:extLst>
          </p:cNvPr>
          <p:cNvSpPr>
            <a:spLocks noGrp="1"/>
          </p:cNvSpPr>
          <p:nvPr/>
        </p:nvSpPr>
        <p:spPr>
          <a:xfrm flipV="1">
            <a:off x="2019300" y="1134904"/>
            <a:ext cx="34290" cy="30956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68" name="FIG2_MACRO__SIM_B__089__WAVE_2">
            <a:extLst>
              <a:ext uri="{FF2B5EF4-FFF2-40B4-BE49-F238E27FC236}">
                <a16:creationId xmlns:a16="http://schemas.microsoft.com/office/drawing/2014/main" id="{23C73167-144F-4325-A580-170F5E91A0B6}"/>
              </a:ext>
            </a:extLst>
          </p:cNvPr>
          <p:cNvSpPr>
            <a:spLocks noGrp="1"/>
          </p:cNvSpPr>
          <p:nvPr/>
        </p:nvSpPr>
        <p:spPr>
          <a:xfrm>
            <a:off x="2053590" y="1134904"/>
            <a:ext cx="34290" cy="1238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69" name="FIG2_MACRO__SIM_B__090__WAVE_3">
            <a:extLst>
              <a:ext uri="{FF2B5EF4-FFF2-40B4-BE49-F238E27FC236}">
                <a16:creationId xmlns:a16="http://schemas.microsoft.com/office/drawing/2014/main" id="{A29628DC-8FBE-43FE-ADFF-7A6F75A7BDDB}"/>
              </a:ext>
            </a:extLst>
          </p:cNvPr>
          <p:cNvSpPr>
            <a:spLocks noGrp="1"/>
          </p:cNvSpPr>
          <p:nvPr/>
        </p:nvSpPr>
        <p:spPr>
          <a:xfrm flipV="1">
            <a:off x="2087880" y="1106424"/>
            <a:ext cx="34290" cy="29718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70" name="FIG2_MACRO__SIM_B__091__WAVE_4">
            <a:extLst>
              <a:ext uri="{FF2B5EF4-FFF2-40B4-BE49-F238E27FC236}">
                <a16:creationId xmlns:a16="http://schemas.microsoft.com/office/drawing/2014/main" id="{0BBAB681-1BE6-4830-8570-F9A8BE19CC5B}"/>
              </a:ext>
            </a:extLst>
          </p:cNvPr>
          <p:cNvSpPr>
            <a:spLocks noGrp="1"/>
          </p:cNvSpPr>
          <p:nvPr/>
        </p:nvSpPr>
        <p:spPr>
          <a:xfrm>
            <a:off x="2122170" y="1106424"/>
            <a:ext cx="34290" cy="2477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71" name="FIG2_MACRO__SIM_B__092__WAVE_5">
            <a:extLst>
              <a:ext uri="{FF2B5EF4-FFF2-40B4-BE49-F238E27FC236}">
                <a16:creationId xmlns:a16="http://schemas.microsoft.com/office/drawing/2014/main" id="{C28073F9-07D0-40E6-B8B3-23112644C90D}"/>
              </a:ext>
            </a:extLst>
          </p:cNvPr>
          <p:cNvSpPr>
            <a:spLocks noGrp="1"/>
          </p:cNvSpPr>
          <p:nvPr/>
        </p:nvSpPr>
        <p:spPr>
          <a:xfrm flipV="1">
            <a:off x="2156460" y="1084136"/>
            <a:ext cx="34290" cy="24765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572" name="FIG2_MACRO__093__SIM_SYMBOL">
            <a:extLst>
              <a:ext uri="{FF2B5EF4-FFF2-40B4-BE49-F238E27FC236}">
                <a16:creationId xmlns:a16="http://schemas.microsoft.com/office/drawing/2014/main" id="{C8A66DA2-1FC4-4C8D-86B3-8611123F20A7}"/>
              </a:ext>
            </a:extLst>
          </p:cNvPr>
          <p:cNvSpPr>
            <a:spLocks noGrp="1"/>
          </p:cNvSpPr>
          <p:nvPr/>
        </p:nvSpPr>
        <p:spPr>
          <a:xfrm>
            <a:off x="1800225" y="1095375"/>
            <a:ext cx="209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ρ</a:t>
            </a:r>
          </a:p>
        </p:txBody>
      </p:sp>
      <p:sp>
        <p:nvSpPr>
          <p:cNvPr id="573" name="FIG2_MACRO__094__SIMILARITY_LABEL">
            <a:extLst>
              <a:ext uri="{FF2B5EF4-FFF2-40B4-BE49-F238E27FC236}">
                <a16:creationId xmlns:a16="http://schemas.microsoft.com/office/drawing/2014/main" id="{5881BBB7-70E6-4273-AF07-6C79C1A7480E}"/>
              </a:ext>
            </a:extLst>
          </p:cNvPr>
          <p:cNvSpPr>
            <a:spLocks noGrp="1"/>
          </p:cNvSpPr>
          <p:nvPr/>
        </p:nvSpPr>
        <p:spPr>
          <a:xfrm>
            <a:off x="1333500" y="137160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53A399"/>
                </a:solidFill>
                <a:latin typeface="Times New Roman"/>
                <a:ea typeface="Times New Roman"/>
                <a:cs typeface="Times New Roman"/>
              </a:rPr>
              <a:t>Trend Pearson</a:t>
            </a:r>
          </a:p>
          <a:p>
            <a:pPr algn="ctr"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53A399"/>
                </a:solidFill>
                <a:latin typeface="Times New Roman"/>
                <a:ea typeface="Times New Roman"/>
                <a:cs typeface="Times New Roman"/>
              </a:rPr>
              <a:t>Correlation Graph</a:t>
            </a:r>
          </a:p>
        </p:txBody>
      </p:sp>
      <p:sp>
        <p:nvSpPr>
          <p:cNvPr id="574" name="FIG2_MACRO__DENSE_GRAPH__095__EDGE_1">
            <a:extLst>
              <a:ext uri="{FF2B5EF4-FFF2-40B4-BE49-F238E27FC236}">
                <a16:creationId xmlns:a16="http://schemas.microsoft.com/office/drawing/2014/main" id="{1EA9743B-BDAC-4B5D-BD46-D2069BAE4B62}"/>
              </a:ext>
            </a:extLst>
          </p:cNvPr>
          <p:cNvSpPr>
            <a:spLocks noGrp="1"/>
          </p:cNvSpPr>
          <p:nvPr/>
        </p:nvSpPr>
        <p:spPr>
          <a:xfrm flipV="1">
            <a:off x="2289810" y="1089660"/>
            <a:ext cx="57150" cy="134302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75" name="FIG2_MACRO__DENSE_GRAPH__096__EDGE_2">
            <a:extLst>
              <a:ext uri="{FF2B5EF4-FFF2-40B4-BE49-F238E27FC236}">
                <a16:creationId xmlns:a16="http://schemas.microsoft.com/office/drawing/2014/main" id="{1E89298C-F513-42D0-A1AB-A22A6454736A}"/>
              </a:ext>
            </a:extLst>
          </p:cNvPr>
          <p:cNvSpPr>
            <a:spLocks noGrp="1"/>
          </p:cNvSpPr>
          <p:nvPr/>
        </p:nvSpPr>
        <p:spPr>
          <a:xfrm flipV="1">
            <a:off x="2289810" y="1152525"/>
            <a:ext cx="120015" cy="71438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76" name="FIG2_MACRO__DENSE_GRAPH__097__EDGE_3">
            <a:extLst>
              <a:ext uri="{FF2B5EF4-FFF2-40B4-BE49-F238E27FC236}">
                <a16:creationId xmlns:a16="http://schemas.microsoft.com/office/drawing/2014/main" id="{F152D475-63C4-43FD-8E5D-0886ABFB841E}"/>
              </a:ext>
            </a:extLst>
          </p:cNvPr>
          <p:cNvSpPr>
            <a:spLocks noGrp="1"/>
          </p:cNvSpPr>
          <p:nvPr/>
        </p:nvSpPr>
        <p:spPr>
          <a:xfrm>
            <a:off x="2289810" y="1223963"/>
            <a:ext cx="125730" cy="94298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77" name="FIG2_MACRO__DENSE_GRAPH__098__EDGE_4">
            <a:extLst>
              <a:ext uri="{FF2B5EF4-FFF2-40B4-BE49-F238E27FC236}">
                <a16:creationId xmlns:a16="http://schemas.microsoft.com/office/drawing/2014/main" id="{63EC36B0-899C-4440-A2B5-2D09238ED8A0}"/>
              </a:ext>
            </a:extLst>
          </p:cNvPr>
          <p:cNvSpPr>
            <a:spLocks noGrp="1"/>
          </p:cNvSpPr>
          <p:nvPr/>
        </p:nvSpPr>
        <p:spPr>
          <a:xfrm>
            <a:off x="2346960" y="1089660"/>
            <a:ext cx="62865" cy="62865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78" name="FIG2_MACRO__DENSE_GRAPH__099__EDGE_5">
            <a:extLst>
              <a:ext uri="{FF2B5EF4-FFF2-40B4-BE49-F238E27FC236}">
                <a16:creationId xmlns:a16="http://schemas.microsoft.com/office/drawing/2014/main" id="{62AD6136-E544-42D1-AF3F-ED43E78A8FD7}"/>
              </a:ext>
            </a:extLst>
          </p:cNvPr>
          <p:cNvSpPr>
            <a:spLocks noGrp="1"/>
          </p:cNvSpPr>
          <p:nvPr/>
        </p:nvSpPr>
        <p:spPr>
          <a:xfrm>
            <a:off x="2346960" y="1089660"/>
            <a:ext cx="142875" cy="11430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79" name="FIG2_MACRO__DENSE_GRAPH__100__EDGE_6">
            <a:extLst>
              <a:ext uri="{FF2B5EF4-FFF2-40B4-BE49-F238E27FC236}">
                <a16:creationId xmlns:a16="http://schemas.microsoft.com/office/drawing/2014/main" id="{F318CDC0-4247-45C4-8E66-BC39EAC0584B}"/>
              </a:ext>
            </a:extLst>
          </p:cNvPr>
          <p:cNvSpPr>
            <a:spLocks noGrp="1"/>
          </p:cNvSpPr>
          <p:nvPr/>
        </p:nvSpPr>
        <p:spPr>
          <a:xfrm>
            <a:off x="2346960" y="1089660"/>
            <a:ext cx="68580" cy="228600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80" name="FIG2_MACRO__DENSE_GRAPH__101__EDGE_7">
            <a:extLst>
              <a:ext uri="{FF2B5EF4-FFF2-40B4-BE49-F238E27FC236}">
                <a16:creationId xmlns:a16="http://schemas.microsoft.com/office/drawing/2014/main" id="{1D7B3A1D-AF08-4920-AC61-F435864978A8}"/>
              </a:ext>
            </a:extLst>
          </p:cNvPr>
          <p:cNvSpPr>
            <a:spLocks noGrp="1"/>
          </p:cNvSpPr>
          <p:nvPr/>
        </p:nvSpPr>
        <p:spPr>
          <a:xfrm flipV="1">
            <a:off x="2409825" y="1101090"/>
            <a:ext cx="80010" cy="51435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81" name="FIG2_MACRO__DENSE_GRAPH__102__EDGE_8">
            <a:extLst>
              <a:ext uri="{FF2B5EF4-FFF2-40B4-BE49-F238E27FC236}">
                <a16:creationId xmlns:a16="http://schemas.microsoft.com/office/drawing/2014/main" id="{ADD68D78-B05A-4A23-95C6-A22597786BA5}"/>
              </a:ext>
            </a:extLst>
          </p:cNvPr>
          <p:cNvSpPr>
            <a:spLocks noGrp="1"/>
          </p:cNvSpPr>
          <p:nvPr/>
        </p:nvSpPr>
        <p:spPr>
          <a:xfrm>
            <a:off x="2409825" y="1152525"/>
            <a:ext cx="108585" cy="120015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82" name="FIG2_MACRO__DENSE_GRAPH__103__EDGE_9">
            <a:extLst>
              <a:ext uri="{FF2B5EF4-FFF2-40B4-BE49-F238E27FC236}">
                <a16:creationId xmlns:a16="http://schemas.microsoft.com/office/drawing/2014/main" id="{71240AED-9274-4BC3-B81C-03BE90104FAB}"/>
              </a:ext>
            </a:extLst>
          </p:cNvPr>
          <p:cNvSpPr>
            <a:spLocks noGrp="1"/>
          </p:cNvSpPr>
          <p:nvPr/>
        </p:nvSpPr>
        <p:spPr>
          <a:xfrm>
            <a:off x="2409825" y="1152525"/>
            <a:ext cx="5715" cy="165735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83" name="FIG2_MACRO__DENSE_GRAPH__104__EDGE_10">
            <a:extLst>
              <a:ext uri="{FF2B5EF4-FFF2-40B4-BE49-F238E27FC236}">
                <a16:creationId xmlns:a16="http://schemas.microsoft.com/office/drawing/2014/main" id="{A8C36535-F6AD-40AC-B3B9-15F845067E1C}"/>
              </a:ext>
            </a:extLst>
          </p:cNvPr>
          <p:cNvSpPr>
            <a:spLocks noGrp="1"/>
          </p:cNvSpPr>
          <p:nvPr/>
        </p:nvSpPr>
        <p:spPr>
          <a:xfrm>
            <a:off x="2489835" y="1101090"/>
            <a:ext cx="28575" cy="171450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84" name="FIG2_MACRO__DENSE_GRAPH__105__EDGE_11">
            <a:extLst>
              <a:ext uri="{FF2B5EF4-FFF2-40B4-BE49-F238E27FC236}">
                <a16:creationId xmlns:a16="http://schemas.microsoft.com/office/drawing/2014/main" id="{24E46D42-CD88-4EFC-8EC3-BD687E4DE670}"/>
              </a:ext>
            </a:extLst>
          </p:cNvPr>
          <p:cNvSpPr>
            <a:spLocks noGrp="1"/>
          </p:cNvSpPr>
          <p:nvPr/>
        </p:nvSpPr>
        <p:spPr>
          <a:xfrm>
            <a:off x="2415540" y="1101090"/>
            <a:ext cx="74295" cy="217170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85" name="FIG2_MACRO__DENSE_GRAPH__106__EDGE_12">
            <a:extLst>
              <a:ext uri="{FF2B5EF4-FFF2-40B4-BE49-F238E27FC236}">
                <a16:creationId xmlns:a16="http://schemas.microsoft.com/office/drawing/2014/main" id="{DA59340A-8CAD-4CF0-B988-3412FD21B57E}"/>
              </a:ext>
            </a:extLst>
          </p:cNvPr>
          <p:cNvSpPr>
            <a:spLocks noGrp="1"/>
          </p:cNvSpPr>
          <p:nvPr/>
        </p:nvSpPr>
        <p:spPr>
          <a:xfrm>
            <a:off x="2415540" y="1272540"/>
            <a:ext cx="102870" cy="45720"/>
          </a:xfrm>
          <a:prstGeom prst="line">
            <a:avLst/>
          </a:prstGeom>
          <a:noFill/>
          <a:ln w="8096">
            <a:solidFill>
              <a:srgbClr val="2F8F83"/>
            </a:solidFill>
            <a:prstDash val="solid"/>
          </a:ln>
        </p:spPr>
      </p:sp>
      <p:sp>
        <p:nvSpPr>
          <p:cNvPr id="586" name="FIG2_MACRO__DENSE_GRAPH__107__NODE_1">
            <a:extLst>
              <a:ext uri="{FF2B5EF4-FFF2-40B4-BE49-F238E27FC236}">
                <a16:creationId xmlns:a16="http://schemas.microsoft.com/office/drawing/2014/main" id="{6E9D6522-255C-4B19-A655-12EBCCD2D359}"/>
              </a:ext>
            </a:extLst>
          </p:cNvPr>
          <p:cNvSpPr>
            <a:spLocks noGrp="1"/>
          </p:cNvSpPr>
          <p:nvPr/>
        </p:nvSpPr>
        <p:spPr>
          <a:xfrm>
            <a:off x="2267426" y="1201579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587" name="FIG2_MACRO__DENSE_GRAPH__108__NODE_2">
            <a:extLst>
              <a:ext uri="{FF2B5EF4-FFF2-40B4-BE49-F238E27FC236}">
                <a16:creationId xmlns:a16="http://schemas.microsoft.com/office/drawing/2014/main" id="{42EA3E79-32B0-44FC-9898-30BCB1322130}"/>
              </a:ext>
            </a:extLst>
          </p:cNvPr>
          <p:cNvSpPr>
            <a:spLocks noGrp="1"/>
          </p:cNvSpPr>
          <p:nvPr/>
        </p:nvSpPr>
        <p:spPr>
          <a:xfrm>
            <a:off x="2324576" y="106727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588" name="FIG2_MACRO__DENSE_GRAPH__109__NODE_3">
            <a:extLst>
              <a:ext uri="{FF2B5EF4-FFF2-40B4-BE49-F238E27FC236}">
                <a16:creationId xmlns:a16="http://schemas.microsoft.com/office/drawing/2014/main" id="{CA9A145F-4329-4903-80B4-D004D485EB1A}"/>
              </a:ext>
            </a:extLst>
          </p:cNvPr>
          <p:cNvSpPr>
            <a:spLocks noGrp="1"/>
          </p:cNvSpPr>
          <p:nvPr/>
        </p:nvSpPr>
        <p:spPr>
          <a:xfrm>
            <a:off x="2387441" y="1130141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589" name="FIG2_MACRO__DENSE_GRAPH__110__NODE_4">
            <a:extLst>
              <a:ext uri="{FF2B5EF4-FFF2-40B4-BE49-F238E27FC236}">
                <a16:creationId xmlns:a16="http://schemas.microsoft.com/office/drawing/2014/main" id="{8C24889D-B26F-4BD3-9B8C-637D5ED4D7A9}"/>
              </a:ext>
            </a:extLst>
          </p:cNvPr>
          <p:cNvSpPr>
            <a:spLocks noGrp="1"/>
          </p:cNvSpPr>
          <p:nvPr/>
        </p:nvSpPr>
        <p:spPr>
          <a:xfrm>
            <a:off x="2467451" y="107870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590" name="FIG2_MACRO__DENSE_GRAPH__111__NODE_5">
            <a:extLst>
              <a:ext uri="{FF2B5EF4-FFF2-40B4-BE49-F238E27FC236}">
                <a16:creationId xmlns:a16="http://schemas.microsoft.com/office/drawing/2014/main" id="{B3A56EF0-1DD5-47A9-B1E0-2C1AA9FE0E69}"/>
              </a:ext>
            </a:extLst>
          </p:cNvPr>
          <p:cNvSpPr>
            <a:spLocks noGrp="1"/>
          </p:cNvSpPr>
          <p:nvPr/>
        </p:nvSpPr>
        <p:spPr>
          <a:xfrm>
            <a:off x="2496026" y="125015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591" name="FIG2_MACRO__DENSE_GRAPH__112__NODE_6">
            <a:extLst>
              <a:ext uri="{FF2B5EF4-FFF2-40B4-BE49-F238E27FC236}">
                <a16:creationId xmlns:a16="http://schemas.microsoft.com/office/drawing/2014/main" id="{F799D061-E53B-4B29-AF1A-6D88C7EC2D69}"/>
              </a:ext>
            </a:extLst>
          </p:cNvPr>
          <p:cNvSpPr>
            <a:spLocks noGrp="1"/>
          </p:cNvSpPr>
          <p:nvPr/>
        </p:nvSpPr>
        <p:spPr>
          <a:xfrm>
            <a:off x="2393156" y="129587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592" name="FIG2_MACRO__SPARSE_GRAPH__113__EDGE_1">
            <a:extLst>
              <a:ext uri="{FF2B5EF4-FFF2-40B4-BE49-F238E27FC236}">
                <a16:creationId xmlns:a16="http://schemas.microsoft.com/office/drawing/2014/main" id="{C8258830-CC04-4F91-A2A7-C3F860D66148}"/>
              </a:ext>
            </a:extLst>
          </p:cNvPr>
          <p:cNvSpPr>
            <a:spLocks noGrp="1"/>
          </p:cNvSpPr>
          <p:nvPr/>
        </p:nvSpPr>
        <p:spPr>
          <a:xfrm flipV="1">
            <a:off x="2804922" y="1089660"/>
            <a:ext cx="59055" cy="134302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593" name="FIG2_MACRO__SPARSE_GRAPH__114__EDGE_2">
            <a:extLst>
              <a:ext uri="{FF2B5EF4-FFF2-40B4-BE49-F238E27FC236}">
                <a16:creationId xmlns:a16="http://schemas.microsoft.com/office/drawing/2014/main" id="{B33C9949-86FA-47FB-841D-4B855EBD67C6}"/>
              </a:ext>
            </a:extLst>
          </p:cNvPr>
          <p:cNvSpPr>
            <a:spLocks noGrp="1"/>
          </p:cNvSpPr>
          <p:nvPr/>
        </p:nvSpPr>
        <p:spPr>
          <a:xfrm flipV="1">
            <a:off x="2804922" y="1152525"/>
            <a:ext cx="124015" cy="71438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594" name="FIG2_MACRO__SPARSE_GRAPH__115__EDGE_3">
            <a:extLst>
              <a:ext uri="{FF2B5EF4-FFF2-40B4-BE49-F238E27FC236}">
                <a16:creationId xmlns:a16="http://schemas.microsoft.com/office/drawing/2014/main" id="{13FFF874-4C67-421A-BAD5-F2DB728513EA}"/>
              </a:ext>
            </a:extLst>
          </p:cNvPr>
          <p:cNvSpPr>
            <a:spLocks noGrp="1"/>
          </p:cNvSpPr>
          <p:nvPr/>
        </p:nvSpPr>
        <p:spPr>
          <a:xfrm>
            <a:off x="2863977" y="1089660"/>
            <a:ext cx="64960" cy="62865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595" name="FIG2_MACRO__SPARSE_GRAPH__116__EDGE_4">
            <a:extLst>
              <a:ext uri="{FF2B5EF4-FFF2-40B4-BE49-F238E27FC236}">
                <a16:creationId xmlns:a16="http://schemas.microsoft.com/office/drawing/2014/main" id="{4F95DE30-03E8-4E30-8B89-A859DD8B01B0}"/>
              </a:ext>
            </a:extLst>
          </p:cNvPr>
          <p:cNvSpPr>
            <a:spLocks noGrp="1"/>
          </p:cNvSpPr>
          <p:nvPr/>
        </p:nvSpPr>
        <p:spPr>
          <a:xfrm>
            <a:off x="2863977" y="1089660"/>
            <a:ext cx="147638" cy="11430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596" name="FIG2_MACRO__SPARSE_GRAPH__117__EDGE_5">
            <a:extLst>
              <a:ext uri="{FF2B5EF4-FFF2-40B4-BE49-F238E27FC236}">
                <a16:creationId xmlns:a16="http://schemas.microsoft.com/office/drawing/2014/main" id="{5E0925B3-42B0-4E90-99EE-087D1FC11901}"/>
              </a:ext>
            </a:extLst>
          </p:cNvPr>
          <p:cNvSpPr>
            <a:spLocks noGrp="1"/>
          </p:cNvSpPr>
          <p:nvPr/>
        </p:nvSpPr>
        <p:spPr>
          <a:xfrm flipV="1">
            <a:off x="2928938" y="1101090"/>
            <a:ext cx="82677" cy="51435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597" name="FIG2_MACRO__SPARSE_GRAPH__118__EDGE_6">
            <a:extLst>
              <a:ext uri="{FF2B5EF4-FFF2-40B4-BE49-F238E27FC236}">
                <a16:creationId xmlns:a16="http://schemas.microsoft.com/office/drawing/2014/main" id="{940B9D09-81EC-4273-B043-E88E08724285}"/>
              </a:ext>
            </a:extLst>
          </p:cNvPr>
          <p:cNvSpPr>
            <a:spLocks noGrp="1"/>
          </p:cNvSpPr>
          <p:nvPr/>
        </p:nvSpPr>
        <p:spPr>
          <a:xfrm>
            <a:off x="2928938" y="1152525"/>
            <a:ext cx="5906" cy="165735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598" name="FIG2_MACRO__SPARSE_GRAPH__119__EDGE_7">
            <a:extLst>
              <a:ext uri="{FF2B5EF4-FFF2-40B4-BE49-F238E27FC236}">
                <a16:creationId xmlns:a16="http://schemas.microsoft.com/office/drawing/2014/main" id="{042C37F3-0156-4B23-A617-CC95F4D95803}"/>
              </a:ext>
            </a:extLst>
          </p:cNvPr>
          <p:cNvSpPr>
            <a:spLocks noGrp="1"/>
          </p:cNvSpPr>
          <p:nvPr/>
        </p:nvSpPr>
        <p:spPr>
          <a:xfrm>
            <a:off x="3011615" y="1101090"/>
            <a:ext cx="29527" cy="171450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599" name="FIG2_MACRO__SPARSE_GRAPH__120__EDGE_8">
            <a:extLst>
              <a:ext uri="{FF2B5EF4-FFF2-40B4-BE49-F238E27FC236}">
                <a16:creationId xmlns:a16="http://schemas.microsoft.com/office/drawing/2014/main" id="{716AB450-6BC0-4494-A33A-87CF8B252B99}"/>
              </a:ext>
            </a:extLst>
          </p:cNvPr>
          <p:cNvSpPr>
            <a:spLocks noGrp="1"/>
          </p:cNvSpPr>
          <p:nvPr/>
        </p:nvSpPr>
        <p:spPr>
          <a:xfrm>
            <a:off x="2934843" y="1272540"/>
            <a:ext cx="106299" cy="45720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00" name="FIG2_MACRO__SPARSE_GRAPH__121__NODE_1">
            <a:extLst>
              <a:ext uri="{FF2B5EF4-FFF2-40B4-BE49-F238E27FC236}">
                <a16:creationId xmlns:a16="http://schemas.microsoft.com/office/drawing/2014/main" id="{DCA63437-C466-4DBD-A199-6F15ACE0F0B2}"/>
              </a:ext>
            </a:extLst>
          </p:cNvPr>
          <p:cNvSpPr>
            <a:spLocks noGrp="1"/>
          </p:cNvSpPr>
          <p:nvPr/>
        </p:nvSpPr>
        <p:spPr>
          <a:xfrm>
            <a:off x="2782538" y="1201579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01" name="FIG2_MACRO__SPARSE_GRAPH__122__NODE_2">
            <a:extLst>
              <a:ext uri="{FF2B5EF4-FFF2-40B4-BE49-F238E27FC236}">
                <a16:creationId xmlns:a16="http://schemas.microsoft.com/office/drawing/2014/main" id="{D0D6558F-5E06-4083-8D04-0624DDEE52A1}"/>
              </a:ext>
            </a:extLst>
          </p:cNvPr>
          <p:cNvSpPr>
            <a:spLocks noGrp="1"/>
          </p:cNvSpPr>
          <p:nvPr/>
        </p:nvSpPr>
        <p:spPr>
          <a:xfrm>
            <a:off x="2841593" y="106727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02" name="FIG2_MACRO__SPARSE_GRAPH__123__NODE_3">
            <a:extLst>
              <a:ext uri="{FF2B5EF4-FFF2-40B4-BE49-F238E27FC236}">
                <a16:creationId xmlns:a16="http://schemas.microsoft.com/office/drawing/2014/main" id="{1842A7AD-FAD5-4DC8-9D24-42AD7871EC1D}"/>
              </a:ext>
            </a:extLst>
          </p:cNvPr>
          <p:cNvSpPr>
            <a:spLocks noGrp="1"/>
          </p:cNvSpPr>
          <p:nvPr/>
        </p:nvSpPr>
        <p:spPr>
          <a:xfrm>
            <a:off x="2906554" y="1130141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03" name="FIG2_MACRO__SPARSE_GRAPH__124__NODE_4">
            <a:extLst>
              <a:ext uri="{FF2B5EF4-FFF2-40B4-BE49-F238E27FC236}">
                <a16:creationId xmlns:a16="http://schemas.microsoft.com/office/drawing/2014/main" id="{9F91DA61-FE55-4022-BFFE-8FD02E7FE043}"/>
              </a:ext>
            </a:extLst>
          </p:cNvPr>
          <p:cNvSpPr>
            <a:spLocks noGrp="1"/>
          </p:cNvSpPr>
          <p:nvPr/>
        </p:nvSpPr>
        <p:spPr>
          <a:xfrm>
            <a:off x="2989231" y="107870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04" name="FIG2_MACRO__SPARSE_GRAPH__125__NODE_5">
            <a:extLst>
              <a:ext uri="{FF2B5EF4-FFF2-40B4-BE49-F238E27FC236}">
                <a16:creationId xmlns:a16="http://schemas.microsoft.com/office/drawing/2014/main" id="{F28EBD7D-0D85-4387-BFAC-70A7ABA10AB4}"/>
              </a:ext>
            </a:extLst>
          </p:cNvPr>
          <p:cNvSpPr>
            <a:spLocks noGrp="1"/>
          </p:cNvSpPr>
          <p:nvPr/>
        </p:nvSpPr>
        <p:spPr>
          <a:xfrm>
            <a:off x="3018758" y="125015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05" name="FIG2_MACRO__SPARSE_GRAPH__126__NODE_6">
            <a:extLst>
              <a:ext uri="{FF2B5EF4-FFF2-40B4-BE49-F238E27FC236}">
                <a16:creationId xmlns:a16="http://schemas.microsoft.com/office/drawing/2014/main" id="{1A874458-5618-490A-A6D4-06C5289B539F}"/>
              </a:ext>
            </a:extLst>
          </p:cNvPr>
          <p:cNvSpPr>
            <a:spLocks noGrp="1"/>
          </p:cNvSpPr>
          <p:nvPr/>
        </p:nvSpPr>
        <p:spPr>
          <a:xfrm>
            <a:off x="2912459" y="129587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06" name="FIG2_MACRO__127__K_LABEL">
            <a:extLst>
              <a:ext uri="{FF2B5EF4-FFF2-40B4-BE49-F238E27FC236}">
                <a16:creationId xmlns:a16="http://schemas.microsoft.com/office/drawing/2014/main" id="{22364C09-6FCC-4B31-B741-0D5C7FE2EC3C}"/>
              </a:ext>
            </a:extLst>
          </p:cNvPr>
          <p:cNvSpPr>
            <a:spLocks noGrp="1"/>
          </p:cNvSpPr>
          <p:nvPr/>
        </p:nvSpPr>
        <p:spPr>
          <a:xfrm>
            <a:off x="2495550" y="866775"/>
            <a:ext cx="381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K = 10</a:t>
            </a:r>
          </a:p>
        </p:txBody>
      </p:sp>
      <p:sp>
        <p:nvSpPr>
          <p:cNvPr id="607" name="FIG2_MACRO__128__SPARSE_LABEL">
            <a:extLst>
              <a:ext uri="{FF2B5EF4-FFF2-40B4-BE49-F238E27FC236}">
                <a16:creationId xmlns:a16="http://schemas.microsoft.com/office/drawing/2014/main" id="{D20793C6-067E-4DD6-9F01-8858430144E5}"/>
              </a:ext>
            </a:extLst>
          </p:cNvPr>
          <p:cNvSpPr>
            <a:spLocks noGrp="1"/>
          </p:cNvSpPr>
          <p:nvPr/>
        </p:nvSpPr>
        <p:spPr>
          <a:xfrm>
            <a:off x="2647950" y="1362075"/>
            <a:ext cx="87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53A399"/>
                </a:solidFill>
                <a:latin typeface="Times New Roman"/>
                <a:ea typeface="Times New Roman"/>
                <a:cs typeface="Times New Roman"/>
              </a:rPr>
              <a:t>Sparse Trend</a:t>
            </a:r>
          </a:p>
          <a:p>
            <a:pPr algn="ctr">
              <a:def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53A399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608" name="FIG2_MACRO__129__TOPK_ANNOTATION">
            <a:extLst>
              <a:ext uri="{FF2B5EF4-FFF2-40B4-BE49-F238E27FC236}">
                <a16:creationId xmlns:a16="http://schemas.microsoft.com/office/drawing/2014/main" id="{491C00AA-21A8-40BA-A62D-78C8F8D3A1FC}"/>
              </a:ext>
            </a:extLst>
          </p:cNvPr>
          <p:cNvSpPr>
            <a:spLocks noGrp="1"/>
          </p:cNvSpPr>
          <p:nvPr/>
        </p:nvSpPr>
        <p:spPr>
          <a:xfrm>
            <a:off x="1924050" y="1809750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dirty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Top-K + row</a:t>
            </a:r>
          </a:p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dirty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normalization</a:t>
            </a:r>
          </a:p>
        </p:txBody>
      </p:sp>
      <p:sp>
        <p:nvSpPr>
          <p:cNvPr id="609" name="FIG2_MACRO__130__SEMANTIC_WEIGHT">
            <a:extLst>
              <a:ext uri="{FF2B5EF4-FFF2-40B4-BE49-F238E27FC236}">
                <a16:creationId xmlns:a16="http://schemas.microsoft.com/office/drawing/2014/main" id="{D3DA6815-B618-436E-A096-5CA16B8C5BF1}"/>
              </a:ext>
            </a:extLst>
          </p:cNvPr>
          <p:cNvSpPr>
            <a:spLocks noGrp="1"/>
          </p:cNvSpPr>
          <p:nvPr/>
        </p:nvSpPr>
        <p:spPr>
          <a:xfrm>
            <a:off x="3276600" y="1000125"/>
            <a:ext cx="266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0.7</a:t>
            </a:r>
          </a:p>
        </p:txBody>
      </p:sp>
      <p:sp>
        <p:nvSpPr>
          <p:cNvPr id="610" name="FIG2_MACRO_FUSION__131__FUSION_SIGMA">
            <a:extLst>
              <a:ext uri="{FF2B5EF4-FFF2-40B4-BE49-F238E27FC236}">
                <a16:creationId xmlns:a16="http://schemas.microsoft.com/office/drawing/2014/main" id="{B63EA409-CB36-44B0-92AB-DC719A7ED55A}"/>
              </a:ext>
            </a:extLst>
          </p:cNvPr>
          <p:cNvSpPr>
            <a:spLocks noGrp="1"/>
          </p:cNvSpPr>
          <p:nvPr/>
        </p:nvSpPr>
        <p:spPr>
          <a:xfrm>
            <a:off x="3957638" y="1090613"/>
            <a:ext cx="238125" cy="238125"/>
          </a:xfrm>
          <a:prstGeom prst="ellipse">
            <a:avLst/>
          </a:prstGeom>
          <a:solidFill>
            <a:srgbClr val="FFFFFF"/>
          </a:solidFill>
          <a:ln w="13811">
            <a:solidFill>
              <a:srgbClr val="2F8F8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611" name="FIG2_MACRO_FUSION__132__FUSION_LABEL">
            <a:extLst>
              <a:ext uri="{FF2B5EF4-FFF2-40B4-BE49-F238E27FC236}">
                <a16:creationId xmlns:a16="http://schemas.microsoft.com/office/drawing/2014/main" id="{C7D30048-1B7A-4E75-9EEE-41B84BA4BF45}"/>
              </a:ext>
            </a:extLst>
          </p:cNvPr>
          <p:cNvSpPr>
            <a:spLocks noGrp="1"/>
          </p:cNvSpPr>
          <p:nvPr/>
        </p:nvSpPr>
        <p:spPr>
          <a:xfrm>
            <a:off x="3600450" y="866775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Prior fusion</a:t>
            </a:r>
          </a:p>
        </p:txBody>
      </p:sp>
      <p:sp>
        <p:nvSpPr>
          <p:cNvPr id="612" name="FIG2_MACRO__PRIOR_GRAPH__133__EDGE_1">
            <a:extLst>
              <a:ext uri="{FF2B5EF4-FFF2-40B4-BE49-F238E27FC236}">
                <a16:creationId xmlns:a16="http://schemas.microsoft.com/office/drawing/2014/main" id="{4E32C36A-3F93-4983-85C0-5BF266A59CCD}"/>
              </a:ext>
            </a:extLst>
          </p:cNvPr>
          <p:cNvSpPr>
            <a:spLocks noGrp="1"/>
          </p:cNvSpPr>
          <p:nvPr/>
        </p:nvSpPr>
        <p:spPr>
          <a:xfrm flipV="1">
            <a:off x="4341876" y="1041654"/>
            <a:ext cx="91440" cy="188023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13" name="FIG2_MACRO__PRIOR_GRAPH__134__EDGE_2">
            <a:extLst>
              <a:ext uri="{FF2B5EF4-FFF2-40B4-BE49-F238E27FC236}">
                <a16:creationId xmlns:a16="http://schemas.microsoft.com/office/drawing/2014/main" id="{1E08DE2E-1E2C-45DE-A22D-266582838F4C}"/>
              </a:ext>
            </a:extLst>
          </p:cNvPr>
          <p:cNvSpPr>
            <a:spLocks noGrp="1"/>
          </p:cNvSpPr>
          <p:nvPr/>
        </p:nvSpPr>
        <p:spPr>
          <a:xfrm flipV="1">
            <a:off x="4341876" y="1129665"/>
            <a:ext cx="192024" cy="100013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14" name="FIG2_MACRO__PRIOR_GRAPH__135__EDGE_3">
            <a:extLst>
              <a:ext uri="{FF2B5EF4-FFF2-40B4-BE49-F238E27FC236}">
                <a16:creationId xmlns:a16="http://schemas.microsoft.com/office/drawing/2014/main" id="{5A004EC6-1C70-489C-96ED-972E7DAFA453}"/>
              </a:ext>
            </a:extLst>
          </p:cNvPr>
          <p:cNvSpPr>
            <a:spLocks noGrp="1"/>
          </p:cNvSpPr>
          <p:nvPr/>
        </p:nvSpPr>
        <p:spPr>
          <a:xfrm>
            <a:off x="4433316" y="1041654"/>
            <a:ext cx="100584" cy="88011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15" name="FIG2_MACRO__PRIOR_GRAPH__136__EDGE_4">
            <a:extLst>
              <a:ext uri="{FF2B5EF4-FFF2-40B4-BE49-F238E27FC236}">
                <a16:creationId xmlns:a16="http://schemas.microsoft.com/office/drawing/2014/main" id="{AA88FDE1-E1C0-4CCF-9E43-ED065F0E9351}"/>
              </a:ext>
            </a:extLst>
          </p:cNvPr>
          <p:cNvSpPr>
            <a:spLocks noGrp="1"/>
          </p:cNvSpPr>
          <p:nvPr/>
        </p:nvSpPr>
        <p:spPr>
          <a:xfrm>
            <a:off x="4433316" y="1041654"/>
            <a:ext cx="228600" cy="16002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16" name="FIG2_MACRO__PRIOR_GRAPH__137__EDGE_5">
            <a:extLst>
              <a:ext uri="{FF2B5EF4-FFF2-40B4-BE49-F238E27FC236}">
                <a16:creationId xmlns:a16="http://schemas.microsoft.com/office/drawing/2014/main" id="{44349414-F1FC-456A-9573-F25FC6FB0A85}"/>
              </a:ext>
            </a:extLst>
          </p:cNvPr>
          <p:cNvSpPr>
            <a:spLocks noGrp="1"/>
          </p:cNvSpPr>
          <p:nvPr/>
        </p:nvSpPr>
        <p:spPr>
          <a:xfrm flipV="1">
            <a:off x="4533900" y="1057656"/>
            <a:ext cx="128016" cy="72009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17" name="FIG2_MACRO__PRIOR_GRAPH__138__EDGE_6">
            <a:extLst>
              <a:ext uri="{FF2B5EF4-FFF2-40B4-BE49-F238E27FC236}">
                <a16:creationId xmlns:a16="http://schemas.microsoft.com/office/drawing/2014/main" id="{2CE4582B-2FF0-4C59-BD66-5333AACD5A59}"/>
              </a:ext>
            </a:extLst>
          </p:cNvPr>
          <p:cNvSpPr>
            <a:spLocks noGrp="1"/>
          </p:cNvSpPr>
          <p:nvPr/>
        </p:nvSpPr>
        <p:spPr>
          <a:xfrm>
            <a:off x="4533900" y="1129665"/>
            <a:ext cx="173736" cy="168021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18" name="FIG2_MACRO__PRIOR_GRAPH__139__EDGE_7">
            <a:extLst>
              <a:ext uri="{FF2B5EF4-FFF2-40B4-BE49-F238E27FC236}">
                <a16:creationId xmlns:a16="http://schemas.microsoft.com/office/drawing/2014/main" id="{028F7DB0-874A-46EB-8851-62300D87C847}"/>
              </a:ext>
            </a:extLst>
          </p:cNvPr>
          <p:cNvSpPr>
            <a:spLocks noGrp="1"/>
          </p:cNvSpPr>
          <p:nvPr/>
        </p:nvSpPr>
        <p:spPr>
          <a:xfrm>
            <a:off x="4533900" y="1129665"/>
            <a:ext cx="9144" cy="232029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19" name="FIG2_MACRO__PRIOR_GRAPH__140__EDGE_8">
            <a:extLst>
              <a:ext uri="{FF2B5EF4-FFF2-40B4-BE49-F238E27FC236}">
                <a16:creationId xmlns:a16="http://schemas.microsoft.com/office/drawing/2014/main" id="{C0F4F802-44EA-43EF-9777-8F48F21F88F0}"/>
              </a:ext>
            </a:extLst>
          </p:cNvPr>
          <p:cNvSpPr>
            <a:spLocks noGrp="1"/>
          </p:cNvSpPr>
          <p:nvPr/>
        </p:nvSpPr>
        <p:spPr>
          <a:xfrm>
            <a:off x="4661916" y="1057656"/>
            <a:ext cx="45720" cy="240030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20" name="FIG2_MACRO__PRIOR_GRAPH__141__EDGE_9">
            <a:extLst>
              <a:ext uri="{FF2B5EF4-FFF2-40B4-BE49-F238E27FC236}">
                <a16:creationId xmlns:a16="http://schemas.microsoft.com/office/drawing/2014/main" id="{1DE47795-CB2B-431C-B5D8-77A1EA3312F3}"/>
              </a:ext>
            </a:extLst>
          </p:cNvPr>
          <p:cNvSpPr>
            <a:spLocks noGrp="1"/>
          </p:cNvSpPr>
          <p:nvPr/>
        </p:nvSpPr>
        <p:spPr>
          <a:xfrm>
            <a:off x="4543044" y="1297686"/>
            <a:ext cx="164592" cy="64008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21" name="FIG2_MACRO__PRIOR_GRAPH__142__NODE_1">
            <a:extLst>
              <a:ext uri="{FF2B5EF4-FFF2-40B4-BE49-F238E27FC236}">
                <a16:creationId xmlns:a16="http://schemas.microsoft.com/office/drawing/2014/main" id="{EBC8E566-0C6F-48EF-B783-A33AC060E1EF}"/>
              </a:ext>
            </a:extLst>
          </p:cNvPr>
          <p:cNvSpPr>
            <a:spLocks noGrp="1"/>
          </p:cNvSpPr>
          <p:nvPr/>
        </p:nvSpPr>
        <p:spPr>
          <a:xfrm>
            <a:off x="4313301" y="1201103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22" name="FIG2_MACRO__PRIOR_GRAPH__143__NODE_2">
            <a:extLst>
              <a:ext uri="{FF2B5EF4-FFF2-40B4-BE49-F238E27FC236}">
                <a16:creationId xmlns:a16="http://schemas.microsoft.com/office/drawing/2014/main" id="{5199FE7C-B371-4968-BF4A-23DDA2DD603F}"/>
              </a:ext>
            </a:extLst>
          </p:cNvPr>
          <p:cNvSpPr>
            <a:spLocks noGrp="1"/>
          </p:cNvSpPr>
          <p:nvPr/>
        </p:nvSpPr>
        <p:spPr>
          <a:xfrm>
            <a:off x="4404741" y="1013079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23" name="FIG2_MACRO__PRIOR_GRAPH__144__NODE_3">
            <a:extLst>
              <a:ext uri="{FF2B5EF4-FFF2-40B4-BE49-F238E27FC236}">
                <a16:creationId xmlns:a16="http://schemas.microsoft.com/office/drawing/2014/main" id="{6B7E5138-A02C-4E41-BF33-2DADE8ABCDA4}"/>
              </a:ext>
            </a:extLst>
          </p:cNvPr>
          <p:cNvSpPr>
            <a:spLocks noGrp="1"/>
          </p:cNvSpPr>
          <p:nvPr/>
        </p:nvSpPr>
        <p:spPr>
          <a:xfrm>
            <a:off x="4505325" y="1101090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24" name="FIG2_MACRO__PRIOR_GRAPH__145__NODE_4">
            <a:extLst>
              <a:ext uri="{FF2B5EF4-FFF2-40B4-BE49-F238E27FC236}">
                <a16:creationId xmlns:a16="http://schemas.microsoft.com/office/drawing/2014/main" id="{7278761D-8ADE-43D3-92DD-FDD2CC3A2C21}"/>
              </a:ext>
            </a:extLst>
          </p:cNvPr>
          <p:cNvSpPr>
            <a:spLocks noGrp="1"/>
          </p:cNvSpPr>
          <p:nvPr/>
        </p:nvSpPr>
        <p:spPr>
          <a:xfrm>
            <a:off x="4633341" y="1029081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25" name="FIG2_MACRO__PRIOR_GRAPH__146__NODE_5">
            <a:extLst>
              <a:ext uri="{FF2B5EF4-FFF2-40B4-BE49-F238E27FC236}">
                <a16:creationId xmlns:a16="http://schemas.microsoft.com/office/drawing/2014/main" id="{B2A6FF1B-C414-4CEB-9AF9-D7AB8FB81900}"/>
              </a:ext>
            </a:extLst>
          </p:cNvPr>
          <p:cNvSpPr>
            <a:spLocks noGrp="1"/>
          </p:cNvSpPr>
          <p:nvPr/>
        </p:nvSpPr>
        <p:spPr>
          <a:xfrm>
            <a:off x="4679061" y="1269111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26" name="FIG2_MACRO__PRIOR_GRAPH__147__NODE_6">
            <a:extLst>
              <a:ext uri="{FF2B5EF4-FFF2-40B4-BE49-F238E27FC236}">
                <a16:creationId xmlns:a16="http://schemas.microsoft.com/office/drawing/2014/main" id="{B37779F2-C07B-442D-8357-D7053912A2DB}"/>
              </a:ext>
            </a:extLst>
          </p:cNvPr>
          <p:cNvSpPr>
            <a:spLocks noGrp="1"/>
          </p:cNvSpPr>
          <p:nvPr/>
        </p:nvSpPr>
        <p:spPr>
          <a:xfrm>
            <a:off x="4514469" y="1333119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27" name="FIG2_MACRO__148__PRIOR_LABEL">
            <a:extLst>
              <a:ext uri="{FF2B5EF4-FFF2-40B4-BE49-F238E27FC236}">
                <a16:creationId xmlns:a16="http://schemas.microsoft.com/office/drawing/2014/main" id="{8EF617E3-13E2-49B8-8048-E656E4410EFC}"/>
              </a:ext>
            </a:extLst>
          </p:cNvPr>
          <p:cNvSpPr>
            <a:spLocks noGrp="1"/>
          </p:cNvSpPr>
          <p:nvPr/>
        </p:nvSpPr>
        <p:spPr>
          <a:xfrm>
            <a:off x="4238625" y="143827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Macro Prior</a:t>
            </a:r>
          </a:p>
        </p:txBody>
      </p:sp>
      <p:sp>
        <p:nvSpPr>
          <p:cNvPr id="628" name="FIG2_MACRO_ADAPTIVE__149__EMBED_HEADING">
            <a:extLst>
              <a:ext uri="{FF2B5EF4-FFF2-40B4-BE49-F238E27FC236}">
                <a16:creationId xmlns:a16="http://schemas.microsoft.com/office/drawing/2014/main" id="{5A5B4B4E-3E70-4A67-A2BD-214652784C10}"/>
              </a:ext>
            </a:extLst>
          </p:cNvPr>
          <p:cNvSpPr>
            <a:spLocks noGrp="1"/>
          </p:cNvSpPr>
          <p:nvPr/>
        </p:nvSpPr>
        <p:spPr>
          <a:xfrm>
            <a:off x="4572000" y="847725"/>
            <a:ext cx="16002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Learnable Node Embeddings</a:t>
            </a:r>
          </a:p>
        </p:txBody>
      </p:sp>
      <p:sp>
        <p:nvSpPr>
          <p:cNvPr id="629" name="FIG2_MACRO_ADAPTIVE__150__E1_LABEL">
            <a:extLst>
              <a:ext uri="{FF2B5EF4-FFF2-40B4-BE49-F238E27FC236}">
                <a16:creationId xmlns:a16="http://schemas.microsoft.com/office/drawing/2014/main" id="{D8864958-E8C9-47B7-B4A2-63F55F075BB4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2476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E₁ᵐ</a:t>
            </a:r>
          </a:p>
        </p:txBody>
      </p:sp>
      <p:sp>
        <p:nvSpPr>
          <p:cNvPr id="630" name="FIG2_MACRO_ADAPTIVE__151__E2_LABEL">
            <a:extLst>
              <a:ext uri="{FF2B5EF4-FFF2-40B4-BE49-F238E27FC236}">
                <a16:creationId xmlns:a16="http://schemas.microsoft.com/office/drawing/2014/main" id="{4C6EAF7D-EE82-451A-9105-00570AA4C89E}"/>
              </a:ext>
            </a:extLst>
          </p:cNvPr>
          <p:cNvSpPr>
            <a:spLocks noGrp="1"/>
          </p:cNvSpPr>
          <p:nvPr/>
        </p:nvSpPr>
        <p:spPr>
          <a:xfrm>
            <a:off x="4876800" y="1104900"/>
            <a:ext cx="2476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E₂ᵐ</a:t>
            </a:r>
          </a:p>
        </p:txBody>
      </p:sp>
      <p:sp>
        <p:nvSpPr>
          <p:cNvPr id="631" name="FIG2_MACRO_ADAPTIVE__152__EMBED_1_1">
            <a:extLst>
              <a:ext uri="{FF2B5EF4-FFF2-40B4-BE49-F238E27FC236}">
                <a16:creationId xmlns:a16="http://schemas.microsoft.com/office/drawing/2014/main" id="{B14DC8D6-B103-4EA3-8929-03C4CDA60B3F}"/>
              </a:ext>
            </a:extLst>
          </p:cNvPr>
          <p:cNvSpPr>
            <a:spLocks noGrp="1"/>
          </p:cNvSpPr>
          <p:nvPr/>
        </p:nvSpPr>
        <p:spPr>
          <a:xfrm>
            <a:off x="5143500" y="1023938"/>
            <a:ext cx="52388" cy="61913"/>
          </a:xfrm>
          <a:prstGeom prst="rect">
            <a:avLst/>
          </a:prstGeom>
          <a:solidFill>
            <a:srgbClr val="2F8F83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32" name="FIG2_MACRO_ADAPTIVE__153__EMBED_1_2">
            <a:extLst>
              <a:ext uri="{FF2B5EF4-FFF2-40B4-BE49-F238E27FC236}">
                <a16:creationId xmlns:a16="http://schemas.microsoft.com/office/drawing/2014/main" id="{B847925B-A2FD-4769-AD6C-67E3AC02B7D5}"/>
              </a:ext>
            </a:extLst>
          </p:cNvPr>
          <p:cNvSpPr>
            <a:spLocks noGrp="1"/>
          </p:cNvSpPr>
          <p:nvPr/>
        </p:nvSpPr>
        <p:spPr>
          <a:xfrm>
            <a:off x="5210175" y="1023938"/>
            <a:ext cx="52388" cy="61913"/>
          </a:xfrm>
          <a:prstGeom prst="rect">
            <a:avLst/>
          </a:prstGeom>
          <a:solidFill>
            <a:srgbClr val="FFFFFF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33" name="FIG2_MACRO_ADAPTIVE__154__EMBED_1_3">
            <a:extLst>
              <a:ext uri="{FF2B5EF4-FFF2-40B4-BE49-F238E27FC236}">
                <a16:creationId xmlns:a16="http://schemas.microsoft.com/office/drawing/2014/main" id="{D0CAC361-8232-4C95-8750-620489C8496B}"/>
              </a:ext>
            </a:extLst>
          </p:cNvPr>
          <p:cNvSpPr>
            <a:spLocks noGrp="1"/>
          </p:cNvSpPr>
          <p:nvPr/>
        </p:nvSpPr>
        <p:spPr>
          <a:xfrm>
            <a:off x="5276850" y="1023938"/>
            <a:ext cx="52388" cy="61913"/>
          </a:xfrm>
          <a:prstGeom prst="rect">
            <a:avLst/>
          </a:prstGeom>
          <a:solidFill>
            <a:srgbClr val="2F8F83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34" name="FIG2_MACRO_ADAPTIVE__155__EMBED_1_4">
            <a:extLst>
              <a:ext uri="{FF2B5EF4-FFF2-40B4-BE49-F238E27FC236}">
                <a16:creationId xmlns:a16="http://schemas.microsoft.com/office/drawing/2014/main" id="{74210E42-C435-4340-885D-088CBC05693E}"/>
              </a:ext>
            </a:extLst>
          </p:cNvPr>
          <p:cNvSpPr>
            <a:spLocks noGrp="1"/>
          </p:cNvSpPr>
          <p:nvPr/>
        </p:nvSpPr>
        <p:spPr>
          <a:xfrm>
            <a:off x="5343525" y="1023938"/>
            <a:ext cx="52388" cy="61913"/>
          </a:xfrm>
          <a:prstGeom prst="rect">
            <a:avLst/>
          </a:prstGeom>
          <a:solidFill>
            <a:srgbClr val="FFFFFF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35" name="FIG2_MACRO_ADAPTIVE__156__EMBED_1_5">
            <a:extLst>
              <a:ext uri="{FF2B5EF4-FFF2-40B4-BE49-F238E27FC236}">
                <a16:creationId xmlns:a16="http://schemas.microsoft.com/office/drawing/2014/main" id="{EE300905-EA44-4EB8-98DC-7B34C8FDF085}"/>
              </a:ext>
            </a:extLst>
          </p:cNvPr>
          <p:cNvSpPr>
            <a:spLocks noGrp="1"/>
          </p:cNvSpPr>
          <p:nvPr/>
        </p:nvSpPr>
        <p:spPr>
          <a:xfrm>
            <a:off x="5410200" y="1023938"/>
            <a:ext cx="52388" cy="61913"/>
          </a:xfrm>
          <a:prstGeom prst="rect">
            <a:avLst/>
          </a:prstGeom>
          <a:solidFill>
            <a:srgbClr val="2F8F83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36" name="FIG2_MACRO_ADAPTIVE__157__EMBED_2_1">
            <a:extLst>
              <a:ext uri="{FF2B5EF4-FFF2-40B4-BE49-F238E27FC236}">
                <a16:creationId xmlns:a16="http://schemas.microsoft.com/office/drawing/2014/main" id="{B7816552-D856-4AD5-A0D9-1F51E4B20C7C}"/>
              </a:ext>
            </a:extLst>
          </p:cNvPr>
          <p:cNvSpPr>
            <a:spLocks noGrp="1"/>
          </p:cNvSpPr>
          <p:nvPr/>
        </p:nvSpPr>
        <p:spPr>
          <a:xfrm>
            <a:off x="5143500" y="1119188"/>
            <a:ext cx="52388" cy="61913"/>
          </a:xfrm>
          <a:prstGeom prst="rect">
            <a:avLst/>
          </a:prstGeom>
          <a:solidFill>
            <a:srgbClr val="2F8F83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37" name="FIG2_MACRO_ADAPTIVE__158__EMBED_2_2">
            <a:extLst>
              <a:ext uri="{FF2B5EF4-FFF2-40B4-BE49-F238E27FC236}">
                <a16:creationId xmlns:a16="http://schemas.microsoft.com/office/drawing/2014/main" id="{16459A66-1829-4B66-B402-6E7652BB425B}"/>
              </a:ext>
            </a:extLst>
          </p:cNvPr>
          <p:cNvSpPr>
            <a:spLocks noGrp="1"/>
          </p:cNvSpPr>
          <p:nvPr/>
        </p:nvSpPr>
        <p:spPr>
          <a:xfrm>
            <a:off x="5210175" y="1119188"/>
            <a:ext cx="52388" cy="61913"/>
          </a:xfrm>
          <a:prstGeom prst="rect">
            <a:avLst/>
          </a:prstGeom>
          <a:solidFill>
            <a:srgbClr val="FFFFFF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38" name="FIG2_MACRO_ADAPTIVE__159__EMBED_2_3">
            <a:extLst>
              <a:ext uri="{FF2B5EF4-FFF2-40B4-BE49-F238E27FC236}">
                <a16:creationId xmlns:a16="http://schemas.microsoft.com/office/drawing/2014/main" id="{80A8A84B-B61F-4C5F-91EC-83A16DC30AB4}"/>
              </a:ext>
            </a:extLst>
          </p:cNvPr>
          <p:cNvSpPr>
            <a:spLocks noGrp="1"/>
          </p:cNvSpPr>
          <p:nvPr/>
        </p:nvSpPr>
        <p:spPr>
          <a:xfrm>
            <a:off x="5276850" y="1119188"/>
            <a:ext cx="52388" cy="61913"/>
          </a:xfrm>
          <a:prstGeom prst="rect">
            <a:avLst/>
          </a:prstGeom>
          <a:solidFill>
            <a:srgbClr val="2F8F83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39" name="FIG2_MACRO_ADAPTIVE__160__EMBED_2_4">
            <a:extLst>
              <a:ext uri="{FF2B5EF4-FFF2-40B4-BE49-F238E27FC236}">
                <a16:creationId xmlns:a16="http://schemas.microsoft.com/office/drawing/2014/main" id="{569E21D7-0B04-4EF7-8724-E894E02291A4}"/>
              </a:ext>
            </a:extLst>
          </p:cNvPr>
          <p:cNvSpPr>
            <a:spLocks noGrp="1"/>
          </p:cNvSpPr>
          <p:nvPr/>
        </p:nvSpPr>
        <p:spPr>
          <a:xfrm>
            <a:off x="5343525" y="1119188"/>
            <a:ext cx="52388" cy="61913"/>
          </a:xfrm>
          <a:prstGeom prst="rect">
            <a:avLst/>
          </a:prstGeom>
          <a:solidFill>
            <a:srgbClr val="FFFFFF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40" name="FIG2_MACRO_ADAPTIVE__161__EMBED_2_5">
            <a:extLst>
              <a:ext uri="{FF2B5EF4-FFF2-40B4-BE49-F238E27FC236}">
                <a16:creationId xmlns:a16="http://schemas.microsoft.com/office/drawing/2014/main" id="{07D83A0C-0C34-49B2-B44B-348EFDC692B2}"/>
              </a:ext>
            </a:extLst>
          </p:cNvPr>
          <p:cNvSpPr>
            <a:spLocks noGrp="1"/>
          </p:cNvSpPr>
          <p:nvPr/>
        </p:nvSpPr>
        <p:spPr>
          <a:xfrm>
            <a:off x="5410200" y="1119188"/>
            <a:ext cx="52388" cy="61913"/>
          </a:xfrm>
          <a:prstGeom prst="rect">
            <a:avLst/>
          </a:prstGeom>
          <a:solidFill>
            <a:srgbClr val="2F8F83"/>
          </a:solidFill>
          <a:ln w="7620">
            <a:solidFill>
              <a:srgbClr val="2F8F83"/>
            </a:solidFill>
            <a:prstDash val="solid"/>
          </a:ln>
        </p:spPr>
      </p:sp>
      <p:sp>
        <p:nvSpPr>
          <p:cNvPr id="641" name="FIG2_MACRO_ADAPTIVE__162__DE">
            <a:extLst>
              <a:ext uri="{FF2B5EF4-FFF2-40B4-BE49-F238E27FC236}">
                <a16:creationId xmlns:a16="http://schemas.microsoft.com/office/drawing/2014/main" id="{2C5798B5-B67A-4EAF-B3EC-EBF9B4E00FAD}"/>
              </a:ext>
            </a:extLst>
          </p:cNvPr>
          <p:cNvSpPr>
            <a:spLocks noGrp="1"/>
          </p:cNvSpPr>
          <p:nvPr/>
        </p:nvSpPr>
        <p:spPr>
          <a:xfrm>
            <a:off x="5505450" y="1038225"/>
            <a:ext cx="4381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dₑ = 10</a:t>
            </a:r>
          </a:p>
        </p:txBody>
      </p:sp>
      <p:sp>
        <p:nvSpPr>
          <p:cNvPr id="642" name="FIG2_MACRO_ADAPTIVE__SCORE_GRAPH__163__EDGE_1">
            <a:extLst>
              <a:ext uri="{FF2B5EF4-FFF2-40B4-BE49-F238E27FC236}">
                <a16:creationId xmlns:a16="http://schemas.microsoft.com/office/drawing/2014/main" id="{20560FBE-4C82-44F8-8894-96F502BF3ECE}"/>
              </a:ext>
            </a:extLst>
          </p:cNvPr>
          <p:cNvSpPr>
            <a:spLocks noGrp="1"/>
          </p:cNvSpPr>
          <p:nvPr/>
        </p:nvSpPr>
        <p:spPr>
          <a:xfrm flipV="1">
            <a:off x="5008626" y="1389507"/>
            <a:ext cx="91440" cy="161163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43" name="FIG2_MACRO_ADAPTIVE__SCORE_GRAPH__164__EDGE_2">
            <a:extLst>
              <a:ext uri="{FF2B5EF4-FFF2-40B4-BE49-F238E27FC236}">
                <a16:creationId xmlns:a16="http://schemas.microsoft.com/office/drawing/2014/main" id="{9C389B1F-1E2C-4070-B631-E79DAC8AF796}"/>
              </a:ext>
            </a:extLst>
          </p:cNvPr>
          <p:cNvSpPr>
            <a:spLocks noGrp="1"/>
          </p:cNvSpPr>
          <p:nvPr/>
        </p:nvSpPr>
        <p:spPr>
          <a:xfrm flipV="1">
            <a:off x="5008626" y="1464945"/>
            <a:ext cx="192024" cy="85725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44" name="FIG2_MACRO_ADAPTIVE__SCORE_GRAPH__165__EDGE_3">
            <a:extLst>
              <a:ext uri="{FF2B5EF4-FFF2-40B4-BE49-F238E27FC236}">
                <a16:creationId xmlns:a16="http://schemas.microsoft.com/office/drawing/2014/main" id="{6DBE98BD-63C9-4D09-B7FC-46C75234AA4C}"/>
              </a:ext>
            </a:extLst>
          </p:cNvPr>
          <p:cNvSpPr>
            <a:spLocks noGrp="1"/>
          </p:cNvSpPr>
          <p:nvPr/>
        </p:nvSpPr>
        <p:spPr>
          <a:xfrm>
            <a:off x="5100066" y="1389507"/>
            <a:ext cx="100584" cy="75438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45" name="FIG2_MACRO_ADAPTIVE__SCORE_GRAPH__166__EDGE_4">
            <a:extLst>
              <a:ext uri="{FF2B5EF4-FFF2-40B4-BE49-F238E27FC236}">
                <a16:creationId xmlns:a16="http://schemas.microsoft.com/office/drawing/2014/main" id="{46035263-F6A4-4B3F-9BA9-041962A92CAB}"/>
              </a:ext>
            </a:extLst>
          </p:cNvPr>
          <p:cNvSpPr>
            <a:spLocks noGrp="1"/>
          </p:cNvSpPr>
          <p:nvPr/>
        </p:nvSpPr>
        <p:spPr>
          <a:xfrm>
            <a:off x="5100066" y="1389507"/>
            <a:ext cx="228600" cy="13716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46" name="FIG2_MACRO_ADAPTIVE__SCORE_GRAPH__167__EDGE_5">
            <a:extLst>
              <a:ext uri="{FF2B5EF4-FFF2-40B4-BE49-F238E27FC236}">
                <a16:creationId xmlns:a16="http://schemas.microsoft.com/office/drawing/2014/main" id="{5E664BDE-CFB0-4986-B628-074AD85EDDA4}"/>
              </a:ext>
            </a:extLst>
          </p:cNvPr>
          <p:cNvSpPr>
            <a:spLocks noGrp="1"/>
          </p:cNvSpPr>
          <p:nvPr/>
        </p:nvSpPr>
        <p:spPr>
          <a:xfrm flipV="1">
            <a:off x="5200650" y="1403223"/>
            <a:ext cx="128016" cy="61722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47" name="FIG2_MACRO_ADAPTIVE__SCORE_GRAPH__168__EDGE_6">
            <a:extLst>
              <a:ext uri="{FF2B5EF4-FFF2-40B4-BE49-F238E27FC236}">
                <a16:creationId xmlns:a16="http://schemas.microsoft.com/office/drawing/2014/main" id="{EB087264-6390-4995-946D-F81B2ED879CD}"/>
              </a:ext>
            </a:extLst>
          </p:cNvPr>
          <p:cNvSpPr>
            <a:spLocks noGrp="1"/>
          </p:cNvSpPr>
          <p:nvPr/>
        </p:nvSpPr>
        <p:spPr>
          <a:xfrm>
            <a:off x="5200650" y="1464945"/>
            <a:ext cx="173736" cy="144018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48" name="FIG2_MACRO_ADAPTIVE__SCORE_GRAPH__169__EDGE_7">
            <a:extLst>
              <a:ext uri="{FF2B5EF4-FFF2-40B4-BE49-F238E27FC236}">
                <a16:creationId xmlns:a16="http://schemas.microsoft.com/office/drawing/2014/main" id="{16292D62-CC75-4364-889B-DA04CA1629B1}"/>
              </a:ext>
            </a:extLst>
          </p:cNvPr>
          <p:cNvSpPr>
            <a:spLocks noGrp="1"/>
          </p:cNvSpPr>
          <p:nvPr/>
        </p:nvSpPr>
        <p:spPr>
          <a:xfrm>
            <a:off x="5200650" y="1464945"/>
            <a:ext cx="9144" cy="198882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49" name="FIG2_MACRO_ADAPTIVE__SCORE_GRAPH__170__EDGE_8">
            <a:extLst>
              <a:ext uri="{FF2B5EF4-FFF2-40B4-BE49-F238E27FC236}">
                <a16:creationId xmlns:a16="http://schemas.microsoft.com/office/drawing/2014/main" id="{BFFF708D-7465-4B16-9A9D-AEE5629BD000}"/>
              </a:ext>
            </a:extLst>
          </p:cNvPr>
          <p:cNvSpPr>
            <a:spLocks noGrp="1"/>
          </p:cNvSpPr>
          <p:nvPr/>
        </p:nvSpPr>
        <p:spPr>
          <a:xfrm>
            <a:off x="5328666" y="1403223"/>
            <a:ext cx="45720" cy="205740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50" name="FIG2_MACRO_ADAPTIVE__SCORE_GRAPH__171__EDGE_9">
            <a:extLst>
              <a:ext uri="{FF2B5EF4-FFF2-40B4-BE49-F238E27FC236}">
                <a16:creationId xmlns:a16="http://schemas.microsoft.com/office/drawing/2014/main" id="{773C3CC4-2960-4DC1-B7CB-10CDBEB9F5E7}"/>
              </a:ext>
            </a:extLst>
          </p:cNvPr>
          <p:cNvSpPr>
            <a:spLocks noGrp="1"/>
          </p:cNvSpPr>
          <p:nvPr/>
        </p:nvSpPr>
        <p:spPr>
          <a:xfrm>
            <a:off x="5209794" y="1608963"/>
            <a:ext cx="164592" cy="54864"/>
          </a:xfrm>
          <a:prstGeom prst="line">
            <a:avLst/>
          </a:prstGeom>
          <a:noFill/>
          <a:ln w="10001">
            <a:solidFill>
              <a:srgbClr val="2F8F83"/>
            </a:solidFill>
            <a:prstDash val="solid"/>
          </a:ln>
        </p:spPr>
      </p:sp>
      <p:sp>
        <p:nvSpPr>
          <p:cNvPr id="651" name="FIG2_MACRO_ADAPTIVE__SCORE_GRAPH__172__EDGE_10">
            <a:extLst>
              <a:ext uri="{FF2B5EF4-FFF2-40B4-BE49-F238E27FC236}">
                <a16:creationId xmlns:a16="http://schemas.microsoft.com/office/drawing/2014/main" id="{B8DCF77B-2397-49AA-B9E7-3AF18F8A6B64}"/>
              </a:ext>
            </a:extLst>
          </p:cNvPr>
          <p:cNvSpPr>
            <a:spLocks noGrp="1"/>
          </p:cNvSpPr>
          <p:nvPr/>
        </p:nvSpPr>
        <p:spPr>
          <a:xfrm>
            <a:off x="5008626" y="1550670"/>
            <a:ext cx="365760" cy="58293"/>
          </a:xfrm>
          <a:prstGeom prst="line">
            <a:avLst/>
          </a:prstGeom>
          <a:noFill/>
          <a:ln w="10001">
            <a:solidFill>
              <a:srgbClr val="C8D0D5"/>
            </a:solidFill>
            <a:prstDash val="dash"/>
          </a:ln>
        </p:spPr>
      </p:sp>
      <p:sp>
        <p:nvSpPr>
          <p:cNvPr id="652" name="FIG2_MACRO_ADAPTIVE__SCORE_GRAPH__173__EDGE_11">
            <a:extLst>
              <a:ext uri="{FF2B5EF4-FFF2-40B4-BE49-F238E27FC236}">
                <a16:creationId xmlns:a16="http://schemas.microsoft.com/office/drawing/2014/main" id="{8057C554-AB59-4CFC-AC0F-ABEB9DA3209D}"/>
              </a:ext>
            </a:extLst>
          </p:cNvPr>
          <p:cNvSpPr>
            <a:spLocks noGrp="1"/>
          </p:cNvSpPr>
          <p:nvPr/>
        </p:nvSpPr>
        <p:spPr>
          <a:xfrm>
            <a:off x="5100066" y="1389507"/>
            <a:ext cx="109728" cy="274320"/>
          </a:xfrm>
          <a:prstGeom prst="line">
            <a:avLst/>
          </a:prstGeom>
          <a:noFill/>
          <a:ln w="10001">
            <a:solidFill>
              <a:srgbClr val="C8D0D5"/>
            </a:solidFill>
            <a:prstDash val="dash"/>
          </a:ln>
        </p:spPr>
      </p:sp>
      <p:sp>
        <p:nvSpPr>
          <p:cNvPr id="653" name="FIG2_MACRO_ADAPTIVE__SCORE_GRAPH__174__NODE_1">
            <a:extLst>
              <a:ext uri="{FF2B5EF4-FFF2-40B4-BE49-F238E27FC236}">
                <a16:creationId xmlns:a16="http://schemas.microsoft.com/office/drawing/2014/main" id="{156DC8B7-F12B-4DE2-9096-4E4A860D5ED3}"/>
              </a:ext>
            </a:extLst>
          </p:cNvPr>
          <p:cNvSpPr>
            <a:spLocks noGrp="1"/>
          </p:cNvSpPr>
          <p:nvPr/>
        </p:nvSpPr>
        <p:spPr>
          <a:xfrm>
            <a:off x="4982909" y="1524953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54" name="FIG2_MACRO_ADAPTIVE__SCORE_GRAPH__175__NODE_2">
            <a:extLst>
              <a:ext uri="{FF2B5EF4-FFF2-40B4-BE49-F238E27FC236}">
                <a16:creationId xmlns:a16="http://schemas.microsoft.com/office/drawing/2014/main" id="{432502FF-160B-4F75-904E-D9E2C13C2D11}"/>
              </a:ext>
            </a:extLst>
          </p:cNvPr>
          <p:cNvSpPr>
            <a:spLocks noGrp="1"/>
          </p:cNvSpPr>
          <p:nvPr/>
        </p:nvSpPr>
        <p:spPr>
          <a:xfrm>
            <a:off x="5074349" y="1363790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55" name="FIG2_MACRO_ADAPTIVE__SCORE_GRAPH__176__NODE_3">
            <a:extLst>
              <a:ext uri="{FF2B5EF4-FFF2-40B4-BE49-F238E27FC236}">
                <a16:creationId xmlns:a16="http://schemas.microsoft.com/office/drawing/2014/main" id="{0EEFF50B-1CF7-4B99-A845-A78AF6C0E6D0}"/>
              </a:ext>
            </a:extLst>
          </p:cNvPr>
          <p:cNvSpPr>
            <a:spLocks noGrp="1"/>
          </p:cNvSpPr>
          <p:nvPr/>
        </p:nvSpPr>
        <p:spPr>
          <a:xfrm>
            <a:off x="5174933" y="1439228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56" name="FIG2_MACRO_ADAPTIVE__SCORE_GRAPH__177__NODE_4">
            <a:extLst>
              <a:ext uri="{FF2B5EF4-FFF2-40B4-BE49-F238E27FC236}">
                <a16:creationId xmlns:a16="http://schemas.microsoft.com/office/drawing/2014/main" id="{A38E81F7-64D4-4460-AE52-AD178DEFE293}"/>
              </a:ext>
            </a:extLst>
          </p:cNvPr>
          <p:cNvSpPr>
            <a:spLocks noGrp="1"/>
          </p:cNvSpPr>
          <p:nvPr/>
        </p:nvSpPr>
        <p:spPr>
          <a:xfrm>
            <a:off x="5302949" y="1377506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57" name="FIG2_MACRO_ADAPTIVE__SCORE_GRAPH__178__NODE_5">
            <a:extLst>
              <a:ext uri="{FF2B5EF4-FFF2-40B4-BE49-F238E27FC236}">
                <a16:creationId xmlns:a16="http://schemas.microsoft.com/office/drawing/2014/main" id="{6D3461F5-DF76-462E-A8E5-B8A1DF115494}"/>
              </a:ext>
            </a:extLst>
          </p:cNvPr>
          <p:cNvSpPr>
            <a:spLocks noGrp="1"/>
          </p:cNvSpPr>
          <p:nvPr/>
        </p:nvSpPr>
        <p:spPr>
          <a:xfrm>
            <a:off x="5348669" y="1583246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58" name="FIG2_MACRO_ADAPTIVE__SCORE_GRAPH__179__NODE_6">
            <a:extLst>
              <a:ext uri="{FF2B5EF4-FFF2-40B4-BE49-F238E27FC236}">
                <a16:creationId xmlns:a16="http://schemas.microsoft.com/office/drawing/2014/main" id="{B3B839C9-AD7A-4BA6-BF5F-B6BA3E0DF2F1}"/>
              </a:ext>
            </a:extLst>
          </p:cNvPr>
          <p:cNvSpPr>
            <a:spLocks noGrp="1"/>
          </p:cNvSpPr>
          <p:nvPr/>
        </p:nvSpPr>
        <p:spPr>
          <a:xfrm>
            <a:off x="5184077" y="1638110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59" name="FIG2_MACRO_ADAPTIVE__180__UNSUPPORTED_X_A">
            <a:extLst>
              <a:ext uri="{FF2B5EF4-FFF2-40B4-BE49-F238E27FC236}">
                <a16:creationId xmlns:a16="http://schemas.microsoft.com/office/drawing/2014/main" id="{92C4E072-392E-4E1F-989C-BABC04523E67}"/>
              </a:ext>
            </a:extLst>
          </p:cNvPr>
          <p:cNvSpPr>
            <a:spLocks noGrp="1"/>
          </p:cNvSpPr>
          <p:nvPr/>
        </p:nvSpPr>
        <p:spPr>
          <a:xfrm>
            <a:off x="5391150" y="1381125"/>
            <a:ext cx="76200" cy="76200"/>
          </a:xfrm>
          <a:prstGeom prst="line">
            <a:avLst/>
          </a:prstGeom>
          <a:noFill/>
          <a:ln w="11430">
            <a:solidFill>
              <a:srgbClr val="B76F68"/>
            </a:solidFill>
            <a:prstDash val="solid"/>
          </a:ln>
        </p:spPr>
      </p:sp>
      <p:sp>
        <p:nvSpPr>
          <p:cNvPr id="660" name="FIG2_MACRO_ADAPTIVE__181__UNSUPPORTED_X_B">
            <a:extLst>
              <a:ext uri="{FF2B5EF4-FFF2-40B4-BE49-F238E27FC236}">
                <a16:creationId xmlns:a16="http://schemas.microsoft.com/office/drawing/2014/main" id="{829FFB06-6C1B-44B2-A3E4-D2F9FCAC7EEB}"/>
              </a:ext>
            </a:extLst>
          </p:cNvPr>
          <p:cNvSpPr>
            <a:spLocks noGrp="1"/>
          </p:cNvSpPr>
          <p:nvPr/>
        </p:nvSpPr>
        <p:spPr>
          <a:xfrm>
            <a:off x="5391150" y="1381125"/>
            <a:ext cx="76200" cy="76200"/>
          </a:xfrm>
          <a:prstGeom prst="line">
            <a:avLst/>
          </a:prstGeom>
          <a:noFill/>
          <a:ln w="11430">
            <a:solidFill>
              <a:srgbClr val="B76F68"/>
            </a:solidFill>
            <a:prstDash val="solid"/>
          </a:ln>
        </p:spPr>
      </p:sp>
      <p:sp>
        <p:nvSpPr>
          <p:cNvPr id="661" name="FIG2_MACRO_ADAPTIVE__182__SCORE_LABEL">
            <a:extLst>
              <a:ext uri="{FF2B5EF4-FFF2-40B4-BE49-F238E27FC236}">
                <a16:creationId xmlns:a16="http://schemas.microsoft.com/office/drawing/2014/main" id="{56578D1B-BF1C-47AB-9119-0B009CC79D3B}"/>
              </a:ext>
            </a:extLst>
          </p:cNvPr>
          <p:cNvSpPr>
            <a:spLocks noGrp="1"/>
          </p:cNvSpPr>
          <p:nvPr/>
        </p:nvSpPr>
        <p:spPr>
          <a:xfrm>
            <a:off x="4476750" y="1971675"/>
            <a:ext cx="15716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Adaptive Edge Importance</a:t>
            </a:r>
          </a:p>
        </p:txBody>
      </p:sp>
      <p:sp>
        <p:nvSpPr>
          <p:cNvPr id="662" name="FIG2_MACRO_ADAPTIVE__183__ODOT">
            <a:extLst>
              <a:ext uri="{FF2B5EF4-FFF2-40B4-BE49-F238E27FC236}">
                <a16:creationId xmlns:a16="http://schemas.microsoft.com/office/drawing/2014/main" id="{D0C6D3E7-A517-448F-8262-B5CEF436CF47}"/>
              </a:ext>
            </a:extLst>
          </p:cNvPr>
          <p:cNvSpPr>
            <a:spLocks noGrp="1"/>
          </p:cNvSpPr>
          <p:nvPr/>
        </p:nvSpPr>
        <p:spPr>
          <a:xfrm>
            <a:off x="5900738" y="1090613"/>
            <a:ext cx="238125" cy="238125"/>
          </a:xfrm>
          <a:prstGeom prst="ellipse">
            <a:avLst/>
          </a:prstGeom>
          <a:solidFill>
            <a:srgbClr val="FFFFFF"/>
          </a:solidFill>
          <a:ln w="13811">
            <a:solidFill>
              <a:srgbClr val="8065A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rPr>
              <a:t>⊙</a:t>
            </a:r>
          </a:p>
        </p:txBody>
      </p:sp>
      <p:sp>
        <p:nvSpPr>
          <p:cNvPr id="663" name="FIG2_MACRO_ADAPTIVE__184__ODOT_LABEL">
            <a:extLst>
              <a:ext uri="{FF2B5EF4-FFF2-40B4-BE49-F238E27FC236}">
                <a16:creationId xmlns:a16="http://schemas.microsoft.com/office/drawing/2014/main" id="{5C27E8FA-D153-4537-81EB-29841E807E4B}"/>
              </a:ext>
            </a:extLst>
          </p:cNvPr>
          <p:cNvSpPr>
            <a:spLocks noGrp="1"/>
          </p:cNvSpPr>
          <p:nvPr/>
        </p:nvSpPr>
        <p:spPr>
          <a:xfrm>
            <a:off x="5638800" y="1400175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rPr>
              <a:t>Prior-Constrained</a:t>
            </a:r>
          </a:p>
          <a:p>
            <a:pPr algn="ctr">
              <a:defRPr sz="12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rPr>
              <a:t>Re-weighting</a:t>
            </a:r>
          </a:p>
        </p:txBody>
      </p:sp>
      <p:sp>
        <p:nvSpPr>
          <p:cNvPr id="664" name="FIG2_MACRO_ADAPTIVE__185__ROW_NORM">
            <a:extLst>
              <a:ext uri="{FF2B5EF4-FFF2-40B4-BE49-F238E27FC236}">
                <a16:creationId xmlns:a16="http://schemas.microsoft.com/office/drawing/2014/main" id="{5D8818EB-B369-4E42-8AF1-9DF4CBDAF772}"/>
              </a:ext>
            </a:extLst>
          </p:cNvPr>
          <p:cNvSpPr>
            <a:spLocks noGrp="1"/>
          </p:cNvSpPr>
          <p:nvPr/>
        </p:nvSpPr>
        <p:spPr>
          <a:xfrm>
            <a:off x="6191250" y="952500"/>
            <a:ext cx="1085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665" name="FIG2_MACRO_ADAPTIVE__EFFECTIVE_GRAPH__186__EDGE_1">
            <a:extLst>
              <a:ext uri="{FF2B5EF4-FFF2-40B4-BE49-F238E27FC236}">
                <a16:creationId xmlns:a16="http://schemas.microsoft.com/office/drawing/2014/main" id="{43BAFD90-6D99-4C17-9B0F-6C7ACAC9EF43}"/>
              </a:ext>
            </a:extLst>
          </p:cNvPr>
          <p:cNvSpPr>
            <a:spLocks noGrp="1"/>
          </p:cNvSpPr>
          <p:nvPr/>
        </p:nvSpPr>
        <p:spPr>
          <a:xfrm flipV="1">
            <a:off x="7338822" y="1017651"/>
            <a:ext cx="106680" cy="214884"/>
          </a:xfrm>
          <a:prstGeom prst="line">
            <a:avLst/>
          </a:prstGeom>
          <a:noFill/>
          <a:ln w="21908">
            <a:solidFill>
              <a:srgbClr val="2F8F83"/>
            </a:solidFill>
            <a:prstDash val="solid"/>
          </a:ln>
        </p:spPr>
      </p:sp>
      <p:sp>
        <p:nvSpPr>
          <p:cNvPr id="666" name="FIG2_MACRO_ADAPTIVE__EFFECTIVE_GRAPH__187__EDGE_2">
            <a:extLst>
              <a:ext uri="{FF2B5EF4-FFF2-40B4-BE49-F238E27FC236}">
                <a16:creationId xmlns:a16="http://schemas.microsoft.com/office/drawing/2014/main" id="{EBE6377F-0AE3-4B5A-9B95-E9F8746E5FFC}"/>
              </a:ext>
            </a:extLst>
          </p:cNvPr>
          <p:cNvSpPr>
            <a:spLocks noGrp="1"/>
          </p:cNvSpPr>
          <p:nvPr/>
        </p:nvSpPr>
        <p:spPr>
          <a:xfrm flipV="1">
            <a:off x="7338822" y="1118235"/>
            <a:ext cx="224028" cy="114300"/>
          </a:xfrm>
          <a:prstGeom prst="line">
            <a:avLst/>
          </a:prstGeom>
          <a:noFill/>
          <a:ln w="11430">
            <a:solidFill>
              <a:srgbClr val="2F8F83"/>
            </a:solidFill>
            <a:prstDash val="solid"/>
          </a:ln>
        </p:spPr>
      </p:sp>
      <p:sp>
        <p:nvSpPr>
          <p:cNvPr id="667" name="FIG2_MACRO_ADAPTIVE__EFFECTIVE_GRAPH__188__EDGE_3">
            <a:extLst>
              <a:ext uri="{FF2B5EF4-FFF2-40B4-BE49-F238E27FC236}">
                <a16:creationId xmlns:a16="http://schemas.microsoft.com/office/drawing/2014/main" id="{27F2CA2F-4894-4E22-9C43-EA75FBC8875F}"/>
              </a:ext>
            </a:extLst>
          </p:cNvPr>
          <p:cNvSpPr>
            <a:spLocks noGrp="1"/>
          </p:cNvSpPr>
          <p:nvPr/>
        </p:nvSpPr>
        <p:spPr>
          <a:xfrm>
            <a:off x="7445502" y="1017651"/>
            <a:ext cx="117348" cy="100584"/>
          </a:xfrm>
          <a:prstGeom prst="line">
            <a:avLst/>
          </a:prstGeom>
          <a:noFill/>
          <a:ln w="17145">
            <a:solidFill>
              <a:srgbClr val="2F8F83"/>
            </a:solidFill>
            <a:prstDash val="solid"/>
          </a:ln>
        </p:spPr>
      </p:sp>
      <p:sp>
        <p:nvSpPr>
          <p:cNvPr id="668" name="FIG2_MACRO_ADAPTIVE__EFFECTIVE_GRAPH__189__EDGE_4">
            <a:extLst>
              <a:ext uri="{FF2B5EF4-FFF2-40B4-BE49-F238E27FC236}">
                <a16:creationId xmlns:a16="http://schemas.microsoft.com/office/drawing/2014/main" id="{84B7D91D-7B3C-4807-9716-C46FA87C287B}"/>
              </a:ext>
            </a:extLst>
          </p:cNvPr>
          <p:cNvSpPr>
            <a:spLocks noGrp="1"/>
          </p:cNvSpPr>
          <p:nvPr/>
        </p:nvSpPr>
        <p:spPr>
          <a:xfrm>
            <a:off x="7445502" y="1017651"/>
            <a:ext cx="266700" cy="18288"/>
          </a:xfrm>
          <a:prstGeom prst="line">
            <a:avLst/>
          </a:prstGeom>
          <a:noFill/>
          <a:ln w="23813">
            <a:solidFill>
              <a:srgbClr val="2F8F83"/>
            </a:solidFill>
            <a:prstDash val="solid"/>
          </a:ln>
        </p:spPr>
      </p:sp>
      <p:sp>
        <p:nvSpPr>
          <p:cNvPr id="669" name="FIG2_MACRO_ADAPTIVE__EFFECTIVE_GRAPH__190__EDGE_5">
            <a:extLst>
              <a:ext uri="{FF2B5EF4-FFF2-40B4-BE49-F238E27FC236}">
                <a16:creationId xmlns:a16="http://schemas.microsoft.com/office/drawing/2014/main" id="{37A85523-91C4-4331-85F8-FE66387CB01C}"/>
              </a:ext>
            </a:extLst>
          </p:cNvPr>
          <p:cNvSpPr>
            <a:spLocks noGrp="1"/>
          </p:cNvSpPr>
          <p:nvPr/>
        </p:nvSpPr>
        <p:spPr>
          <a:xfrm flipV="1">
            <a:off x="7562850" y="1035939"/>
            <a:ext cx="149352" cy="82296"/>
          </a:xfrm>
          <a:prstGeom prst="line">
            <a:avLst/>
          </a:prstGeom>
          <a:noFill/>
          <a:ln w="12859">
            <a:solidFill>
              <a:srgbClr val="2F8F83"/>
            </a:solidFill>
            <a:prstDash val="solid"/>
          </a:ln>
        </p:spPr>
      </p:sp>
      <p:sp>
        <p:nvSpPr>
          <p:cNvPr id="670" name="FIG2_MACRO_ADAPTIVE__EFFECTIVE_GRAPH__191__EDGE_6">
            <a:extLst>
              <a:ext uri="{FF2B5EF4-FFF2-40B4-BE49-F238E27FC236}">
                <a16:creationId xmlns:a16="http://schemas.microsoft.com/office/drawing/2014/main" id="{6DE5882D-87F2-4414-BD55-BF95D3E75DDF}"/>
              </a:ext>
            </a:extLst>
          </p:cNvPr>
          <p:cNvSpPr>
            <a:spLocks noGrp="1"/>
          </p:cNvSpPr>
          <p:nvPr/>
        </p:nvSpPr>
        <p:spPr>
          <a:xfrm>
            <a:off x="7562850" y="1118235"/>
            <a:ext cx="202692" cy="192024"/>
          </a:xfrm>
          <a:prstGeom prst="line">
            <a:avLst/>
          </a:prstGeom>
          <a:noFill/>
          <a:ln w="20003">
            <a:solidFill>
              <a:srgbClr val="2F8F83"/>
            </a:solidFill>
            <a:prstDash val="solid"/>
          </a:ln>
        </p:spPr>
      </p:sp>
      <p:sp>
        <p:nvSpPr>
          <p:cNvPr id="671" name="FIG2_MACRO_ADAPTIVE__EFFECTIVE_GRAPH__192__EDGE_7">
            <a:extLst>
              <a:ext uri="{FF2B5EF4-FFF2-40B4-BE49-F238E27FC236}">
                <a16:creationId xmlns:a16="http://schemas.microsoft.com/office/drawing/2014/main" id="{38D324C7-1E5C-4511-9452-DE4E410F52BD}"/>
              </a:ext>
            </a:extLst>
          </p:cNvPr>
          <p:cNvSpPr>
            <a:spLocks noGrp="1"/>
          </p:cNvSpPr>
          <p:nvPr/>
        </p:nvSpPr>
        <p:spPr>
          <a:xfrm>
            <a:off x="7562850" y="1118235"/>
            <a:ext cx="10668" cy="265176"/>
          </a:xfrm>
          <a:prstGeom prst="line">
            <a:avLst/>
          </a:prstGeom>
          <a:noFill/>
          <a:ln w="10478">
            <a:solidFill>
              <a:srgbClr val="2F8F83"/>
            </a:solidFill>
            <a:prstDash val="solid"/>
          </a:ln>
        </p:spPr>
      </p:sp>
      <p:sp>
        <p:nvSpPr>
          <p:cNvPr id="672" name="FIG2_MACRO_ADAPTIVE__EFFECTIVE_GRAPH__193__EDGE_8">
            <a:extLst>
              <a:ext uri="{FF2B5EF4-FFF2-40B4-BE49-F238E27FC236}">
                <a16:creationId xmlns:a16="http://schemas.microsoft.com/office/drawing/2014/main" id="{B5492C3A-6620-4A31-AC2C-07952AA9E3F3}"/>
              </a:ext>
            </a:extLst>
          </p:cNvPr>
          <p:cNvSpPr>
            <a:spLocks noGrp="1"/>
          </p:cNvSpPr>
          <p:nvPr/>
        </p:nvSpPr>
        <p:spPr>
          <a:xfrm>
            <a:off x="7712202" y="1035939"/>
            <a:ext cx="53340" cy="274320"/>
          </a:xfrm>
          <a:prstGeom prst="line">
            <a:avLst/>
          </a:prstGeom>
          <a:noFill/>
          <a:ln w="21431">
            <a:solidFill>
              <a:srgbClr val="2F8F83"/>
            </a:solidFill>
            <a:prstDash val="solid"/>
          </a:ln>
        </p:spPr>
      </p:sp>
      <p:sp>
        <p:nvSpPr>
          <p:cNvPr id="673" name="FIG2_MACRO_ADAPTIVE__EFFECTIVE_GRAPH__194__EDGE_9">
            <a:extLst>
              <a:ext uri="{FF2B5EF4-FFF2-40B4-BE49-F238E27FC236}">
                <a16:creationId xmlns:a16="http://schemas.microsoft.com/office/drawing/2014/main" id="{FAB71559-9385-4B01-B3AE-8DF6E3BEA1C9}"/>
              </a:ext>
            </a:extLst>
          </p:cNvPr>
          <p:cNvSpPr>
            <a:spLocks noGrp="1"/>
          </p:cNvSpPr>
          <p:nvPr/>
        </p:nvSpPr>
        <p:spPr>
          <a:xfrm>
            <a:off x="7573518" y="1310259"/>
            <a:ext cx="192024" cy="73152"/>
          </a:xfrm>
          <a:prstGeom prst="line">
            <a:avLst/>
          </a:prstGeom>
          <a:noFill/>
          <a:ln w="14764">
            <a:solidFill>
              <a:srgbClr val="2F8F83"/>
            </a:solidFill>
            <a:prstDash val="solid"/>
          </a:ln>
        </p:spPr>
      </p:sp>
      <p:sp>
        <p:nvSpPr>
          <p:cNvPr id="674" name="FIG2_MACRO_ADAPTIVE__EFFECTIVE_GRAPH__195__NODE_1">
            <a:extLst>
              <a:ext uri="{FF2B5EF4-FFF2-40B4-BE49-F238E27FC236}">
                <a16:creationId xmlns:a16="http://schemas.microsoft.com/office/drawing/2014/main" id="{BA6FF916-92CE-441D-9ACD-2D443F7F9934}"/>
              </a:ext>
            </a:extLst>
          </p:cNvPr>
          <p:cNvSpPr>
            <a:spLocks noGrp="1"/>
          </p:cNvSpPr>
          <p:nvPr/>
        </p:nvSpPr>
        <p:spPr>
          <a:xfrm>
            <a:off x="7310247" y="1203960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75" name="FIG2_MACRO_ADAPTIVE__EFFECTIVE_GRAPH__196__NODE_2">
            <a:extLst>
              <a:ext uri="{FF2B5EF4-FFF2-40B4-BE49-F238E27FC236}">
                <a16:creationId xmlns:a16="http://schemas.microsoft.com/office/drawing/2014/main" id="{12A9FAA7-D838-498F-BCFD-10934E3E0B8F}"/>
              </a:ext>
            </a:extLst>
          </p:cNvPr>
          <p:cNvSpPr>
            <a:spLocks noGrp="1"/>
          </p:cNvSpPr>
          <p:nvPr/>
        </p:nvSpPr>
        <p:spPr>
          <a:xfrm>
            <a:off x="7416927" y="989076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76" name="FIG2_MACRO_ADAPTIVE__EFFECTIVE_GRAPH__197__NODE_3">
            <a:extLst>
              <a:ext uri="{FF2B5EF4-FFF2-40B4-BE49-F238E27FC236}">
                <a16:creationId xmlns:a16="http://schemas.microsoft.com/office/drawing/2014/main" id="{42306692-E8FD-4087-B3AE-F5E8D31560A5}"/>
              </a:ext>
            </a:extLst>
          </p:cNvPr>
          <p:cNvSpPr>
            <a:spLocks noGrp="1"/>
          </p:cNvSpPr>
          <p:nvPr/>
        </p:nvSpPr>
        <p:spPr>
          <a:xfrm>
            <a:off x="7534275" y="1089660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77" name="FIG2_MACRO_ADAPTIVE__EFFECTIVE_GRAPH__198__NODE_4">
            <a:extLst>
              <a:ext uri="{FF2B5EF4-FFF2-40B4-BE49-F238E27FC236}">
                <a16:creationId xmlns:a16="http://schemas.microsoft.com/office/drawing/2014/main" id="{71116BAC-EC10-4272-AC6C-92E5D1E207CB}"/>
              </a:ext>
            </a:extLst>
          </p:cNvPr>
          <p:cNvSpPr>
            <a:spLocks noGrp="1"/>
          </p:cNvSpPr>
          <p:nvPr/>
        </p:nvSpPr>
        <p:spPr>
          <a:xfrm>
            <a:off x="7683627" y="1007364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78" name="FIG2_MACRO_ADAPTIVE__EFFECTIVE_GRAPH__199__NODE_5">
            <a:extLst>
              <a:ext uri="{FF2B5EF4-FFF2-40B4-BE49-F238E27FC236}">
                <a16:creationId xmlns:a16="http://schemas.microsoft.com/office/drawing/2014/main" id="{320EA711-0663-4410-A4B7-1242B7BABA89}"/>
              </a:ext>
            </a:extLst>
          </p:cNvPr>
          <p:cNvSpPr>
            <a:spLocks noGrp="1"/>
          </p:cNvSpPr>
          <p:nvPr/>
        </p:nvSpPr>
        <p:spPr>
          <a:xfrm>
            <a:off x="7736967" y="1281684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79" name="FIG2_MACRO_ADAPTIVE__EFFECTIVE_GRAPH__200__NODE_6">
            <a:extLst>
              <a:ext uri="{FF2B5EF4-FFF2-40B4-BE49-F238E27FC236}">
                <a16:creationId xmlns:a16="http://schemas.microsoft.com/office/drawing/2014/main" id="{509ABA15-D1DD-493D-A097-FB3B57310B57}"/>
              </a:ext>
            </a:extLst>
          </p:cNvPr>
          <p:cNvSpPr>
            <a:spLocks noGrp="1"/>
          </p:cNvSpPr>
          <p:nvPr/>
        </p:nvSpPr>
        <p:spPr>
          <a:xfrm>
            <a:off x="7544943" y="1354836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8F83"/>
            </a:solidFill>
            <a:prstDash val="solid"/>
          </a:ln>
        </p:spPr>
      </p:sp>
      <p:sp>
        <p:nvSpPr>
          <p:cNvPr id="680" name="FIG2_MACRO_ADAPTIVE__201__EFFECTIVE_LABEL">
            <a:extLst>
              <a:ext uri="{FF2B5EF4-FFF2-40B4-BE49-F238E27FC236}">
                <a16:creationId xmlns:a16="http://schemas.microsoft.com/office/drawing/2014/main" id="{98A34B47-93A6-48A0-BC70-33CAE8B8E365}"/>
              </a:ext>
            </a:extLst>
          </p:cNvPr>
          <p:cNvSpPr>
            <a:spLocks noGrp="1"/>
          </p:cNvSpPr>
          <p:nvPr/>
        </p:nvSpPr>
        <p:spPr>
          <a:xfrm>
            <a:off x="7105650" y="146685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Macro Effective</a:t>
            </a:r>
          </a:p>
          <a:p>
            <a:pPr algn="ctr">
              <a:def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F8F83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681" name="FIG2_DISTANCE_HUB__202__FIG2_MACRO_DISTANCE_WEIGHT">
            <a:extLst>
              <a:ext uri="{FF2B5EF4-FFF2-40B4-BE49-F238E27FC236}">
                <a16:creationId xmlns:a16="http://schemas.microsoft.com/office/drawing/2014/main" id="{191D9D96-AA23-4C40-961E-389A6A3AD095}"/>
              </a:ext>
            </a:extLst>
          </p:cNvPr>
          <p:cNvSpPr>
            <a:spLocks noGrp="1"/>
          </p:cNvSpPr>
          <p:nvPr/>
        </p:nvSpPr>
        <p:spPr>
          <a:xfrm>
            <a:off x="4000500" y="1504950"/>
            <a:ext cx="2381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682" name="FIG2_MICRO__203__TRAIN_ONLY">
            <a:extLst>
              <a:ext uri="{FF2B5EF4-FFF2-40B4-BE49-F238E27FC236}">
                <a16:creationId xmlns:a16="http://schemas.microsoft.com/office/drawing/2014/main" id="{91972A34-2FBA-4060-9855-DBC8D9C3501B}"/>
              </a:ext>
            </a:extLst>
          </p:cNvPr>
          <p:cNvSpPr>
            <a:spLocks noGrp="1"/>
          </p:cNvSpPr>
          <p:nvPr/>
        </p:nvSpPr>
        <p:spPr>
          <a:xfrm>
            <a:off x="209550" y="260985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train-only</a:t>
            </a:r>
          </a:p>
        </p:txBody>
      </p:sp>
      <p:sp>
        <p:nvSpPr>
          <p:cNvPr id="683" name="FIG2_MICRO__SOURCE_WAVE__204__WAVE_1">
            <a:extLst>
              <a:ext uri="{FF2B5EF4-FFF2-40B4-BE49-F238E27FC236}">
                <a16:creationId xmlns:a16="http://schemas.microsoft.com/office/drawing/2014/main" id="{6F6B23DC-BE1E-4A6D-B0D4-104E7FB917A9}"/>
              </a:ext>
            </a:extLst>
          </p:cNvPr>
          <p:cNvSpPr>
            <a:spLocks noGrp="1"/>
          </p:cNvSpPr>
          <p:nvPr/>
        </p:nvSpPr>
        <p:spPr>
          <a:xfrm flipV="1">
            <a:off x="228600" y="2929128"/>
            <a:ext cx="70757" cy="92202"/>
          </a:xfrm>
          <a:prstGeom prst="line">
            <a:avLst/>
          </a:prstGeom>
          <a:noFill/>
          <a:ln w="20003">
            <a:solidFill>
              <a:srgbClr val="E0823D"/>
            </a:solidFill>
            <a:prstDash val="solid"/>
          </a:ln>
        </p:spPr>
      </p:sp>
      <p:sp>
        <p:nvSpPr>
          <p:cNvPr id="684" name="FIG2_MICRO__SOURCE_WAVE__205__WAVE_2">
            <a:extLst>
              <a:ext uri="{FF2B5EF4-FFF2-40B4-BE49-F238E27FC236}">
                <a16:creationId xmlns:a16="http://schemas.microsoft.com/office/drawing/2014/main" id="{07D3F786-561D-4039-800E-0261F6EAF6C0}"/>
              </a:ext>
            </a:extLst>
          </p:cNvPr>
          <p:cNvSpPr>
            <a:spLocks noGrp="1"/>
          </p:cNvSpPr>
          <p:nvPr/>
        </p:nvSpPr>
        <p:spPr>
          <a:xfrm>
            <a:off x="299357" y="2929128"/>
            <a:ext cx="70757" cy="134112"/>
          </a:xfrm>
          <a:prstGeom prst="line">
            <a:avLst/>
          </a:prstGeom>
          <a:noFill/>
          <a:ln w="20003">
            <a:solidFill>
              <a:srgbClr val="E0823D"/>
            </a:solidFill>
            <a:prstDash val="solid"/>
          </a:ln>
        </p:spPr>
      </p:sp>
      <p:sp>
        <p:nvSpPr>
          <p:cNvPr id="685" name="FIG2_MICRO__SOURCE_WAVE__206__WAVE_3">
            <a:extLst>
              <a:ext uri="{FF2B5EF4-FFF2-40B4-BE49-F238E27FC236}">
                <a16:creationId xmlns:a16="http://schemas.microsoft.com/office/drawing/2014/main" id="{66D2BDBB-5DA6-45B9-801F-BFE16E548531}"/>
              </a:ext>
            </a:extLst>
          </p:cNvPr>
          <p:cNvSpPr>
            <a:spLocks noGrp="1"/>
          </p:cNvSpPr>
          <p:nvPr/>
        </p:nvSpPr>
        <p:spPr>
          <a:xfrm flipV="1">
            <a:off x="370114" y="2954274"/>
            <a:ext cx="70757" cy="108966"/>
          </a:xfrm>
          <a:prstGeom prst="line">
            <a:avLst/>
          </a:prstGeom>
          <a:noFill/>
          <a:ln w="20003">
            <a:solidFill>
              <a:srgbClr val="E0823D"/>
            </a:solidFill>
            <a:prstDash val="solid"/>
          </a:ln>
        </p:spPr>
      </p:sp>
      <p:sp>
        <p:nvSpPr>
          <p:cNvPr id="686" name="FIG2_MICRO__SOURCE_WAVE__207__WAVE_4">
            <a:extLst>
              <a:ext uri="{FF2B5EF4-FFF2-40B4-BE49-F238E27FC236}">
                <a16:creationId xmlns:a16="http://schemas.microsoft.com/office/drawing/2014/main" id="{E031BE0B-E34B-4FCA-89D3-6CA1B9F1D4C1}"/>
              </a:ext>
            </a:extLst>
          </p:cNvPr>
          <p:cNvSpPr>
            <a:spLocks noGrp="1"/>
          </p:cNvSpPr>
          <p:nvPr/>
        </p:nvSpPr>
        <p:spPr>
          <a:xfrm>
            <a:off x="440871" y="2954274"/>
            <a:ext cx="70757" cy="92202"/>
          </a:xfrm>
          <a:prstGeom prst="line">
            <a:avLst/>
          </a:prstGeom>
          <a:noFill/>
          <a:ln w="20003">
            <a:solidFill>
              <a:srgbClr val="E0823D"/>
            </a:solidFill>
            <a:prstDash val="solid"/>
          </a:ln>
        </p:spPr>
      </p:sp>
      <p:sp>
        <p:nvSpPr>
          <p:cNvPr id="687" name="FIG2_MICRO__SOURCE_WAVE__208__WAVE_5">
            <a:extLst>
              <a:ext uri="{FF2B5EF4-FFF2-40B4-BE49-F238E27FC236}">
                <a16:creationId xmlns:a16="http://schemas.microsoft.com/office/drawing/2014/main" id="{56760FA2-FA99-420F-9AF2-C236B116240B}"/>
              </a:ext>
            </a:extLst>
          </p:cNvPr>
          <p:cNvSpPr>
            <a:spLocks noGrp="1"/>
          </p:cNvSpPr>
          <p:nvPr/>
        </p:nvSpPr>
        <p:spPr>
          <a:xfrm flipV="1">
            <a:off x="511629" y="2918651"/>
            <a:ext cx="70757" cy="127825"/>
          </a:xfrm>
          <a:prstGeom prst="line">
            <a:avLst/>
          </a:prstGeom>
          <a:noFill/>
          <a:ln w="20003">
            <a:solidFill>
              <a:srgbClr val="E0823D"/>
            </a:solidFill>
            <a:prstDash val="solid"/>
          </a:ln>
        </p:spPr>
      </p:sp>
      <p:sp>
        <p:nvSpPr>
          <p:cNvPr id="688" name="FIG2_MICRO__SOURCE_WAVE__209__WAVE_6">
            <a:extLst>
              <a:ext uri="{FF2B5EF4-FFF2-40B4-BE49-F238E27FC236}">
                <a16:creationId xmlns:a16="http://schemas.microsoft.com/office/drawing/2014/main" id="{85118A9A-0CCF-40B2-A2B7-7A57A32A4DFD}"/>
              </a:ext>
            </a:extLst>
          </p:cNvPr>
          <p:cNvSpPr>
            <a:spLocks noGrp="1"/>
          </p:cNvSpPr>
          <p:nvPr/>
        </p:nvSpPr>
        <p:spPr>
          <a:xfrm>
            <a:off x="582386" y="2918651"/>
            <a:ext cx="70757" cy="119443"/>
          </a:xfrm>
          <a:prstGeom prst="line">
            <a:avLst/>
          </a:prstGeom>
          <a:noFill/>
          <a:ln w="20003">
            <a:solidFill>
              <a:srgbClr val="E0823D"/>
            </a:solidFill>
            <a:prstDash val="solid"/>
          </a:ln>
        </p:spPr>
      </p:sp>
      <p:sp>
        <p:nvSpPr>
          <p:cNvPr id="689" name="FIG2_MICRO__SOURCE_WAVE__210__WAVE_7">
            <a:extLst>
              <a:ext uri="{FF2B5EF4-FFF2-40B4-BE49-F238E27FC236}">
                <a16:creationId xmlns:a16="http://schemas.microsoft.com/office/drawing/2014/main" id="{A9199FF3-11FF-472F-B114-C6D1330324EE}"/>
              </a:ext>
            </a:extLst>
          </p:cNvPr>
          <p:cNvSpPr>
            <a:spLocks noGrp="1"/>
          </p:cNvSpPr>
          <p:nvPr/>
        </p:nvSpPr>
        <p:spPr>
          <a:xfrm flipV="1">
            <a:off x="653143" y="2958465"/>
            <a:ext cx="70757" cy="79629"/>
          </a:xfrm>
          <a:prstGeom prst="line">
            <a:avLst/>
          </a:prstGeom>
          <a:noFill/>
          <a:ln w="20003">
            <a:solidFill>
              <a:srgbClr val="E0823D"/>
            </a:solidFill>
            <a:prstDash val="solid"/>
          </a:ln>
        </p:spPr>
      </p:sp>
      <p:sp>
        <p:nvSpPr>
          <p:cNvPr id="690" name="FIG2_MICRO__211__SOURCE_LABEL">
            <a:extLst>
              <a:ext uri="{FF2B5EF4-FFF2-40B4-BE49-F238E27FC236}">
                <a16:creationId xmlns:a16="http://schemas.microsoft.com/office/drawing/2014/main" id="{EE7540E5-32A0-467D-A34B-E43E250A5F1D}"/>
              </a:ext>
            </a:extLst>
          </p:cNvPr>
          <p:cNvSpPr>
            <a:spLocks noGrp="1"/>
          </p:cNvSpPr>
          <p:nvPr/>
        </p:nvSpPr>
        <p:spPr>
          <a:xfrm>
            <a:off x="95250" y="3133725"/>
            <a:ext cx="742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Wspd</a:t>
            </a:r>
          </a:p>
        </p:txBody>
      </p:sp>
      <p:sp>
        <p:nvSpPr>
          <p:cNvPr id="691" name="FIG2_MICRO__TRANSFORM_RAW__212__WAVE_1">
            <a:extLst>
              <a:ext uri="{FF2B5EF4-FFF2-40B4-BE49-F238E27FC236}">
                <a16:creationId xmlns:a16="http://schemas.microsoft.com/office/drawing/2014/main" id="{4E43867A-C036-4633-9F28-905E7595BA94}"/>
              </a:ext>
            </a:extLst>
          </p:cNvPr>
          <p:cNvSpPr>
            <a:spLocks noGrp="1"/>
          </p:cNvSpPr>
          <p:nvPr/>
        </p:nvSpPr>
        <p:spPr>
          <a:xfrm flipV="1">
            <a:off x="895350" y="2927604"/>
            <a:ext cx="40005" cy="88011"/>
          </a:xfrm>
          <a:prstGeom prst="line">
            <a:avLst/>
          </a:prstGeom>
          <a:noFill/>
          <a:ln w="12859">
            <a:solidFill>
              <a:srgbClr val="E0823D"/>
            </a:solidFill>
            <a:prstDash val="solid"/>
          </a:ln>
        </p:spPr>
      </p:sp>
      <p:sp>
        <p:nvSpPr>
          <p:cNvPr id="692" name="FIG2_MICRO__TRANSFORM_RAW__213__WAVE_2">
            <a:extLst>
              <a:ext uri="{FF2B5EF4-FFF2-40B4-BE49-F238E27FC236}">
                <a16:creationId xmlns:a16="http://schemas.microsoft.com/office/drawing/2014/main" id="{F24A3550-3AB1-433E-98A6-067ED52AF329}"/>
              </a:ext>
            </a:extLst>
          </p:cNvPr>
          <p:cNvSpPr>
            <a:spLocks noGrp="1"/>
          </p:cNvSpPr>
          <p:nvPr/>
        </p:nvSpPr>
        <p:spPr>
          <a:xfrm>
            <a:off x="935355" y="2927604"/>
            <a:ext cx="40005" cy="128016"/>
          </a:xfrm>
          <a:prstGeom prst="line">
            <a:avLst/>
          </a:prstGeom>
          <a:noFill/>
          <a:ln w="12859">
            <a:solidFill>
              <a:srgbClr val="E0823D"/>
            </a:solidFill>
            <a:prstDash val="solid"/>
          </a:ln>
        </p:spPr>
      </p:sp>
      <p:sp>
        <p:nvSpPr>
          <p:cNvPr id="693" name="FIG2_MICRO__TRANSFORM_RAW__214__WAVE_3">
            <a:extLst>
              <a:ext uri="{FF2B5EF4-FFF2-40B4-BE49-F238E27FC236}">
                <a16:creationId xmlns:a16="http://schemas.microsoft.com/office/drawing/2014/main" id="{A4202CE1-FAAA-46AC-AD40-723C1C1BD9B4}"/>
              </a:ext>
            </a:extLst>
          </p:cNvPr>
          <p:cNvSpPr>
            <a:spLocks noGrp="1"/>
          </p:cNvSpPr>
          <p:nvPr/>
        </p:nvSpPr>
        <p:spPr>
          <a:xfrm flipV="1">
            <a:off x="975360" y="2951607"/>
            <a:ext cx="40005" cy="104013"/>
          </a:xfrm>
          <a:prstGeom prst="line">
            <a:avLst/>
          </a:prstGeom>
          <a:noFill/>
          <a:ln w="12859">
            <a:solidFill>
              <a:srgbClr val="E0823D"/>
            </a:solidFill>
            <a:prstDash val="solid"/>
          </a:ln>
        </p:spPr>
      </p:sp>
      <p:sp>
        <p:nvSpPr>
          <p:cNvPr id="694" name="FIG2_MICRO__TRANSFORM_RAW__215__WAVE_4">
            <a:extLst>
              <a:ext uri="{FF2B5EF4-FFF2-40B4-BE49-F238E27FC236}">
                <a16:creationId xmlns:a16="http://schemas.microsoft.com/office/drawing/2014/main" id="{6EAB2DE1-2E8F-4F03-943E-EABE41B21CC0}"/>
              </a:ext>
            </a:extLst>
          </p:cNvPr>
          <p:cNvSpPr>
            <a:spLocks noGrp="1"/>
          </p:cNvSpPr>
          <p:nvPr/>
        </p:nvSpPr>
        <p:spPr>
          <a:xfrm>
            <a:off x="1015365" y="2951607"/>
            <a:ext cx="40005" cy="88011"/>
          </a:xfrm>
          <a:prstGeom prst="line">
            <a:avLst/>
          </a:prstGeom>
          <a:noFill/>
          <a:ln w="12859">
            <a:solidFill>
              <a:srgbClr val="E0823D"/>
            </a:solidFill>
            <a:prstDash val="solid"/>
          </a:ln>
        </p:spPr>
      </p:sp>
      <p:sp>
        <p:nvSpPr>
          <p:cNvPr id="695" name="FIG2_MICRO__TRANSFORM_RAW__216__WAVE_5">
            <a:extLst>
              <a:ext uri="{FF2B5EF4-FFF2-40B4-BE49-F238E27FC236}">
                <a16:creationId xmlns:a16="http://schemas.microsoft.com/office/drawing/2014/main" id="{B974EBB6-B5CB-4FA6-BD85-A741F9DB1A59}"/>
              </a:ext>
            </a:extLst>
          </p:cNvPr>
          <p:cNvSpPr>
            <a:spLocks noGrp="1"/>
          </p:cNvSpPr>
          <p:nvPr/>
        </p:nvSpPr>
        <p:spPr>
          <a:xfrm flipV="1">
            <a:off x="1055370" y="2917603"/>
            <a:ext cx="40005" cy="122015"/>
          </a:xfrm>
          <a:prstGeom prst="line">
            <a:avLst/>
          </a:prstGeom>
          <a:noFill/>
          <a:ln w="12859">
            <a:solidFill>
              <a:srgbClr val="E0823D"/>
            </a:solidFill>
            <a:prstDash val="solid"/>
          </a:ln>
        </p:spPr>
      </p:sp>
      <p:sp>
        <p:nvSpPr>
          <p:cNvPr id="696" name="FIG2_MICRO__TRANSFORM_PROCESSED__217__WAVE_1">
            <a:extLst>
              <a:ext uri="{FF2B5EF4-FFF2-40B4-BE49-F238E27FC236}">
                <a16:creationId xmlns:a16="http://schemas.microsoft.com/office/drawing/2014/main" id="{B3D3D9C5-1062-4D61-B1D7-E7F06EEB07E2}"/>
              </a:ext>
            </a:extLst>
          </p:cNvPr>
          <p:cNvSpPr>
            <a:spLocks noGrp="1"/>
          </p:cNvSpPr>
          <p:nvPr/>
        </p:nvSpPr>
        <p:spPr>
          <a:xfrm>
            <a:off x="1200150" y="2943606"/>
            <a:ext cx="43815" cy="116015"/>
          </a:xfrm>
          <a:prstGeom prst="line">
            <a:avLst/>
          </a:prstGeom>
          <a:noFill/>
          <a:ln w="19050">
            <a:solidFill>
              <a:srgbClr val="E0823D"/>
            </a:solidFill>
            <a:prstDash val="solid"/>
          </a:ln>
        </p:spPr>
      </p:sp>
      <p:sp>
        <p:nvSpPr>
          <p:cNvPr id="697" name="FIG2_MICRO__TRANSFORM_PROCESSED__218__WAVE_2">
            <a:extLst>
              <a:ext uri="{FF2B5EF4-FFF2-40B4-BE49-F238E27FC236}">
                <a16:creationId xmlns:a16="http://schemas.microsoft.com/office/drawing/2014/main" id="{E2193CD4-7408-4492-989D-77B8BC6206AF}"/>
              </a:ext>
            </a:extLst>
          </p:cNvPr>
          <p:cNvSpPr>
            <a:spLocks noGrp="1"/>
          </p:cNvSpPr>
          <p:nvPr/>
        </p:nvSpPr>
        <p:spPr>
          <a:xfrm flipV="1">
            <a:off x="1243965" y="2931604"/>
            <a:ext cx="43815" cy="128016"/>
          </a:xfrm>
          <a:prstGeom prst="line">
            <a:avLst/>
          </a:prstGeom>
          <a:noFill/>
          <a:ln w="19050">
            <a:solidFill>
              <a:srgbClr val="E0823D"/>
            </a:solidFill>
            <a:prstDash val="solid"/>
          </a:ln>
        </p:spPr>
      </p:sp>
      <p:sp>
        <p:nvSpPr>
          <p:cNvPr id="698" name="FIG2_MICRO__TRANSFORM_PROCESSED__219__WAVE_3">
            <a:extLst>
              <a:ext uri="{FF2B5EF4-FFF2-40B4-BE49-F238E27FC236}">
                <a16:creationId xmlns:a16="http://schemas.microsoft.com/office/drawing/2014/main" id="{1648AA08-E2CB-4B21-BC53-7840219AED4B}"/>
              </a:ext>
            </a:extLst>
          </p:cNvPr>
          <p:cNvSpPr>
            <a:spLocks noGrp="1"/>
          </p:cNvSpPr>
          <p:nvPr/>
        </p:nvSpPr>
        <p:spPr>
          <a:xfrm>
            <a:off x="1287780" y="2931604"/>
            <a:ext cx="43815" cy="116015"/>
          </a:xfrm>
          <a:prstGeom prst="line">
            <a:avLst/>
          </a:prstGeom>
          <a:noFill/>
          <a:ln w="19050">
            <a:solidFill>
              <a:srgbClr val="E0823D"/>
            </a:solidFill>
            <a:prstDash val="solid"/>
          </a:ln>
        </p:spPr>
      </p:sp>
      <p:sp>
        <p:nvSpPr>
          <p:cNvPr id="699" name="FIG2_MICRO__TRANSFORM_PROCESSED__220__WAVE_4">
            <a:extLst>
              <a:ext uri="{FF2B5EF4-FFF2-40B4-BE49-F238E27FC236}">
                <a16:creationId xmlns:a16="http://schemas.microsoft.com/office/drawing/2014/main" id="{D33BFCD5-F11A-4445-A951-176313742058}"/>
              </a:ext>
            </a:extLst>
          </p:cNvPr>
          <p:cNvSpPr>
            <a:spLocks noGrp="1"/>
          </p:cNvSpPr>
          <p:nvPr/>
        </p:nvSpPr>
        <p:spPr>
          <a:xfrm flipV="1">
            <a:off x="1331595" y="2949607"/>
            <a:ext cx="43815" cy="98012"/>
          </a:xfrm>
          <a:prstGeom prst="line">
            <a:avLst/>
          </a:prstGeom>
          <a:noFill/>
          <a:ln w="19050">
            <a:solidFill>
              <a:srgbClr val="E0823D"/>
            </a:solidFill>
            <a:prstDash val="solid"/>
          </a:ln>
        </p:spPr>
      </p:sp>
      <p:sp>
        <p:nvSpPr>
          <p:cNvPr id="700" name="FIG2_MICRO__TRANSFORM_PROCESSED__221__WAVE_5">
            <a:extLst>
              <a:ext uri="{FF2B5EF4-FFF2-40B4-BE49-F238E27FC236}">
                <a16:creationId xmlns:a16="http://schemas.microsoft.com/office/drawing/2014/main" id="{363EB267-BE8F-4232-9622-AF004B2131D8}"/>
              </a:ext>
            </a:extLst>
          </p:cNvPr>
          <p:cNvSpPr>
            <a:spLocks noGrp="1"/>
          </p:cNvSpPr>
          <p:nvPr/>
        </p:nvSpPr>
        <p:spPr>
          <a:xfrm>
            <a:off x="1375410" y="2949607"/>
            <a:ext cx="43815" cy="86011"/>
          </a:xfrm>
          <a:prstGeom prst="line">
            <a:avLst/>
          </a:prstGeom>
          <a:noFill/>
          <a:ln w="19050">
            <a:solidFill>
              <a:srgbClr val="E0823D"/>
            </a:solidFill>
            <a:prstDash val="solid"/>
          </a:ln>
        </p:spPr>
      </p:sp>
      <p:sp>
        <p:nvSpPr>
          <p:cNvPr id="701" name="FIG2_MICRO__222__TRANSFORM_LABEL">
            <a:extLst>
              <a:ext uri="{FF2B5EF4-FFF2-40B4-BE49-F238E27FC236}">
                <a16:creationId xmlns:a16="http://schemas.microsoft.com/office/drawing/2014/main" id="{1984732A-07EB-4E0A-8AB7-EC959328909E}"/>
              </a:ext>
            </a:extLst>
          </p:cNvPr>
          <p:cNvSpPr>
            <a:spLocks noGrp="1"/>
          </p:cNvSpPr>
          <p:nvPr/>
        </p:nvSpPr>
        <p:spPr>
          <a:xfrm>
            <a:off x="571500" y="3286125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1st-Order Difference</a:t>
            </a:r>
          </a:p>
        </p:txBody>
      </p:sp>
      <p:sp>
        <p:nvSpPr>
          <p:cNvPr id="702" name="FIG2_MICRO__SIM_A__223__WAVE_1">
            <a:extLst>
              <a:ext uri="{FF2B5EF4-FFF2-40B4-BE49-F238E27FC236}">
                <a16:creationId xmlns:a16="http://schemas.microsoft.com/office/drawing/2014/main" id="{EB2FA582-A2CF-4656-8242-BE327FACB3AE}"/>
              </a:ext>
            </a:extLst>
          </p:cNvPr>
          <p:cNvSpPr>
            <a:spLocks noGrp="1"/>
          </p:cNvSpPr>
          <p:nvPr/>
        </p:nvSpPr>
        <p:spPr>
          <a:xfrm>
            <a:off x="1581150" y="2887218"/>
            <a:ext cx="45720" cy="71819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03" name="FIG2_MICRO__SIM_A__224__WAVE_2">
            <a:extLst>
              <a:ext uri="{FF2B5EF4-FFF2-40B4-BE49-F238E27FC236}">
                <a16:creationId xmlns:a16="http://schemas.microsoft.com/office/drawing/2014/main" id="{38D00837-621D-4EC1-9E70-5C7662A7EA91}"/>
              </a:ext>
            </a:extLst>
          </p:cNvPr>
          <p:cNvSpPr>
            <a:spLocks noGrp="1"/>
          </p:cNvSpPr>
          <p:nvPr/>
        </p:nvSpPr>
        <p:spPr>
          <a:xfrm flipV="1">
            <a:off x="1626870" y="2879788"/>
            <a:ext cx="45720" cy="79248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04" name="FIG2_MICRO__SIM_A__225__WAVE_3">
            <a:extLst>
              <a:ext uri="{FF2B5EF4-FFF2-40B4-BE49-F238E27FC236}">
                <a16:creationId xmlns:a16="http://schemas.microsoft.com/office/drawing/2014/main" id="{83E95898-8BF5-4F67-B721-4B16B6B17E08}"/>
              </a:ext>
            </a:extLst>
          </p:cNvPr>
          <p:cNvSpPr>
            <a:spLocks noGrp="1"/>
          </p:cNvSpPr>
          <p:nvPr/>
        </p:nvSpPr>
        <p:spPr>
          <a:xfrm>
            <a:off x="1672590" y="2879788"/>
            <a:ext cx="45720" cy="71819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05" name="FIG2_MICRO__SIM_A__226__WAVE_4">
            <a:extLst>
              <a:ext uri="{FF2B5EF4-FFF2-40B4-BE49-F238E27FC236}">
                <a16:creationId xmlns:a16="http://schemas.microsoft.com/office/drawing/2014/main" id="{92F3AF9F-1FC4-4429-817B-6D0728BFBD5B}"/>
              </a:ext>
            </a:extLst>
          </p:cNvPr>
          <p:cNvSpPr>
            <a:spLocks noGrp="1"/>
          </p:cNvSpPr>
          <p:nvPr/>
        </p:nvSpPr>
        <p:spPr>
          <a:xfrm flipV="1">
            <a:off x="1718310" y="2890933"/>
            <a:ext cx="45720" cy="60674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06" name="FIG2_MICRO__SIM_A__227__WAVE_5">
            <a:extLst>
              <a:ext uri="{FF2B5EF4-FFF2-40B4-BE49-F238E27FC236}">
                <a16:creationId xmlns:a16="http://schemas.microsoft.com/office/drawing/2014/main" id="{69A35327-294D-40F6-BEC1-7BA7925DD9C2}"/>
              </a:ext>
            </a:extLst>
          </p:cNvPr>
          <p:cNvSpPr>
            <a:spLocks noGrp="1"/>
          </p:cNvSpPr>
          <p:nvPr/>
        </p:nvSpPr>
        <p:spPr>
          <a:xfrm>
            <a:off x="1764030" y="2890933"/>
            <a:ext cx="45720" cy="53245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07" name="FIG2_MICRO__SIM_B__228__WAVE_1">
            <a:extLst>
              <a:ext uri="{FF2B5EF4-FFF2-40B4-BE49-F238E27FC236}">
                <a16:creationId xmlns:a16="http://schemas.microsoft.com/office/drawing/2014/main" id="{8B450ED4-0246-4DFF-B7BB-015CC0A58FC9}"/>
              </a:ext>
            </a:extLst>
          </p:cNvPr>
          <p:cNvSpPr>
            <a:spLocks noGrp="1"/>
          </p:cNvSpPr>
          <p:nvPr/>
        </p:nvSpPr>
        <p:spPr>
          <a:xfrm>
            <a:off x="2019300" y="2892171"/>
            <a:ext cx="34290" cy="56960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08" name="FIG2_MICRO__SIM_B__229__WAVE_2">
            <a:extLst>
              <a:ext uri="{FF2B5EF4-FFF2-40B4-BE49-F238E27FC236}">
                <a16:creationId xmlns:a16="http://schemas.microsoft.com/office/drawing/2014/main" id="{738DFF78-F998-46C2-855E-1CFE5C6471C6}"/>
              </a:ext>
            </a:extLst>
          </p:cNvPr>
          <p:cNvSpPr>
            <a:spLocks noGrp="1"/>
          </p:cNvSpPr>
          <p:nvPr/>
        </p:nvSpPr>
        <p:spPr>
          <a:xfrm flipV="1">
            <a:off x="2053590" y="2884742"/>
            <a:ext cx="34290" cy="64389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09" name="FIG2_MICRO__SIM_B__230__WAVE_3">
            <a:extLst>
              <a:ext uri="{FF2B5EF4-FFF2-40B4-BE49-F238E27FC236}">
                <a16:creationId xmlns:a16="http://schemas.microsoft.com/office/drawing/2014/main" id="{3B060491-B750-4AF0-BE98-8FC309E263A6}"/>
              </a:ext>
            </a:extLst>
          </p:cNvPr>
          <p:cNvSpPr>
            <a:spLocks noGrp="1"/>
          </p:cNvSpPr>
          <p:nvPr/>
        </p:nvSpPr>
        <p:spPr>
          <a:xfrm>
            <a:off x="2087880" y="2884742"/>
            <a:ext cx="34290" cy="56959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10" name="FIG2_MICRO__SIM_B__231__WAVE_4">
            <a:extLst>
              <a:ext uri="{FF2B5EF4-FFF2-40B4-BE49-F238E27FC236}">
                <a16:creationId xmlns:a16="http://schemas.microsoft.com/office/drawing/2014/main" id="{53070710-B9B9-419B-8534-8C74912CB349}"/>
              </a:ext>
            </a:extLst>
          </p:cNvPr>
          <p:cNvSpPr>
            <a:spLocks noGrp="1"/>
          </p:cNvSpPr>
          <p:nvPr/>
        </p:nvSpPr>
        <p:spPr>
          <a:xfrm flipV="1">
            <a:off x="2122170" y="2895886"/>
            <a:ext cx="34290" cy="45815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11" name="FIG2_MICRO__SIM_B__232__WAVE_5">
            <a:extLst>
              <a:ext uri="{FF2B5EF4-FFF2-40B4-BE49-F238E27FC236}">
                <a16:creationId xmlns:a16="http://schemas.microsoft.com/office/drawing/2014/main" id="{A1F51640-CC0F-4760-BD1D-F7A9331ED76F}"/>
              </a:ext>
            </a:extLst>
          </p:cNvPr>
          <p:cNvSpPr>
            <a:spLocks noGrp="1"/>
          </p:cNvSpPr>
          <p:nvPr/>
        </p:nvSpPr>
        <p:spPr>
          <a:xfrm>
            <a:off x="2156460" y="2895886"/>
            <a:ext cx="34290" cy="38386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712" name="FIG2_MICRO__233__SIM_SYMBOL">
            <a:extLst>
              <a:ext uri="{FF2B5EF4-FFF2-40B4-BE49-F238E27FC236}">
                <a16:creationId xmlns:a16="http://schemas.microsoft.com/office/drawing/2014/main" id="{DC6F5D95-8F40-4631-9E3A-F799FD018AFE}"/>
              </a:ext>
            </a:extLst>
          </p:cNvPr>
          <p:cNvSpPr>
            <a:spLocks noGrp="1"/>
          </p:cNvSpPr>
          <p:nvPr/>
        </p:nvSpPr>
        <p:spPr>
          <a:xfrm>
            <a:off x="1800225" y="2886075"/>
            <a:ext cx="209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cos</a:t>
            </a:r>
          </a:p>
        </p:txBody>
      </p:sp>
      <p:sp>
        <p:nvSpPr>
          <p:cNvPr id="713" name="FIG2_MICRO__234__SIMILARITY_LABEL">
            <a:extLst>
              <a:ext uri="{FF2B5EF4-FFF2-40B4-BE49-F238E27FC236}">
                <a16:creationId xmlns:a16="http://schemas.microsoft.com/office/drawing/2014/main" id="{74591A44-656B-4AFA-92BA-B81616FFCFE4}"/>
              </a:ext>
            </a:extLst>
          </p:cNvPr>
          <p:cNvSpPr>
            <a:spLocks noGrp="1"/>
          </p:cNvSpPr>
          <p:nvPr/>
        </p:nvSpPr>
        <p:spPr>
          <a:xfrm>
            <a:off x="1333500" y="316230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Cosine Similarity on</a:t>
            </a:r>
          </a:p>
          <a:p>
            <a:pPr algn="ctr"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1st-Order Difference</a:t>
            </a:r>
          </a:p>
        </p:txBody>
      </p:sp>
      <p:sp>
        <p:nvSpPr>
          <p:cNvPr id="714" name="FIG2_MICRO__DENSE_GRAPH__235__EDGE_1">
            <a:extLst>
              <a:ext uri="{FF2B5EF4-FFF2-40B4-BE49-F238E27FC236}">
                <a16:creationId xmlns:a16="http://schemas.microsoft.com/office/drawing/2014/main" id="{96EB698D-26C0-474A-A8C7-C0B2FCD5B4EF}"/>
              </a:ext>
            </a:extLst>
          </p:cNvPr>
          <p:cNvSpPr>
            <a:spLocks noGrp="1"/>
          </p:cNvSpPr>
          <p:nvPr/>
        </p:nvSpPr>
        <p:spPr>
          <a:xfrm flipV="1">
            <a:off x="2289810" y="2880360"/>
            <a:ext cx="57150" cy="134303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15" name="FIG2_MICRO__DENSE_GRAPH__236__EDGE_2">
            <a:extLst>
              <a:ext uri="{FF2B5EF4-FFF2-40B4-BE49-F238E27FC236}">
                <a16:creationId xmlns:a16="http://schemas.microsoft.com/office/drawing/2014/main" id="{6FC0F302-12D4-487A-BFF3-C79B6906D52A}"/>
              </a:ext>
            </a:extLst>
          </p:cNvPr>
          <p:cNvSpPr>
            <a:spLocks noGrp="1"/>
          </p:cNvSpPr>
          <p:nvPr/>
        </p:nvSpPr>
        <p:spPr>
          <a:xfrm flipV="1">
            <a:off x="2289810" y="2943225"/>
            <a:ext cx="120015" cy="71438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16" name="FIG2_MICRO__DENSE_GRAPH__237__EDGE_3">
            <a:extLst>
              <a:ext uri="{FF2B5EF4-FFF2-40B4-BE49-F238E27FC236}">
                <a16:creationId xmlns:a16="http://schemas.microsoft.com/office/drawing/2014/main" id="{E5F1094E-5D2A-411E-95B6-E727CEE6604D}"/>
              </a:ext>
            </a:extLst>
          </p:cNvPr>
          <p:cNvSpPr>
            <a:spLocks noGrp="1"/>
          </p:cNvSpPr>
          <p:nvPr/>
        </p:nvSpPr>
        <p:spPr>
          <a:xfrm>
            <a:off x="2289810" y="3014663"/>
            <a:ext cx="228600" cy="48578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17" name="FIG2_MICRO__DENSE_GRAPH__238__EDGE_4">
            <a:extLst>
              <a:ext uri="{FF2B5EF4-FFF2-40B4-BE49-F238E27FC236}">
                <a16:creationId xmlns:a16="http://schemas.microsoft.com/office/drawing/2014/main" id="{05B2E08F-F2A7-4F66-91A5-71A91D91488C}"/>
              </a:ext>
            </a:extLst>
          </p:cNvPr>
          <p:cNvSpPr>
            <a:spLocks noGrp="1"/>
          </p:cNvSpPr>
          <p:nvPr/>
        </p:nvSpPr>
        <p:spPr>
          <a:xfrm>
            <a:off x="2289810" y="3014663"/>
            <a:ext cx="125730" cy="94297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18" name="FIG2_MICRO__DENSE_GRAPH__239__EDGE_5">
            <a:extLst>
              <a:ext uri="{FF2B5EF4-FFF2-40B4-BE49-F238E27FC236}">
                <a16:creationId xmlns:a16="http://schemas.microsoft.com/office/drawing/2014/main" id="{D255145B-6776-41F4-872A-408ED8E5F7AF}"/>
              </a:ext>
            </a:extLst>
          </p:cNvPr>
          <p:cNvSpPr>
            <a:spLocks noGrp="1"/>
          </p:cNvSpPr>
          <p:nvPr/>
        </p:nvSpPr>
        <p:spPr>
          <a:xfrm>
            <a:off x="2346960" y="2880360"/>
            <a:ext cx="62865" cy="62865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19" name="FIG2_MICRO__DENSE_GRAPH__240__EDGE_6">
            <a:extLst>
              <a:ext uri="{FF2B5EF4-FFF2-40B4-BE49-F238E27FC236}">
                <a16:creationId xmlns:a16="http://schemas.microsoft.com/office/drawing/2014/main" id="{F2AC2B61-5E1E-4210-B960-4A4297BFC30D}"/>
              </a:ext>
            </a:extLst>
          </p:cNvPr>
          <p:cNvSpPr>
            <a:spLocks noGrp="1"/>
          </p:cNvSpPr>
          <p:nvPr/>
        </p:nvSpPr>
        <p:spPr>
          <a:xfrm>
            <a:off x="2346960" y="2880360"/>
            <a:ext cx="142875" cy="11430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20" name="FIG2_MICRO__DENSE_GRAPH__241__EDGE_7">
            <a:extLst>
              <a:ext uri="{FF2B5EF4-FFF2-40B4-BE49-F238E27FC236}">
                <a16:creationId xmlns:a16="http://schemas.microsoft.com/office/drawing/2014/main" id="{C0A37B91-757E-4984-B1B7-27E9A3B1CB5B}"/>
              </a:ext>
            </a:extLst>
          </p:cNvPr>
          <p:cNvSpPr>
            <a:spLocks noGrp="1"/>
          </p:cNvSpPr>
          <p:nvPr/>
        </p:nvSpPr>
        <p:spPr>
          <a:xfrm>
            <a:off x="2346960" y="2880360"/>
            <a:ext cx="68580" cy="228600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21" name="FIG2_MICRO__DENSE_GRAPH__242__EDGE_8">
            <a:extLst>
              <a:ext uri="{FF2B5EF4-FFF2-40B4-BE49-F238E27FC236}">
                <a16:creationId xmlns:a16="http://schemas.microsoft.com/office/drawing/2014/main" id="{AEDA60A5-5678-4F4C-AD13-72A614E0C6EE}"/>
              </a:ext>
            </a:extLst>
          </p:cNvPr>
          <p:cNvSpPr>
            <a:spLocks noGrp="1"/>
          </p:cNvSpPr>
          <p:nvPr/>
        </p:nvSpPr>
        <p:spPr>
          <a:xfrm flipV="1">
            <a:off x="2409825" y="2891790"/>
            <a:ext cx="80010" cy="51435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22" name="FIG2_MICRO__DENSE_GRAPH__243__EDGE_9">
            <a:extLst>
              <a:ext uri="{FF2B5EF4-FFF2-40B4-BE49-F238E27FC236}">
                <a16:creationId xmlns:a16="http://schemas.microsoft.com/office/drawing/2014/main" id="{403361EB-FF0A-46B5-8DB3-40949FA35AAC}"/>
              </a:ext>
            </a:extLst>
          </p:cNvPr>
          <p:cNvSpPr>
            <a:spLocks noGrp="1"/>
          </p:cNvSpPr>
          <p:nvPr/>
        </p:nvSpPr>
        <p:spPr>
          <a:xfrm>
            <a:off x="2409825" y="2943225"/>
            <a:ext cx="108585" cy="120015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23" name="FIG2_MICRO__DENSE_GRAPH__244__EDGE_10">
            <a:extLst>
              <a:ext uri="{FF2B5EF4-FFF2-40B4-BE49-F238E27FC236}">
                <a16:creationId xmlns:a16="http://schemas.microsoft.com/office/drawing/2014/main" id="{0BCB2E34-1FA1-41EA-8551-A5AC0ED3935A}"/>
              </a:ext>
            </a:extLst>
          </p:cNvPr>
          <p:cNvSpPr>
            <a:spLocks noGrp="1"/>
          </p:cNvSpPr>
          <p:nvPr/>
        </p:nvSpPr>
        <p:spPr>
          <a:xfrm>
            <a:off x="2409825" y="2943225"/>
            <a:ext cx="5715" cy="165735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24" name="FIG2_MICRO__DENSE_GRAPH__245__EDGE_11">
            <a:extLst>
              <a:ext uri="{FF2B5EF4-FFF2-40B4-BE49-F238E27FC236}">
                <a16:creationId xmlns:a16="http://schemas.microsoft.com/office/drawing/2014/main" id="{E57E1134-6512-4454-8AC4-40A6913A1030}"/>
              </a:ext>
            </a:extLst>
          </p:cNvPr>
          <p:cNvSpPr>
            <a:spLocks noGrp="1"/>
          </p:cNvSpPr>
          <p:nvPr/>
        </p:nvSpPr>
        <p:spPr>
          <a:xfrm>
            <a:off x="2489835" y="2891790"/>
            <a:ext cx="28575" cy="171450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25" name="FIG2_MICRO__DENSE_GRAPH__246__EDGE_12">
            <a:extLst>
              <a:ext uri="{FF2B5EF4-FFF2-40B4-BE49-F238E27FC236}">
                <a16:creationId xmlns:a16="http://schemas.microsoft.com/office/drawing/2014/main" id="{9735CB8E-88FF-4540-88BF-0926C51ED4D6}"/>
              </a:ext>
            </a:extLst>
          </p:cNvPr>
          <p:cNvSpPr>
            <a:spLocks noGrp="1"/>
          </p:cNvSpPr>
          <p:nvPr/>
        </p:nvSpPr>
        <p:spPr>
          <a:xfrm>
            <a:off x="2415540" y="3063240"/>
            <a:ext cx="102870" cy="45720"/>
          </a:xfrm>
          <a:prstGeom prst="line">
            <a:avLst/>
          </a:prstGeom>
          <a:noFill/>
          <a:ln w="8096">
            <a:solidFill>
              <a:srgbClr val="E0823D"/>
            </a:solidFill>
            <a:prstDash val="solid"/>
          </a:ln>
        </p:spPr>
      </p:sp>
      <p:sp>
        <p:nvSpPr>
          <p:cNvPr id="726" name="FIG2_MICRO__DENSE_GRAPH__247__NODE_1">
            <a:extLst>
              <a:ext uri="{FF2B5EF4-FFF2-40B4-BE49-F238E27FC236}">
                <a16:creationId xmlns:a16="http://schemas.microsoft.com/office/drawing/2014/main" id="{F3649C5B-A9D5-4752-A4A5-EB2A402B7EE1}"/>
              </a:ext>
            </a:extLst>
          </p:cNvPr>
          <p:cNvSpPr>
            <a:spLocks noGrp="1"/>
          </p:cNvSpPr>
          <p:nvPr/>
        </p:nvSpPr>
        <p:spPr>
          <a:xfrm>
            <a:off x="2267426" y="2992279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27" name="FIG2_MICRO__DENSE_GRAPH__248__NODE_2">
            <a:extLst>
              <a:ext uri="{FF2B5EF4-FFF2-40B4-BE49-F238E27FC236}">
                <a16:creationId xmlns:a16="http://schemas.microsoft.com/office/drawing/2014/main" id="{F65B8CC8-6208-4DAE-A729-CD2F8D2DD881}"/>
              </a:ext>
            </a:extLst>
          </p:cNvPr>
          <p:cNvSpPr>
            <a:spLocks noGrp="1"/>
          </p:cNvSpPr>
          <p:nvPr/>
        </p:nvSpPr>
        <p:spPr>
          <a:xfrm>
            <a:off x="2324576" y="285797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28" name="FIG2_MICRO__DENSE_GRAPH__249__NODE_3">
            <a:extLst>
              <a:ext uri="{FF2B5EF4-FFF2-40B4-BE49-F238E27FC236}">
                <a16:creationId xmlns:a16="http://schemas.microsoft.com/office/drawing/2014/main" id="{5D4BAE89-92DC-4FBB-B693-C7398926A16F}"/>
              </a:ext>
            </a:extLst>
          </p:cNvPr>
          <p:cNvSpPr>
            <a:spLocks noGrp="1"/>
          </p:cNvSpPr>
          <p:nvPr/>
        </p:nvSpPr>
        <p:spPr>
          <a:xfrm>
            <a:off x="2387441" y="2920841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29" name="FIG2_MICRO__DENSE_GRAPH__250__NODE_4">
            <a:extLst>
              <a:ext uri="{FF2B5EF4-FFF2-40B4-BE49-F238E27FC236}">
                <a16:creationId xmlns:a16="http://schemas.microsoft.com/office/drawing/2014/main" id="{1A6DB3CC-75F4-4C0D-B05B-6E7A775D9469}"/>
              </a:ext>
            </a:extLst>
          </p:cNvPr>
          <p:cNvSpPr>
            <a:spLocks noGrp="1"/>
          </p:cNvSpPr>
          <p:nvPr/>
        </p:nvSpPr>
        <p:spPr>
          <a:xfrm>
            <a:off x="2467451" y="286940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30" name="FIG2_MICRO__DENSE_GRAPH__251__NODE_5">
            <a:extLst>
              <a:ext uri="{FF2B5EF4-FFF2-40B4-BE49-F238E27FC236}">
                <a16:creationId xmlns:a16="http://schemas.microsoft.com/office/drawing/2014/main" id="{9D15DE21-EFCD-467B-9A76-1783EAA4511E}"/>
              </a:ext>
            </a:extLst>
          </p:cNvPr>
          <p:cNvSpPr>
            <a:spLocks noGrp="1"/>
          </p:cNvSpPr>
          <p:nvPr/>
        </p:nvSpPr>
        <p:spPr>
          <a:xfrm>
            <a:off x="2496026" y="304085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31" name="FIG2_MICRO__DENSE_GRAPH__252__NODE_6">
            <a:extLst>
              <a:ext uri="{FF2B5EF4-FFF2-40B4-BE49-F238E27FC236}">
                <a16:creationId xmlns:a16="http://schemas.microsoft.com/office/drawing/2014/main" id="{7F882FB0-DDA8-41C8-9EA0-EE88B15C8612}"/>
              </a:ext>
            </a:extLst>
          </p:cNvPr>
          <p:cNvSpPr>
            <a:spLocks noGrp="1"/>
          </p:cNvSpPr>
          <p:nvPr/>
        </p:nvSpPr>
        <p:spPr>
          <a:xfrm>
            <a:off x="2393156" y="308657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32" name="FIG2_MICRO__SPARSE_GRAPH__253__EDGE_1">
            <a:extLst>
              <a:ext uri="{FF2B5EF4-FFF2-40B4-BE49-F238E27FC236}">
                <a16:creationId xmlns:a16="http://schemas.microsoft.com/office/drawing/2014/main" id="{12196FCB-CA7D-4371-823C-CD009E70F9B2}"/>
              </a:ext>
            </a:extLst>
          </p:cNvPr>
          <p:cNvSpPr>
            <a:spLocks noGrp="1"/>
          </p:cNvSpPr>
          <p:nvPr/>
        </p:nvSpPr>
        <p:spPr>
          <a:xfrm flipV="1">
            <a:off x="2804922" y="2943225"/>
            <a:ext cx="124015" cy="71438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33" name="FIG2_MICRO__SPARSE_GRAPH__254__EDGE_2">
            <a:extLst>
              <a:ext uri="{FF2B5EF4-FFF2-40B4-BE49-F238E27FC236}">
                <a16:creationId xmlns:a16="http://schemas.microsoft.com/office/drawing/2014/main" id="{15BDFA1E-BA41-4296-92ED-C5E5AA0640D9}"/>
              </a:ext>
            </a:extLst>
          </p:cNvPr>
          <p:cNvSpPr>
            <a:spLocks noGrp="1"/>
          </p:cNvSpPr>
          <p:nvPr/>
        </p:nvSpPr>
        <p:spPr>
          <a:xfrm>
            <a:off x="2804922" y="3014663"/>
            <a:ext cx="129921" cy="94297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34" name="FIG2_MICRO__SPARSE_GRAPH__255__EDGE_3">
            <a:extLst>
              <a:ext uri="{FF2B5EF4-FFF2-40B4-BE49-F238E27FC236}">
                <a16:creationId xmlns:a16="http://schemas.microsoft.com/office/drawing/2014/main" id="{67900921-F2EC-48DF-892C-7E245BAD0656}"/>
              </a:ext>
            </a:extLst>
          </p:cNvPr>
          <p:cNvSpPr>
            <a:spLocks noGrp="1"/>
          </p:cNvSpPr>
          <p:nvPr/>
        </p:nvSpPr>
        <p:spPr>
          <a:xfrm>
            <a:off x="2863977" y="2880360"/>
            <a:ext cx="64960" cy="62865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35" name="FIG2_MICRO__SPARSE_GRAPH__256__EDGE_4">
            <a:extLst>
              <a:ext uri="{FF2B5EF4-FFF2-40B4-BE49-F238E27FC236}">
                <a16:creationId xmlns:a16="http://schemas.microsoft.com/office/drawing/2014/main" id="{4602C64C-C7D7-4CD7-B074-4E3BE8FC25AD}"/>
              </a:ext>
            </a:extLst>
          </p:cNvPr>
          <p:cNvSpPr>
            <a:spLocks noGrp="1"/>
          </p:cNvSpPr>
          <p:nvPr/>
        </p:nvSpPr>
        <p:spPr>
          <a:xfrm>
            <a:off x="2863977" y="2880360"/>
            <a:ext cx="147638" cy="11430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36" name="FIG2_MICRO__SPARSE_GRAPH__257__EDGE_5">
            <a:extLst>
              <a:ext uri="{FF2B5EF4-FFF2-40B4-BE49-F238E27FC236}">
                <a16:creationId xmlns:a16="http://schemas.microsoft.com/office/drawing/2014/main" id="{0BEDCBC9-508A-4043-9A43-ED0FE8C7CAF9}"/>
              </a:ext>
            </a:extLst>
          </p:cNvPr>
          <p:cNvSpPr>
            <a:spLocks noGrp="1"/>
          </p:cNvSpPr>
          <p:nvPr/>
        </p:nvSpPr>
        <p:spPr>
          <a:xfrm>
            <a:off x="2928938" y="2943225"/>
            <a:ext cx="112204" cy="120015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37" name="FIG2_MICRO__SPARSE_GRAPH__258__EDGE_6">
            <a:extLst>
              <a:ext uri="{FF2B5EF4-FFF2-40B4-BE49-F238E27FC236}">
                <a16:creationId xmlns:a16="http://schemas.microsoft.com/office/drawing/2014/main" id="{068229ED-B79A-4791-8B2A-99C46076142D}"/>
              </a:ext>
            </a:extLst>
          </p:cNvPr>
          <p:cNvSpPr>
            <a:spLocks noGrp="1"/>
          </p:cNvSpPr>
          <p:nvPr/>
        </p:nvSpPr>
        <p:spPr>
          <a:xfrm>
            <a:off x="2928938" y="2943225"/>
            <a:ext cx="5906" cy="165735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38" name="FIG2_MICRO__SPARSE_GRAPH__259__EDGE_7">
            <a:extLst>
              <a:ext uri="{FF2B5EF4-FFF2-40B4-BE49-F238E27FC236}">
                <a16:creationId xmlns:a16="http://schemas.microsoft.com/office/drawing/2014/main" id="{B1599EB3-2FC8-4D97-8AED-094C17F07D02}"/>
              </a:ext>
            </a:extLst>
          </p:cNvPr>
          <p:cNvSpPr>
            <a:spLocks noGrp="1"/>
          </p:cNvSpPr>
          <p:nvPr/>
        </p:nvSpPr>
        <p:spPr>
          <a:xfrm>
            <a:off x="3011615" y="2891790"/>
            <a:ext cx="29527" cy="171450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39" name="FIG2_MICRO__SPARSE_GRAPH__260__EDGE_8">
            <a:extLst>
              <a:ext uri="{FF2B5EF4-FFF2-40B4-BE49-F238E27FC236}">
                <a16:creationId xmlns:a16="http://schemas.microsoft.com/office/drawing/2014/main" id="{811E82D5-4474-4D86-A46D-53876AA28BA2}"/>
              </a:ext>
            </a:extLst>
          </p:cNvPr>
          <p:cNvSpPr>
            <a:spLocks noGrp="1"/>
          </p:cNvSpPr>
          <p:nvPr/>
        </p:nvSpPr>
        <p:spPr>
          <a:xfrm>
            <a:off x="2934843" y="3063240"/>
            <a:ext cx="106299" cy="45720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40" name="FIG2_MICRO__SPARSE_GRAPH__261__NODE_1">
            <a:extLst>
              <a:ext uri="{FF2B5EF4-FFF2-40B4-BE49-F238E27FC236}">
                <a16:creationId xmlns:a16="http://schemas.microsoft.com/office/drawing/2014/main" id="{3B131568-921B-4E1B-B4A5-B35073D3DA9C}"/>
              </a:ext>
            </a:extLst>
          </p:cNvPr>
          <p:cNvSpPr>
            <a:spLocks noGrp="1"/>
          </p:cNvSpPr>
          <p:nvPr/>
        </p:nvSpPr>
        <p:spPr>
          <a:xfrm>
            <a:off x="2782538" y="2992279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41" name="FIG2_MICRO__SPARSE_GRAPH__262__NODE_2">
            <a:extLst>
              <a:ext uri="{FF2B5EF4-FFF2-40B4-BE49-F238E27FC236}">
                <a16:creationId xmlns:a16="http://schemas.microsoft.com/office/drawing/2014/main" id="{33859319-D2DD-4835-8113-CE7D425AFD53}"/>
              </a:ext>
            </a:extLst>
          </p:cNvPr>
          <p:cNvSpPr>
            <a:spLocks noGrp="1"/>
          </p:cNvSpPr>
          <p:nvPr/>
        </p:nvSpPr>
        <p:spPr>
          <a:xfrm>
            <a:off x="2841593" y="285797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42" name="FIG2_MICRO__SPARSE_GRAPH__263__NODE_3">
            <a:extLst>
              <a:ext uri="{FF2B5EF4-FFF2-40B4-BE49-F238E27FC236}">
                <a16:creationId xmlns:a16="http://schemas.microsoft.com/office/drawing/2014/main" id="{93338B41-C8AA-4027-9A1A-23DD3AB770F9}"/>
              </a:ext>
            </a:extLst>
          </p:cNvPr>
          <p:cNvSpPr>
            <a:spLocks noGrp="1"/>
          </p:cNvSpPr>
          <p:nvPr/>
        </p:nvSpPr>
        <p:spPr>
          <a:xfrm>
            <a:off x="2906554" y="2920841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43" name="FIG2_MICRO__SPARSE_GRAPH__264__NODE_4">
            <a:extLst>
              <a:ext uri="{FF2B5EF4-FFF2-40B4-BE49-F238E27FC236}">
                <a16:creationId xmlns:a16="http://schemas.microsoft.com/office/drawing/2014/main" id="{5D799EB7-9FE4-41D6-B30A-7F91C5C54529}"/>
              </a:ext>
            </a:extLst>
          </p:cNvPr>
          <p:cNvSpPr>
            <a:spLocks noGrp="1"/>
          </p:cNvSpPr>
          <p:nvPr/>
        </p:nvSpPr>
        <p:spPr>
          <a:xfrm>
            <a:off x="2989231" y="286940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44" name="FIG2_MICRO__SPARSE_GRAPH__265__NODE_5">
            <a:extLst>
              <a:ext uri="{FF2B5EF4-FFF2-40B4-BE49-F238E27FC236}">
                <a16:creationId xmlns:a16="http://schemas.microsoft.com/office/drawing/2014/main" id="{0C7A0375-37AF-4488-BD50-9556D909A6BB}"/>
              </a:ext>
            </a:extLst>
          </p:cNvPr>
          <p:cNvSpPr>
            <a:spLocks noGrp="1"/>
          </p:cNvSpPr>
          <p:nvPr/>
        </p:nvSpPr>
        <p:spPr>
          <a:xfrm>
            <a:off x="3018758" y="304085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45" name="FIG2_MICRO__SPARSE_GRAPH__266__NODE_6">
            <a:extLst>
              <a:ext uri="{FF2B5EF4-FFF2-40B4-BE49-F238E27FC236}">
                <a16:creationId xmlns:a16="http://schemas.microsoft.com/office/drawing/2014/main" id="{A81DC783-2C73-4C77-B5E6-5CCC7324885C}"/>
              </a:ext>
            </a:extLst>
          </p:cNvPr>
          <p:cNvSpPr>
            <a:spLocks noGrp="1"/>
          </p:cNvSpPr>
          <p:nvPr/>
        </p:nvSpPr>
        <p:spPr>
          <a:xfrm>
            <a:off x="2912459" y="3086576"/>
            <a:ext cx="44768" cy="447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46" name="FIG2_MICRO__267__K_LABEL">
            <a:extLst>
              <a:ext uri="{FF2B5EF4-FFF2-40B4-BE49-F238E27FC236}">
                <a16:creationId xmlns:a16="http://schemas.microsoft.com/office/drawing/2014/main" id="{9506276B-E6E1-4E4C-B211-D72B0C66D324}"/>
              </a:ext>
            </a:extLst>
          </p:cNvPr>
          <p:cNvSpPr>
            <a:spLocks noGrp="1"/>
          </p:cNvSpPr>
          <p:nvPr/>
        </p:nvSpPr>
        <p:spPr>
          <a:xfrm>
            <a:off x="2286000" y="2657475"/>
            <a:ext cx="361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K = 5</a:t>
            </a:r>
          </a:p>
        </p:txBody>
      </p:sp>
      <p:sp>
        <p:nvSpPr>
          <p:cNvPr id="747" name="FIG2_MICRO__268__SPARSE_LABEL">
            <a:extLst>
              <a:ext uri="{FF2B5EF4-FFF2-40B4-BE49-F238E27FC236}">
                <a16:creationId xmlns:a16="http://schemas.microsoft.com/office/drawing/2014/main" id="{A3C27B04-4FEF-41EC-BE16-181B2EE9BE45}"/>
              </a:ext>
            </a:extLst>
          </p:cNvPr>
          <p:cNvSpPr>
            <a:spLocks noGrp="1"/>
          </p:cNvSpPr>
          <p:nvPr/>
        </p:nvSpPr>
        <p:spPr>
          <a:xfrm>
            <a:off x="2647950" y="3260356"/>
            <a:ext cx="87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Sparse Local-</a:t>
            </a:r>
          </a:p>
          <a:p>
            <a:pPr algn="ctr">
              <a:def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Change Graph</a:t>
            </a:r>
          </a:p>
        </p:txBody>
      </p:sp>
      <p:sp>
        <p:nvSpPr>
          <p:cNvPr id="748" name="FIG2_MICRO__269__TOPK_ANNOTATION">
            <a:extLst>
              <a:ext uri="{FF2B5EF4-FFF2-40B4-BE49-F238E27FC236}">
                <a16:creationId xmlns:a16="http://schemas.microsoft.com/office/drawing/2014/main" id="{E830AC5D-DF8D-4DE8-8BE4-3B6EAB2C822D}"/>
              </a:ext>
            </a:extLst>
          </p:cNvPr>
          <p:cNvSpPr>
            <a:spLocks noGrp="1"/>
          </p:cNvSpPr>
          <p:nvPr/>
        </p:nvSpPr>
        <p:spPr>
          <a:xfrm>
            <a:off x="1924050" y="3600450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dirty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Top-K + row</a:t>
            </a:r>
          </a:p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dirty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normalization</a:t>
            </a:r>
          </a:p>
        </p:txBody>
      </p:sp>
      <p:sp>
        <p:nvSpPr>
          <p:cNvPr id="749" name="FIG2_MICRO__270__SEMANTIC_WEIGHT">
            <a:extLst>
              <a:ext uri="{FF2B5EF4-FFF2-40B4-BE49-F238E27FC236}">
                <a16:creationId xmlns:a16="http://schemas.microsoft.com/office/drawing/2014/main" id="{7FF7A358-7A12-4B8B-8A80-91E05AA6FE2C}"/>
              </a:ext>
            </a:extLst>
          </p:cNvPr>
          <p:cNvSpPr>
            <a:spLocks noGrp="1"/>
          </p:cNvSpPr>
          <p:nvPr/>
        </p:nvSpPr>
        <p:spPr>
          <a:xfrm>
            <a:off x="3276600" y="2790825"/>
            <a:ext cx="266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750" name="FIG2_MICRO_FUSION__271__FUSION_SIGMA">
            <a:extLst>
              <a:ext uri="{FF2B5EF4-FFF2-40B4-BE49-F238E27FC236}">
                <a16:creationId xmlns:a16="http://schemas.microsoft.com/office/drawing/2014/main" id="{A064E7F0-8B2F-40E6-ADE1-84154BB17BD6}"/>
              </a:ext>
            </a:extLst>
          </p:cNvPr>
          <p:cNvSpPr>
            <a:spLocks noGrp="1"/>
          </p:cNvSpPr>
          <p:nvPr/>
        </p:nvSpPr>
        <p:spPr>
          <a:xfrm>
            <a:off x="3957638" y="2881313"/>
            <a:ext cx="238125" cy="238125"/>
          </a:xfrm>
          <a:prstGeom prst="ellipse">
            <a:avLst/>
          </a:prstGeom>
          <a:solidFill>
            <a:srgbClr val="FFFFFF"/>
          </a:solidFill>
          <a:ln w="13811">
            <a:solidFill>
              <a:srgbClr val="E0823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751" name="FIG2_MICRO_FUSION__272__FUSION_LABEL">
            <a:extLst>
              <a:ext uri="{FF2B5EF4-FFF2-40B4-BE49-F238E27FC236}">
                <a16:creationId xmlns:a16="http://schemas.microsoft.com/office/drawing/2014/main" id="{A1C697CC-D3D2-4B34-8C70-D40941DF9A95}"/>
              </a:ext>
            </a:extLst>
          </p:cNvPr>
          <p:cNvSpPr>
            <a:spLocks noGrp="1"/>
          </p:cNvSpPr>
          <p:nvPr/>
        </p:nvSpPr>
        <p:spPr>
          <a:xfrm>
            <a:off x="4048125" y="245745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Prior fusion</a:t>
            </a:r>
          </a:p>
        </p:txBody>
      </p:sp>
      <p:sp>
        <p:nvSpPr>
          <p:cNvPr id="752" name="FIG2_MICRO__PRIOR_GRAPH__273__EDGE_1">
            <a:extLst>
              <a:ext uri="{FF2B5EF4-FFF2-40B4-BE49-F238E27FC236}">
                <a16:creationId xmlns:a16="http://schemas.microsoft.com/office/drawing/2014/main" id="{203521C7-EEEA-43D8-88C6-DFCA9837E0BB}"/>
              </a:ext>
            </a:extLst>
          </p:cNvPr>
          <p:cNvSpPr>
            <a:spLocks noGrp="1"/>
          </p:cNvSpPr>
          <p:nvPr/>
        </p:nvSpPr>
        <p:spPr>
          <a:xfrm flipV="1">
            <a:off x="4341876" y="2920365"/>
            <a:ext cx="192024" cy="100013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53" name="FIG2_MICRO__PRIOR_GRAPH__274__EDGE_2">
            <a:extLst>
              <a:ext uri="{FF2B5EF4-FFF2-40B4-BE49-F238E27FC236}">
                <a16:creationId xmlns:a16="http://schemas.microsoft.com/office/drawing/2014/main" id="{0F431C6C-867B-4510-BAB9-677B3E513EF9}"/>
              </a:ext>
            </a:extLst>
          </p:cNvPr>
          <p:cNvSpPr>
            <a:spLocks noGrp="1"/>
          </p:cNvSpPr>
          <p:nvPr/>
        </p:nvSpPr>
        <p:spPr>
          <a:xfrm>
            <a:off x="4341876" y="3020378"/>
            <a:ext cx="201168" cy="132016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54" name="FIG2_MICRO__PRIOR_GRAPH__275__EDGE_3">
            <a:extLst>
              <a:ext uri="{FF2B5EF4-FFF2-40B4-BE49-F238E27FC236}">
                <a16:creationId xmlns:a16="http://schemas.microsoft.com/office/drawing/2014/main" id="{9CDA449E-E27A-4A38-94E2-0584B04C4353}"/>
              </a:ext>
            </a:extLst>
          </p:cNvPr>
          <p:cNvSpPr>
            <a:spLocks noGrp="1"/>
          </p:cNvSpPr>
          <p:nvPr/>
        </p:nvSpPr>
        <p:spPr>
          <a:xfrm>
            <a:off x="4433316" y="2832354"/>
            <a:ext cx="100584" cy="88011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55" name="FIG2_MICRO__PRIOR_GRAPH__276__EDGE_4">
            <a:extLst>
              <a:ext uri="{FF2B5EF4-FFF2-40B4-BE49-F238E27FC236}">
                <a16:creationId xmlns:a16="http://schemas.microsoft.com/office/drawing/2014/main" id="{B03BA628-B46C-4FC7-8C43-4F8A22A7DEA0}"/>
              </a:ext>
            </a:extLst>
          </p:cNvPr>
          <p:cNvSpPr>
            <a:spLocks noGrp="1"/>
          </p:cNvSpPr>
          <p:nvPr/>
        </p:nvSpPr>
        <p:spPr>
          <a:xfrm>
            <a:off x="4433316" y="2832354"/>
            <a:ext cx="228600" cy="16002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56" name="FIG2_MICRO__PRIOR_GRAPH__277__EDGE_5">
            <a:extLst>
              <a:ext uri="{FF2B5EF4-FFF2-40B4-BE49-F238E27FC236}">
                <a16:creationId xmlns:a16="http://schemas.microsoft.com/office/drawing/2014/main" id="{190C4A02-1ADD-47FC-AD19-B449FB193622}"/>
              </a:ext>
            </a:extLst>
          </p:cNvPr>
          <p:cNvSpPr>
            <a:spLocks noGrp="1"/>
          </p:cNvSpPr>
          <p:nvPr/>
        </p:nvSpPr>
        <p:spPr>
          <a:xfrm flipV="1">
            <a:off x="4533900" y="2848356"/>
            <a:ext cx="128016" cy="72009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57" name="FIG2_MICRO__PRIOR_GRAPH__278__EDGE_6">
            <a:extLst>
              <a:ext uri="{FF2B5EF4-FFF2-40B4-BE49-F238E27FC236}">
                <a16:creationId xmlns:a16="http://schemas.microsoft.com/office/drawing/2014/main" id="{7231D2DC-69EA-490D-A406-93B33CF04680}"/>
              </a:ext>
            </a:extLst>
          </p:cNvPr>
          <p:cNvSpPr>
            <a:spLocks noGrp="1"/>
          </p:cNvSpPr>
          <p:nvPr/>
        </p:nvSpPr>
        <p:spPr>
          <a:xfrm>
            <a:off x="4533900" y="2920365"/>
            <a:ext cx="173736" cy="168021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58" name="FIG2_MICRO__PRIOR_GRAPH__279__EDGE_7">
            <a:extLst>
              <a:ext uri="{FF2B5EF4-FFF2-40B4-BE49-F238E27FC236}">
                <a16:creationId xmlns:a16="http://schemas.microsoft.com/office/drawing/2014/main" id="{4FE8B6F8-C425-4B15-8A8C-7462AA44CA1B}"/>
              </a:ext>
            </a:extLst>
          </p:cNvPr>
          <p:cNvSpPr>
            <a:spLocks noGrp="1"/>
          </p:cNvSpPr>
          <p:nvPr/>
        </p:nvSpPr>
        <p:spPr>
          <a:xfrm>
            <a:off x="4533900" y="2920365"/>
            <a:ext cx="9144" cy="232029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59" name="FIG2_MICRO__PRIOR_GRAPH__280__EDGE_8">
            <a:extLst>
              <a:ext uri="{FF2B5EF4-FFF2-40B4-BE49-F238E27FC236}">
                <a16:creationId xmlns:a16="http://schemas.microsoft.com/office/drawing/2014/main" id="{2CCC69E6-1A0C-46B9-AB2D-A0E4CBBFE6B4}"/>
              </a:ext>
            </a:extLst>
          </p:cNvPr>
          <p:cNvSpPr>
            <a:spLocks noGrp="1"/>
          </p:cNvSpPr>
          <p:nvPr/>
        </p:nvSpPr>
        <p:spPr>
          <a:xfrm>
            <a:off x="4661916" y="2848356"/>
            <a:ext cx="45720" cy="240030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60" name="FIG2_MICRO__PRIOR_GRAPH__281__EDGE_9">
            <a:extLst>
              <a:ext uri="{FF2B5EF4-FFF2-40B4-BE49-F238E27FC236}">
                <a16:creationId xmlns:a16="http://schemas.microsoft.com/office/drawing/2014/main" id="{AE9E7DEF-E757-4FA7-9E2A-AE4D559BFBC1}"/>
              </a:ext>
            </a:extLst>
          </p:cNvPr>
          <p:cNvSpPr>
            <a:spLocks noGrp="1"/>
          </p:cNvSpPr>
          <p:nvPr/>
        </p:nvSpPr>
        <p:spPr>
          <a:xfrm>
            <a:off x="4543044" y="3088386"/>
            <a:ext cx="164592" cy="64008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761" name="FIG2_MICRO__PRIOR_GRAPH__282__NODE_1">
            <a:extLst>
              <a:ext uri="{FF2B5EF4-FFF2-40B4-BE49-F238E27FC236}">
                <a16:creationId xmlns:a16="http://schemas.microsoft.com/office/drawing/2014/main" id="{7A7C8D8E-D3E8-4ECD-95E7-BBB18F32D06A}"/>
              </a:ext>
            </a:extLst>
          </p:cNvPr>
          <p:cNvSpPr>
            <a:spLocks noGrp="1"/>
          </p:cNvSpPr>
          <p:nvPr/>
        </p:nvSpPr>
        <p:spPr>
          <a:xfrm>
            <a:off x="4313301" y="2991803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62" name="FIG2_MICRO__PRIOR_GRAPH__283__NODE_2">
            <a:extLst>
              <a:ext uri="{FF2B5EF4-FFF2-40B4-BE49-F238E27FC236}">
                <a16:creationId xmlns:a16="http://schemas.microsoft.com/office/drawing/2014/main" id="{BC274609-52D1-4DFF-B164-AFC144A66FFF}"/>
              </a:ext>
            </a:extLst>
          </p:cNvPr>
          <p:cNvSpPr>
            <a:spLocks noGrp="1"/>
          </p:cNvSpPr>
          <p:nvPr/>
        </p:nvSpPr>
        <p:spPr>
          <a:xfrm>
            <a:off x="4404741" y="2803779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63" name="FIG2_MICRO__PRIOR_GRAPH__284__NODE_3">
            <a:extLst>
              <a:ext uri="{FF2B5EF4-FFF2-40B4-BE49-F238E27FC236}">
                <a16:creationId xmlns:a16="http://schemas.microsoft.com/office/drawing/2014/main" id="{C62711B0-874E-49B7-BB89-D0EBDD49A3CE}"/>
              </a:ext>
            </a:extLst>
          </p:cNvPr>
          <p:cNvSpPr>
            <a:spLocks noGrp="1"/>
          </p:cNvSpPr>
          <p:nvPr/>
        </p:nvSpPr>
        <p:spPr>
          <a:xfrm>
            <a:off x="4505325" y="2891790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64" name="FIG2_MICRO__PRIOR_GRAPH__285__NODE_4">
            <a:extLst>
              <a:ext uri="{FF2B5EF4-FFF2-40B4-BE49-F238E27FC236}">
                <a16:creationId xmlns:a16="http://schemas.microsoft.com/office/drawing/2014/main" id="{F96DDA74-994D-4228-BC4C-64AF98788CA6}"/>
              </a:ext>
            </a:extLst>
          </p:cNvPr>
          <p:cNvSpPr>
            <a:spLocks noGrp="1"/>
          </p:cNvSpPr>
          <p:nvPr/>
        </p:nvSpPr>
        <p:spPr>
          <a:xfrm>
            <a:off x="4633341" y="2819781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65" name="FIG2_MICRO__PRIOR_GRAPH__286__NODE_5">
            <a:extLst>
              <a:ext uri="{FF2B5EF4-FFF2-40B4-BE49-F238E27FC236}">
                <a16:creationId xmlns:a16="http://schemas.microsoft.com/office/drawing/2014/main" id="{3C33CAF3-5EF8-4C9F-A71B-6DABE4119988}"/>
              </a:ext>
            </a:extLst>
          </p:cNvPr>
          <p:cNvSpPr>
            <a:spLocks noGrp="1"/>
          </p:cNvSpPr>
          <p:nvPr/>
        </p:nvSpPr>
        <p:spPr>
          <a:xfrm>
            <a:off x="4679061" y="3059811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66" name="FIG2_MICRO__PRIOR_GRAPH__287__NODE_6">
            <a:extLst>
              <a:ext uri="{FF2B5EF4-FFF2-40B4-BE49-F238E27FC236}">
                <a16:creationId xmlns:a16="http://schemas.microsoft.com/office/drawing/2014/main" id="{BA46F0F0-8C27-4704-A4F9-4FA6FFE3BD01}"/>
              </a:ext>
            </a:extLst>
          </p:cNvPr>
          <p:cNvSpPr>
            <a:spLocks noGrp="1"/>
          </p:cNvSpPr>
          <p:nvPr/>
        </p:nvSpPr>
        <p:spPr>
          <a:xfrm>
            <a:off x="4514469" y="3123819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67" name="FIG2_MICRO__288__PRIOR_LABEL">
            <a:extLst>
              <a:ext uri="{FF2B5EF4-FFF2-40B4-BE49-F238E27FC236}">
                <a16:creationId xmlns:a16="http://schemas.microsoft.com/office/drawing/2014/main" id="{9C2BC1B0-8E82-4E82-AD26-CB81D407DE50}"/>
              </a:ext>
            </a:extLst>
          </p:cNvPr>
          <p:cNvSpPr>
            <a:spLocks noGrp="1"/>
          </p:cNvSpPr>
          <p:nvPr/>
        </p:nvSpPr>
        <p:spPr>
          <a:xfrm>
            <a:off x="4238625" y="322897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Micro Prior</a:t>
            </a:r>
          </a:p>
        </p:txBody>
      </p:sp>
      <p:sp>
        <p:nvSpPr>
          <p:cNvPr id="768" name="FIG2_MICRO_ADAPTIVE__289__EMBED_HEADING">
            <a:extLst>
              <a:ext uri="{FF2B5EF4-FFF2-40B4-BE49-F238E27FC236}">
                <a16:creationId xmlns:a16="http://schemas.microsoft.com/office/drawing/2014/main" id="{32670A87-A304-4E82-AA0B-742F8C20A019}"/>
              </a:ext>
            </a:extLst>
          </p:cNvPr>
          <p:cNvSpPr>
            <a:spLocks noGrp="1"/>
          </p:cNvSpPr>
          <p:nvPr/>
        </p:nvSpPr>
        <p:spPr>
          <a:xfrm>
            <a:off x="4572000" y="2638425"/>
            <a:ext cx="16002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Learnable Node Embeddings</a:t>
            </a:r>
          </a:p>
        </p:txBody>
      </p:sp>
      <p:sp>
        <p:nvSpPr>
          <p:cNvPr id="769" name="FIG2_MICRO_ADAPTIVE__290__E1_LABEL">
            <a:extLst>
              <a:ext uri="{FF2B5EF4-FFF2-40B4-BE49-F238E27FC236}">
                <a16:creationId xmlns:a16="http://schemas.microsoft.com/office/drawing/2014/main" id="{5EAB1505-E700-410B-9365-43CB2FA8E1E2}"/>
              </a:ext>
            </a:extLst>
          </p:cNvPr>
          <p:cNvSpPr>
            <a:spLocks noGrp="1"/>
          </p:cNvSpPr>
          <p:nvPr/>
        </p:nvSpPr>
        <p:spPr>
          <a:xfrm>
            <a:off x="4876800" y="2800350"/>
            <a:ext cx="2476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E₁ᵘ</a:t>
            </a:r>
          </a:p>
        </p:txBody>
      </p:sp>
      <p:sp>
        <p:nvSpPr>
          <p:cNvPr id="770" name="FIG2_MICRO_ADAPTIVE__291__E2_LABEL">
            <a:extLst>
              <a:ext uri="{FF2B5EF4-FFF2-40B4-BE49-F238E27FC236}">
                <a16:creationId xmlns:a16="http://schemas.microsoft.com/office/drawing/2014/main" id="{AE3BA72C-3F70-4DAC-AB53-4FBFA8FB0423}"/>
              </a:ext>
            </a:extLst>
          </p:cNvPr>
          <p:cNvSpPr>
            <a:spLocks noGrp="1"/>
          </p:cNvSpPr>
          <p:nvPr/>
        </p:nvSpPr>
        <p:spPr>
          <a:xfrm>
            <a:off x="4876800" y="2895600"/>
            <a:ext cx="2476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E₂ᵘ</a:t>
            </a:r>
          </a:p>
        </p:txBody>
      </p:sp>
      <p:sp>
        <p:nvSpPr>
          <p:cNvPr id="771" name="FIG2_MICRO_ADAPTIVE__292__EMBED_1_1">
            <a:extLst>
              <a:ext uri="{FF2B5EF4-FFF2-40B4-BE49-F238E27FC236}">
                <a16:creationId xmlns:a16="http://schemas.microsoft.com/office/drawing/2014/main" id="{90C71AD4-DC30-488D-8609-CC5676B9C3D6}"/>
              </a:ext>
            </a:extLst>
          </p:cNvPr>
          <p:cNvSpPr>
            <a:spLocks noGrp="1"/>
          </p:cNvSpPr>
          <p:nvPr/>
        </p:nvSpPr>
        <p:spPr>
          <a:xfrm>
            <a:off x="5143500" y="2814638"/>
            <a:ext cx="52388" cy="61913"/>
          </a:xfrm>
          <a:prstGeom prst="rect">
            <a:avLst/>
          </a:prstGeom>
          <a:solidFill>
            <a:srgbClr val="E0823D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72" name="FIG2_MICRO_ADAPTIVE__293__EMBED_1_2">
            <a:extLst>
              <a:ext uri="{FF2B5EF4-FFF2-40B4-BE49-F238E27FC236}">
                <a16:creationId xmlns:a16="http://schemas.microsoft.com/office/drawing/2014/main" id="{8675CE06-2056-4BEC-8AAE-264BE4102816}"/>
              </a:ext>
            </a:extLst>
          </p:cNvPr>
          <p:cNvSpPr>
            <a:spLocks noGrp="1"/>
          </p:cNvSpPr>
          <p:nvPr/>
        </p:nvSpPr>
        <p:spPr>
          <a:xfrm>
            <a:off x="5210175" y="2814638"/>
            <a:ext cx="52388" cy="61913"/>
          </a:xfrm>
          <a:prstGeom prst="rect">
            <a:avLst/>
          </a:prstGeom>
          <a:solidFill>
            <a:srgbClr val="FFFFFF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73" name="FIG2_MICRO_ADAPTIVE__294__EMBED_1_3">
            <a:extLst>
              <a:ext uri="{FF2B5EF4-FFF2-40B4-BE49-F238E27FC236}">
                <a16:creationId xmlns:a16="http://schemas.microsoft.com/office/drawing/2014/main" id="{2E6A969E-1B44-4A36-A0E1-BD659D5F39D2}"/>
              </a:ext>
            </a:extLst>
          </p:cNvPr>
          <p:cNvSpPr>
            <a:spLocks noGrp="1"/>
          </p:cNvSpPr>
          <p:nvPr/>
        </p:nvSpPr>
        <p:spPr>
          <a:xfrm>
            <a:off x="5276850" y="2814638"/>
            <a:ext cx="52388" cy="61913"/>
          </a:xfrm>
          <a:prstGeom prst="rect">
            <a:avLst/>
          </a:prstGeom>
          <a:solidFill>
            <a:srgbClr val="E0823D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74" name="FIG2_MICRO_ADAPTIVE__295__EMBED_1_4">
            <a:extLst>
              <a:ext uri="{FF2B5EF4-FFF2-40B4-BE49-F238E27FC236}">
                <a16:creationId xmlns:a16="http://schemas.microsoft.com/office/drawing/2014/main" id="{434D282E-D5AA-4287-B3BF-51225404E50E}"/>
              </a:ext>
            </a:extLst>
          </p:cNvPr>
          <p:cNvSpPr>
            <a:spLocks noGrp="1"/>
          </p:cNvSpPr>
          <p:nvPr/>
        </p:nvSpPr>
        <p:spPr>
          <a:xfrm>
            <a:off x="5343525" y="2814638"/>
            <a:ext cx="52388" cy="61913"/>
          </a:xfrm>
          <a:prstGeom prst="rect">
            <a:avLst/>
          </a:prstGeom>
          <a:solidFill>
            <a:srgbClr val="FFFFFF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75" name="FIG2_MICRO_ADAPTIVE__296__EMBED_1_5">
            <a:extLst>
              <a:ext uri="{FF2B5EF4-FFF2-40B4-BE49-F238E27FC236}">
                <a16:creationId xmlns:a16="http://schemas.microsoft.com/office/drawing/2014/main" id="{0ED39B18-7741-4E8B-8865-34DAA0C570FA}"/>
              </a:ext>
            </a:extLst>
          </p:cNvPr>
          <p:cNvSpPr>
            <a:spLocks noGrp="1"/>
          </p:cNvSpPr>
          <p:nvPr/>
        </p:nvSpPr>
        <p:spPr>
          <a:xfrm>
            <a:off x="5410200" y="2814638"/>
            <a:ext cx="52388" cy="61913"/>
          </a:xfrm>
          <a:prstGeom prst="rect">
            <a:avLst/>
          </a:prstGeom>
          <a:solidFill>
            <a:srgbClr val="E0823D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76" name="FIG2_MICRO_ADAPTIVE__297__EMBED_2_1">
            <a:extLst>
              <a:ext uri="{FF2B5EF4-FFF2-40B4-BE49-F238E27FC236}">
                <a16:creationId xmlns:a16="http://schemas.microsoft.com/office/drawing/2014/main" id="{CB997C5A-8174-4F45-9E42-1C025D5F73A6}"/>
              </a:ext>
            </a:extLst>
          </p:cNvPr>
          <p:cNvSpPr>
            <a:spLocks noGrp="1"/>
          </p:cNvSpPr>
          <p:nvPr/>
        </p:nvSpPr>
        <p:spPr>
          <a:xfrm>
            <a:off x="5143500" y="2909888"/>
            <a:ext cx="52388" cy="61913"/>
          </a:xfrm>
          <a:prstGeom prst="rect">
            <a:avLst/>
          </a:prstGeom>
          <a:solidFill>
            <a:srgbClr val="E0823D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77" name="FIG2_MICRO_ADAPTIVE__298__EMBED_2_2">
            <a:extLst>
              <a:ext uri="{FF2B5EF4-FFF2-40B4-BE49-F238E27FC236}">
                <a16:creationId xmlns:a16="http://schemas.microsoft.com/office/drawing/2014/main" id="{E07D2542-5450-4451-9381-81B4AFBF0D96}"/>
              </a:ext>
            </a:extLst>
          </p:cNvPr>
          <p:cNvSpPr>
            <a:spLocks noGrp="1"/>
          </p:cNvSpPr>
          <p:nvPr/>
        </p:nvSpPr>
        <p:spPr>
          <a:xfrm>
            <a:off x="5210175" y="2909888"/>
            <a:ext cx="52388" cy="61913"/>
          </a:xfrm>
          <a:prstGeom prst="rect">
            <a:avLst/>
          </a:prstGeom>
          <a:solidFill>
            <a:srgbClr val="FFFFFF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78" name="FIG2_MICRO_ADAPTIVE__299__EMBED_2_3">
            <a:extLst>
              <a:ext uri="{FF2B5EF4-FFF2-40B4-BE49-F238E27FC236}">
                <a16:creationId xmlns:a16="http://schemas.microsoft.com/office/drawing/2014/main" id="{E51BF882-8419-4810-844A-8BDD3F4B4F47}"/>
              </a:ext>
            </a:extLst>
          </p:cNvPr>
          <p:cNvSpPr>
            <a:spLocks noGrp="1"/>
          </p:cNvSpPr>
          <p:nvPr/>
        </p:nvSpPr>
        <p:spPr>
          <a:xfrm>
            <a:off x="5276850" y="2909888"/>
            <a:ext cx="52388" cy="61913"/>
          </a:xfrm>
          <a:prstGeom prst="rect">
            <a:avLst/>
          </a:prstGeom>
          <a:solidFill>
            <a:srgbClr val="E0823D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79" name="FIG2_MICRO_ADAPTIVE__300__EMBED_2_4">
            <a:extLst>
              <a:ext uri="{FF2B5EF4-FFF2-40B4-BE49-F238E27FC236}">
                <a16:creationId xmlns:a16="http://schemas.microsoft.com/office/drawing/2014/main" id="{60240529-480E-4296-899C-9C2C4AB70F40}"/>
              </a:ext>
            </a:extLst>
          </p:cNvPr>
          <p:cNvSpPr>
            <a:spLocks noGrp="1"/>
          </p:cNvSpPr>
          <p:nvPr/>
        </p:nvSpPr>
        <p:spPr>
          <a:xfrm>
            <a:off x="5343525" y="2909888"/>
            <a:ext cx="52388" cy="61913"/>
          </a:xfrm>
          <a:prstGeom prst="rect">
            <a:avLst/>
          </a:prstGeom>
          <a:solidFill>
            <a:srgbClr val="FFFFFF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80" name="FIG2_MICRO_ADAPTIVE__301__EMBED_2_5">
            <a:extLst>
              <a:ext uri="{FF2B5EF4-FFF2-40B4-BE49-F238E27FC236}">
                <a16:creationId xmlns:a16="http://schemas.microsoft.com/office/drawing/2014/main" id="{8B6238A6-7E38-402D-9904-0FA6EFA2FB8A}"/>
              </a:ext>
            </a:extLst>
          </p:cNvPr>
          <p:cNvSpPr>
            <a:spLocks noGrp="1"/>
          </p:cNvSpPr>
          <p:nvPr/>
        </p:nvSpPr>
        <p:spPr>
          <a:xfrm>
            <a:off x="5410200" y="2909888"/>
            <a:ext cx="52388" cy="61913"/>
          </a:xfrm>
          <a:prstGeom prst="rect">
            <a:avLst/>
          </a:prstGeom>
          <a:solidFill>
            <a:srgbClr val="E0823D"/>
          </a:solidFill>
          <a:ln w="7620">
            <a:solidFill>
              <a:srgbClr val="E0823D"/>
            </a:solidFill>
            <a:prstDash val="solid"/>
          </a:ln>
        </p:spPr>
      </p:sp>
      <p:sp>
        <p:nvSpPr>
          <p:cNvPr id="781" name="FIG2_MICRO_ADAPTIVE__302__DE">
            <a:extLst>
              <a:ext uri="{FF2B5EF4-FFF2-40B4-BE49-F238E27FC236}">
                <a16:creationId xmlns:a16="http://schemas.microsoft.com/office/drawing/2014/main" id="{44358270-5325-4318-B40B-D981A9E865DC}"/>
              </a:ext>
            </a:extLst>
          </p:cNvPr>
          <p:cNvSpPr>
            <a:spLocks noGrp="1"/>
          </p:cNvSpPr>
          <p:nvPr/>
        </p:nvSpPr>
        <p:spPr>
          <a:xfrm>
            <a:off x="5505450" y="2828925"/>
            <a:ext cx="4381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dₑ = 10</a:t>
            </a:r>
          </a:p>
        </p:txBody>
      </p:sp>
      <p:sp>
        <p:nvSpPr>
          <p:cNvPr id="782" name="FIG2_MICRO_ADAPTIVE__SCORE_GRAPH__303__EDGE_1">
            <a:extLst>
              <a:ext uri="{FF2B5EF4-FFF2-40B4-BE49-F238E27FC236}">
                <a16:creationId xmlns:a16="http://schemas.microsoft.com/office/drawing/2014/main" id="{791A0036-D730-4335-AFF6-9211C842E45F}"/>
              </a:ext>
            </a:extLst>
          </p:cNvPr>
          <p:cNvSpPr>
            <a:spLocks noGrp="1"/>
          </p:cNvSpPr>
          <p:nvPr/>
        </p:nvSpPr>
        <p:spPr>
          <a:xfrm flipV="1">
            <a:off x="5008626" y="3255645"/>
            <a:ext cx="192024" cy="85725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83" name="FIG2_MICRO_ADAPTIVE__SCORE_GRAPH__304__EDGE_2">
            <a:extLst>
              <a:ext uri="{FF2B5EF4-FFF2-40B4-BE49-F238E27FC236}">
                <a16:creationId xmlns:a16="http://schemas.microsoft.com/office/drawing/2014/main" id="{977C0FD1-4938-4CB5-8676-8F9015F42943}"/>
              </a:ext>
            </a:extLst>
          </p:cNvPr>
          <p:cNvSpPr>
            <a:spLocks noGrp="1"/>
          </p:cNvSpPr>
          <p:nvPr/>
        </p:nvSpPr>
        <p:spPr>
          <a:xfrm>
            <a:off x="5008626" y="3341370"/>
            <a:ext cx="201168" cy="113157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84" name="FIG2_MICRO_ADAPTIVE__SCORE_GRAPH__305__EDGE_3">
            <a:extLst>
              <a:ext uri="{FF2B5EF4-FFF2-40B4-BE49-F238E27FC236}">
                <a16:creationId xmlns:a16="http://schemas.microsoft.com/office/drawing/2014/main" id="{A69DDFED-C498-4236-AC69-B73E23595B7E}"/>
              </a:ext>
            </a:extLst>
          </p:cNvPr>
          <p:cNvSpPr>
            <a:spLocks noGrp="1"/>
          </p:cNvSpPr>
          <p:nvPr/>
        </p:nvSpPr>
        <p:spPr>
          <a:xfrm>
            <a:off x="5100066" y="3180207"/>
            <a:ext cx="100584" cy="75438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85" name="FIG2_MICRO_ADAPTIVE__SCORE_GRAPH__306__EDGE_4">
            <a:extLst>
              <a:ext uri="{FF2B5EF4-FFF2-40B4-BE49-F238E27FC236}">
                <a16:creationId xmlns:a16="http://schemas.microsoft.com/office/drawing/2014/main" id="{995ABF67-667B-4AD8-9B4D-7FA07EAE3443}"/>
              </a:ext>
            </a:extLst>
          </p:cNvPr>
          <p:cNvSpPr>
            <a:spLocks noGrp="1"/>
          </p:cNvSpPr>
          <p:nvPr/>
        </p:nvSpPr>
        <p:spPr>
          <a:xfrm>
            <a:off x="5100066" y="3180207"/>
            <a:ext cx="228600" cy="13716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86" name="FIG2_MICRO_ADAPTIVE__SCORE_GRAPH__307__EDGE_5">
            <a:extLst>
              <a:ext uri="{FF2B5EF4-FFF2-40B4-BE49-F238E27FC236}">
                <a16:creationId xmlns:a16="http://schemas.microsoft.com/office/drawing/2014/main" id="{347722A4-8F87-4ABC-8A05-026F991D5DAE}"/>
              </a:ext>
            </a:extLst>
          </p:cNvPr>
          <p:cNvSpPr>
            <a:spLocks noGrp="1"/>
          </p:cNvSpPr>
          <p:nvPr/>
        </p:nvSpPr>
        <p:spPr>
          <a:xfrm flipV="1">
            <a:off x="5200650" y="3193923"/>
            <a:ext cx="128016" cy="61722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87" name="FIG2_MICRO_ADAPTIVE__SCORE_GRAPH__308__EDGE_6">
            <a:extLst>
              <a:ext uri="{FF2B5EF4-FFF2-40B4-BE49-F238E27FC236}">
                <a16:creationId xmlns:a16="http://schemas.microsoft.com/office/drawing/2014/main" id="{EF8C20AB-E7FA-435E-A73C-92FB2A4A8215}"/>
              </a:ext>
            </a:extLst>
          </p:cNvPr>
          <p:cNvSpPr>
            <a:spLocks noGrp="1"/>
          </p:cNvSpPr>
          <p:nvPr/>
        </p:nvSpPr>
        <p:spPr>
          <a:xfrm>
            <a:off x="5200650" y="3255645"/>
            <a:ext cx="173736" cy="144018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88" name="FIG2_MICRO_ADAPTIVE__SCORE_GRAPH__309__EDGE_7">
            <a:extLst>
              <a:ext uri="{FF2B5EF4-FFF2-40B4-BE49-F238E27FC236}">
                <a16:creationId xmlns:a16="http://schemas.microsoft.com/office/drawing/2014/main" id="{3D63BA5F-F4C3-4DD6-A779-81F7533366D1}"/>
              </a:ext>
            </a:extLst>
          </p:cNvPr>
          <p:cNvSpPr>
            <a:spLocks noGrp="1"/>
          </p:cNvSpPr>
          <p:nvPr/>
        </p:nvSpPr>
        <p:spPr>
          <a:xfrm>
            <a:off x="5200650" y="3255645"/>
            <a:ext cx="9144" cy="198882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89" name="FIG2_MICRO_ADAPTIVE__SCORE_GRAPH__310__EDGE_8">
            <a:extLst>
              <a:ext uri="{FF2B5EF4-FFF2-40B4-BE49-F238E27FC236}">
                <a16:creationId xmlns:a16="http://schemas.microsoft.com/office/drawing/2014/main" id="{694AA14D-78E3-4069-B93B-03BDD6EE9BA9}"/>
              </a:ext>
            </a:extLst>
          </p:cNvPr>
          <p:cNvSpPr>
            <a:spLocks noGrp="1"/>
          </p:cNvSpPr>
          <p:nvPr/>
        </p:nvSpPr>
        <p:spPr>
          <a:xfrm>
            <a:off x="5328666" y="3193923"/>
            <a:ext cx="45720" cy="205740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90" name="FIG2_MICRO_ADAPTIVE__SCORE_GRAPH__311__EDGE_9">
            <a:extLst>
              <a:ext uri="{FF2B5EF4-FFF2-40B4-BE49-F238E27FC236}">
                <a16:creationId xmlns:a16="http://schemas.microsoft.com/office/drawing/2014/main" id="{E9B7FEAC-4046-4B3B-BB04-8D332613A057}"/>
              </a:ext>
            </a:extLst>
          </p:cNvPr>
          <p:cNvSpPr>
            <a:spLocks noGrp="1"/>
          </p:cNvSpPr>
          <p:nvPr/>
        </p:nvSpPr>
        <p:spPr>
          <a:xfrm>
            <a:off x="5209794" y="3399663"/>
            <a:ext cx="164592" cy="54864"/>
          </a:xfrm>
          <a:prstGeom prst="line">
            <a:avLst/>
          </a:prstGeom>
          <a:noFill/>
          <a:ln w="10001">
            <a:solidFill>
              <a:srgbClr val="E0823D"/>
            </a:solidFill>
            <a:prstDash val="solid"/>
          </a:ln>
        </p:spPr>
      </p:sp>
      <p:sp>
        <p:nvSpPr>
          <p:cNvPr id="791" name="FIG2_MICRO_ADAPTIVE__SCORE_GRAPH__312__EDGE_10">
            <a:extLst>
              <a:ext uri="{FF2B5EF4-FFF2-40B4-BE49-F238E27FC236}">
                <a16:creationId xmlns:a16="http://schemas.microsoft.com/office/drawing/2014/main" id="{BB03110D-EE24-4FEE-9E46-D0881787064E}"/>
              </a:ext>
            </a:extLst>
          </p:cNvPr>
          <p:cNvSpPr>
            <a:spLocks noGrp="1"/>
          </p:cNvSpPr>
          <p:nvPr/>
        </p:nvSpPr>
        <p:spPr>
          <a:xfrm>
            <a:off x="5008626" y="3341370"/>
            <a:ext cx="365760" cy="58293"/>
          </a:xfrm>
          <a:prstGeom prst="line">
            <a:avLst/>
          </a:prstGeom>
          <a:noFill/>
          <a:ln w="10001">
            <a:solidFill>
              <a:srgbClr val="C8D0D5"/>
            </a:solidFill>
            <a:prstDash val="dash"/>
          </a:ln>
        </p:spPr>
      </p:sp>
      <p:sp>
        <p:nvSpPr>
          <p:cNvPr id="792" name="FIG2_MICRO_ADAPTIVE__SCORE_GRAPH__313__EDGE_11">
            <a:extLst>
              <a:ext uri="{FF2B5EF4-FFF2-40B4-BE49-F238E27FC236}">
                <a16:creationId xmlns:a16="http://schemas.microsoft.com/office/drawing/2014/main" id="{61BBE04C-59B6-4F42-B6FF-64C8413A7879}"/>
              </a:ext>
            </a:extLst>
          </p:cNvPr>
          <p:cNvSpPr>
            <a:spLocks noGrp="1"/>
          </p:cNvSpPr>
          <p:nvPr/>
        </p:nvSpPr>
        <p:spPr>
          <a:xfrm>
            <a:off x="5100066" y="3180207"/>
            <a:ext cx="109728" cy="274320"/>
          </a:xfrm>
          <a:prstGeom prst="line">
            <a:avLst/>
          </a:prstGeom>
          <a:noFill/>
          <a:ln w="10001">
            <a:solidFill>
              <a:srgbClr val="C8D0D5"/>
            </a:solidFill>
            <a:prstDash val="dash"/>
          </a:ln>
        </p:spPr>
      </p:sp>
      <p:sp>
        <p:nvSpPr>
          <p:cNvPr id="793" name="FIG2_MICRO_ADAPTIVE__SCORE_GRAPH__314__NODE_1">
            <a:extLst>
              <a:ext uri="{FF2B5EF4-FFF2-40B4-BE49-F238E27FC236}">
                <a16:creationId xmlns:a16="http://schemas.microsoft.com/office/drawing/2014/main" id="{B747606F-A651-471C-AAD5-FCB91A1BCE78}"/>
              </a:ext>
            </a:extLst>
          </p:cNvPr>
          <p:cNvSpPr>
            <a:spLocks noGrp="1"/>
          </p:cNvSpPr>
          <p:nvPr/>
        </p:nvSpPr>
        <p:spPr>
          <a:xfrm>
            <a:off x="4982909" y="3315653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94" name="FIG2_MICRO_ADAPTIVE__SCORE_GRAPH__315__NODE_2">
            <a:extLst>
              <a:ext uri="{FF2B5EF4-FFF2-40B4-BE49-F238E27FC236}">
                <a16:creationId xmlns:a16="http://schemas.microsoft.com/office/drawing/2014/main" id="{AEC7DA10-9B61-4206-877D-1FAC53AA10FA}"/>
              </a:ext>
            </a:extLst>
          </p:cNvPr>
          <p:cNvSpPr>
            <a:spLocks noGrp="1"/>
          </p:cNvSpPr>
          <p:nvPr/>
        </p:nvSpPr>
        <p:spPr>
          <a:xfrm>
            <a:off x="5074349" y="3154490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95" name="FIG2_MICRO_ADAPTIVE__SCORE_GRAPH__316__NODE_3">
            <a:extLst>
              <a:ext uri="{FF2B5EF4-FFF2-40B4-BE49-F238E27FC236}">
                <a16:creationId xmlns:a16="http://schemas.microsoft.com/office/drawing/2014/main" id="{2DABA0F8-0686-47C0-B7F7-ED689A99261A}"/>
              </a:ext>
            </a:extLst>
          </p:cNvPr>
          <p:cNvSpPr>
            <a:spLocks noGrp="1"/>
          </p:cNvSpPr>
          <p:nvPr/>
        </p:nvSpPr>
        <p:spPr>
          <a:xfrm>
            <a:off x="5174933" y="3229928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96" name="FIG2_MICRO_ADAPTIVE__SCORE_GRAPH__317__NODE_4">
            <a:extLst>
              <a:ext uri="{FF2B5EF4-FFF2-40B4-BE49-F238E27FC236}">
                <a16:creationId xmlns:a16="http://schemas.microsoft.com/office/drawing/2014/main" id="{04EB7A4A-CD8C-40C9-8406-69BFB214CE9D}"/>
              </a:ext>
            </a:extLst>
          </p:cNvPr>
          <p:cNvSpPr>
            <a:spLocks noGrp="1"/>
          </p:cNvSpPr>
          <p:nvPr/>
        </p:nvSpPr>
        <p:spPr>
          <a:xfrm>
            <a:off x="5302949" y="3168206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97" name="FIG2_MICRO_ADAPTIVE__SCORE_GRAPH__318__NODE_5">
            <a:extLst>
              <a:ext uri="{FF2B5EF4-FFF2-40B4-BE49-F238E27FC236}">
                <a16:creationId xmlns:a16="http://schemas.microsoft.com/office/drawing/2014/main" id="{AD6486E6-9064-4978-8551-A0CC8A9ACCD3}"/>
              </a:ext>
            </a:extLst>
          </p:cNvPr>
          <p:cNvSpPr>
            <a:spLocks noGrp="1"/>
          </p:cNvSpPr>
          <p:nvPr/>
        </p:nvSpPr>
        <p:spPr>
          <a:xfrm>
            <a:off x="5348669" y="3373946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98" name="FIG2_MICRO_ADAPTIVE__SCORE_GRAPH__319__NODE_6">
            <a:extLst>
              <a:ext uri="{FF2B5EF4-FFF2-40B4-BE49-F238E27FC236}">
                <a16:creationId xmlns:a16="http://schemas.microsoft.com/office/drawing/2014/main" id="{BA633D4A-D6F3-4AE9-9077-A13F38362456}"/>
              </a:ext>
            </a:extLst>
          </p:cNvPr>
          <p:cNvSpPr>
            <a:spLocks noGrp="1"/>
          </p:cNvSpPr>
          <p:nvPr/>
        </p:nvSpPr>
        <p:spPr>
          <a:xfrm>
            <a:off x="5184077" y="3428810"/>
            <a:ext cx="51435" cy="5143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799" name="FIG2_MICRO_ADAPTIVE__320__UNSUPPORTED_X_A">
            <a:extLst>
              <a:ext uri="{FF2B5EF4-FFF2-40B4-BE49-F238E27FC236}">
                <a16:creationId xmlns:a16="http://schemas.microsoft.com/office/drawing/2014/main" id="{5683820B-5986-4DFE-A512-96E231EC1F4F}"/>
              </a:ext>
            </a:extLst>
          </p:cNvPr>
          <p:cNvSpPr>
            <a:spLocks noGrp="1"/>
          </p:cNvSpPr>
          <p:nvPr/>
        </p:nvSpPr>
        <p:spPr>
          <a:xfrm>
            <a:off x="5391150" y="3171825"/>
            <a:ext cx="76200" cy="76200"/>
          </a:xfrm>
          <a:prstGeom prst="line">
            <a:avLst/>
          </a:prstGeom>
          <a:noFill/>
          <a:ln w="11430">
            <a:solidFill>
              <a:srgbClr val="B76F68"/>
            </a:solidFill>
            <a:prstDash val="solid"/>
          </a:ln>
        </p:spPr>
      </p:sp>
      <p:sp>
        <p:nvSpPr>
          <p:cNvPr id="800" name="FIG2_MICRO_ADAPTIVE__321__UNSUPPORTED_X_B">
            <a:extLst>
              <a:ext uri="{FF2B5EF4-FFF2-40B4-BE49-F238E27FC236}">
                <a16:creationId xmlns:a16="http://schemas.microsoft.com/office/drawing/2014/main" id="{ACB2EA6D-B497-48A9-AC38-8E83AAD4DCDB}"/>
              </a:ext>
            </a:extLst>
          </p:cNvPr>
          <p:cNvSpPr>
            <a:spLocks noGrp="1"/>
          </p:cNvSpPr>
          <p:nvPr/>
        </p:nvSpPr>
        <p:spPr>
          <a:xfrm>
            <a:off x="5391150" y="3171825"/>
            <a:ext cx="76200" cy="76200"/>
          </a:xfrm>
          <a:prstGeom prst="line">
            <a:avLst/>
          </a:prstGeom>
          <a:noFill/>
          <a:ln w="11430">
            <a:solidFill>
              <a:srgbClr val="B76F68"/>
            </a:solidFill>
            <a:prstDash val="solid"/>
          </a:ln>
        </p:spPr>
      </p:sp>
      <p:sp>
        <p:nvSpPr>
          <p:cNvPr id="801" name="FIG2_MICRO_ADAPTIVE__322__SCORE_LABEL">
            <a:extLst>
              <a:ext uri="{FF2B5EF4-FFF2-40B4-BE49-F238E27FC236}">
                <a16:creationId xmlns:a16="http://schemas.microsoft.com/office/drawing/2014/main" id="{54FAE91B-2E36-4597-98C1-80E76D29F4AE}"/>
              </a:ext>
            </a:extLst>
          </p:cNvPr>
          <p:cNvSpPr>
            <a:spLocks noGrp="1"/>
          </p:cNvSpPr>
          <p:nvPr/>
        </p:nvSpPr>
        <p:spPr>
          <a:xfrm>
            <a:off x="4476750" y="3762375"/>
            <a:ext cx="15716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Adaptive Edge Importance</a:t>
            </a:r>
          </a:p>
        </p:txBody>
      </p:sp>
      <p:sp>
        <p:nvSpPr>
          <p:cNvPr id="802" name="FIG2_MICRO_ADAPTIVE__323__ODOT">
            <a:extLst>
              <a:ext uri="{FF2B5EF4-FFF2-40B4-BE49-F238E27FC236}">
                <a16:creationId xmlns:a16="http://schemas.microsoft.com/office/drawing/2014/main" id="{6407A47F-46B0-47C7-8637-EC119F832552}"/>
              </a:ext>
            </a:extLst>
          </p:cNvPr>
          <p:cNvSpPr>
            <a:spLocks noGrp="1"/>
          </p:cNvSpPr>
          <p:nvPr/>
        </p:nvSpPr>
        <p:spPr>
          <a:xfrm>
            <a:off x="5900738" y="2881313"/>
            <a:ext cx="238125" cy="238125"/>
          </a:xfrm>
          <a:prstGeom prst="ellipse">
            <a:avLst/>
          </a:prstGeom>
          <a:solidFill>
            <a:srgbClr val="FFFFFF"/>
          </a:solidFill>
          <a:ln w="13811">
            <a:solidFill>
              <a:srgbClr val="8065A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rPr>
              <a:t>⊙</a:t>
            </a:r>
          </a:p>
        </p:txBody>
      </p:sp>
      <p:sp>
        <p:nvSpPr>
          <p:cNvPr id="803" name="FIG2_MICRO_ADAPTIVE__324__ODOT_LABEL">
            <a:extLst>
              <a:ext uri="{FF2B5EF4-FFF2-40B4-BE49-F238E27FC236}">
                <a16:creationId xmlns:a16="http://schemas.microsoft.com/office/drawing/2014/main" id="{C29D80C0-8700-4D28-B2EA-852C3B3AF0E2}"/>
              </a:ext>
            </a:extLst>
          </p:cNvPr>
          <p:cNvSpPr>
            <a:spLocks noGrp="1"/>
          </p:cNvSpPr>
          <p:nvPr/>
        </p:nvSpPr>
        <p:spPr>
          <a:xfrm>
            <a:off x="5638800" y="3190875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rPr>
              <a:t>Prior-Constrained</a:t>
            </a:r>
          </a:p>
          <a:p>
            <a:pPr algn="ctr">
              <a:defRPr sz="12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8065A5"/>
                </a:solidFill>
                <a:latin typeface="Times New Roman"/>
                <a:ea typeface="Times New Roman"/>
                <a:cs typeface="Times New Roman"/>
              </a:rPr>
              <a:t>Re-weighting</a:t>
            </a:r>
          </a:p>
        </p:txBody>
      </p:sp>
      <p:sp>
        <p:nvSpPr>
          <p:cNvPr id="804" name="FIG2_MICRO_ADAPTIVE__325__ROW_NORM">
            <a:extLst>
              <a:ext uri="{FF2B5EF4-FFF2-40B4-BE49-F238E27FC236}">
                <a16:creationId xmlns:a16="http://schemas.microsoft.com/office/drawing/2014/main" id="{09C662A8-F8CB-45EE-BC2A-7E8B02891917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1085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805" name="FIG2_MICRO_ADAPTIVE__EFFECTIVE_GRAPH__326__EDGE_1">
            <a:extLst>
              <a:ext uri="{FF2B5EF4-FFF2-40B4-BE49-F238E27FC236}">
                <a16:creationId xmlns:a16="http://schemas.microsoft.com/office/drawing/2014/main" id="{B407175F-15A0-4562-ABD1-514C8FD231B0}"/>
              </a:ext>
            </a:extLst>
          </p:cNvPr>
          <p:cNvSpPr>
            <a:spLocks noGrp="1"/>
          </p:cNvSpPr>
          <p:nvPr/>
        </p:nvSpPr>
        <p:spPr>
          <a:xfrm flipV="1">
            <a:off x="7338822" y="2908935"/>
            <a:ext cx="224028" cy="114300"/>
          </a:xfrm>
          <a:prstGeom prst="line">
            <a:avLst/>
          </a:prstGeom>
          <a:noFill/>
          <a:ln w="21908">
            <a:solidFill>
              <a:srgbClr val="E0823D"/>
            </a:solidFill>
            <a:prstDash val="solid"/>
          </a:ln>
        </p:spPr>
      </p:sp>
      <p:sp>
        <p:nvSpPr>
          <p:cNvPr id="806" name="FIG2_MICRO_ADAPTIVE__EFFECTIVE_GRAPH__327__EDGE_2">
            <a:extLst>
              <a:ext uri="{FF2B5EF4-FFF2-40B4-BE49-F238E27FC236}">
                <a16:creationId xmlns:a16="http://schemas.microsoft.com/office/drawing/2014/main" id="{A0B03580-0CAD-4136-B573-DCF5E3A5AB2B}"/>
              </a:ext>
            </a:extLst>
          </p:cNvPr>
          <p:cNvSpPr>
            <a:spLocks noGrp="1"/>
          </p:cNvSpPr>
          <p:nvPr/>
        </p:nvSpPr>
        <p:spPr>
          <a:xfrm>
            <a:off x="7338822" y="3023235"/>
            <a:ext cx="234696" cy="150876"/>
          </a:xfrm>
          <a:prstGeom prst="line">
            <a:avLst/>
          </a:prstGeom>
          <a:noFill/>
          <a:ln w="11430">
            <a:solidFill>
              <a:srgbClr val="E0823D"/>
            </a:solidFill>
            <a:prstDash val="solid"/>
          </a:ln>
        </p:spPr>
      </p:sp>
      <p:sp>
        <p:nvSpPr>
          <p:cNvPr id="807" name="FIG2_MICRO_ADAPTIVE__EFFECTIVE_GRAPH__328__EDGE_3">
            <a:extLst>
              <a:ext uri="{FF2B5EF4-FFF2-40B4-BE49-F238E27FC236}">
                <a16:creationId xmlns:a16="http://schemas.microsoft.com/office/drawing/2014/main" id="{3574CDD2-640A-4330-8A53-A12C51123890}"/>
              </a:ext>
            </a:extLst>
          </p:cNvPr>
          <p:cNvSpPr>
            <a:spLocks noGrp="1"/>
          </p:cNvSpPr>
          <p:nvPr/>
        </p:nvSpPr>
        <p:spPr>
          <a:xfrm>
            <a:off x="7445502" y="2808351"/>
            <a:ext cx="117348" cy="100584"/>
          </a:xfrm>
          <a:prstGeom prst="line">
            <a:avLst/>
          </a:prstGeom>
          <a:noFill/>
          <a:ln w="17145">
            <a:solidFill>
              <a:srgbClr val="E0823D"/>
            </a:solidFill>
            <a:prstDash val="solid"/>
          </a:ln>
        </p:spPr>
      </p:sp>
      <p:sp>
        <p:nvSpPr>
          <p:cNvPr id="808" name="FIG2_MICRO_ADAPTIVE__EFFECTIVE_GRAPH__329__EDGE_4">
            <a:extLst>
              <a:ext uri="{FF2B5EF4-FFF2-40B4-BE49-F238E27FC236}">
                <a16:creationId xmlns:a16="http://schemas.microsoft.com/office/drawing/2014/main" id="{224CAC78-736B-45D9-99C5-3AA1F29F877E}"/>
              </a:ext>
            </a:extLst>
          </p:cNvPr>
          <p:cNvSpPr>
            <a:spLocks noGrp="1"/>
          </p:cNvSpPr>
          <p:nvPr/>
        </p:nvSpPr>
        <p:spPr>
          <a:xfrm>
            <a:off x="7445502" y="2808351"/>
            <a:ext cx="266700" cy="18288"/>
          </a:xfrm>
          <a:prstGeom prst="line">
            <a:avLst/>
          </a:prstGeom>
          <a:noFill/>
          <a:ln w="23813">
            <a:solidFill>
              <a:srgbClr val="E0823D"/>
            </a:solidFill>
            <a:prstDash val="solid"/>
          </a:ln>
        </p:spPr>
      </p:sp>
      <p:sp>
        <p:nvSpPr>
          <p:cNvPr id="809" name="FIG2_MICRO_ADAPTIVE__EFFECTIVE_GRAPH__330__EDGE_5">
            <a:extLst>
              <a:ext uri="{FF2B5EF4-FFF2-40B4-BE49-F238E27FC236}">
                <a16:creationId xmlns:a16="http://schemas.microsoft.com/office/drawing/2014/main" id="{68E5AC1E-93A4-4801-816B-7191D041B68E}"/>
              </a:ext>
            </a:extLst>
          </p:cNvPr>
          <p:cNvSpPr>
            <a:spLocks noGrp="1"/>
          </p:cNvSpPr>
          <p:nvPr/>
        </p:nvSpPr>
        <p:spPr>
          <a:xfrm flipV="1">
            <a:off x="7562850" y="2826639"/>
            <a:ext cx="149352" cy="82296"/>
          </a:xfrm>
          <a:prstGeom prst="line">
            <a:avLst/>
          </a:prstGeom>
          <a:noFill/>
          <a:ln w="12859">
            <a:solidFill>
              <a:srgbClr val="E0823D"/>
            </a:solidFill>
            <a:prstDash val="solid"/>
          </a:ln>
        </p:spPr>
      </p:sp>
      <p:sp>
        <p:nvSpPr>
          <p:cNvPr id="810" name="FIG2_MICRO_ADAPTIVE__EFFECTIVE_GRAPH__331__EDGE_6">
            <a:extLst>
              <a:ext uri="{FF2B5EF4-FFF2-40B4-BE49-F238E27FC236}">
                <a16:creationId xmlns:a16="http://schemas.microsoft.com/office/drawing/2014/main" id="{0F54C6FD-AB4F-4E83-92D8-A3A09FA7EE2A}"/>
              </a:ext>
            </a:extLst>
          </p:cNvPr>
          <p:cNvSpPr>
            <a:spLocks noGrp="1"/>
          </p:cNvSpPr>
          <p:nvPr/>
        </p:nvSpPr>
        <p:spPr>
          <a:xfrm>
            <a:off x="7562850" y="2908935"/>
            <a:ext cx="202692" cy="192024"/>
          </a:xfrm>
          <a:prstGeom prst="line">
            <a:avLst/>
          </a:prstGeom>
          <a:noFill/>
          <a:ln w="20003">
            <a:solidFill>
              <a:srgbClr val="E0823D"/>
            </a:solidFill>
            <a:prstDash val="solid"/>
          </a:ln>
        </p:spPr>
      </p:sp>
      <p:sp>
        <p:nvSpPr>
          <p:cNvPr id="811" name="FIG2_MICRO_ADAPTIVE__EFFECTIVE_GRAPH__332__EDGE_7">
            <a:extLst>
              <a:ext uri="{FF2B5EF4-FFF2-40B4-BE49-F238E27FC236}">
                <a16:creationId xmlns:a16="http://schemas.microsoft.com/office/drawing/2014/main" id="{2E25EF84-5A9E-4F9B-B257-64898838F7FD}"/>
              </a:ext>
            </a:extLst>
          </p:cNvPr>
          <p:cNvSpPr>
            <a:spLocks noGrp="1"/>
          </p:cNvSpPr>
          <p:nvPr/>
        </p:nvSpPr>
        <p:spPr>
          <a:xfrm>
            <a:off x="7562850" y="2908935"/>
            <a:ext cx="10668" cy="265176"/>
          </a:xfrm>
          <a:prstGeom prst="line">
            <a:avLst/>
          </a:prstGeom>
          <a:noFill/>
          <a:ln w="10478">
            <a:solidFill>
              <a:srgbClr val="E0823D"/>
            </a:solidFill>
            <a:prstDash val="solid"/>
          </a:ln>
        </p:spPr>
      </p:sp>
      <p:sp>
        <p:nvSpPr>
          <p:cNvPr id="812" name="FIG2_MICRO_ADAPTIVE__EFFECTIVE_GRAPH__333__EDGE_8">
            <a:extLst>
              <a:ext uri="{FF2B5EF4-FFF2-40B4-BE49-F238E27FC236}">
                <a16:creationId xmlns:a16="http://schemas.microsoft.com/office/drawing/2014/main" id="{B1E58880-D89E-4381-84F5-B8872987727A}"/>
              </a:ext>
            </a:extLst>
          </p:cNvPr>
          <p:cNvSpPr>
            <a:spLocks noGrp="1"/>
          </p:cNvSpPr>
          <p:nvPr/>
        </p:nvSpPr>
        <p:spPr>
          <a:xfrm>
            <a:off x="7712202" y="2826639"/>
            <a:ext cx="53340" cy="274320"/>
          </a:xfrm>
          <a:prstGeom prst="line">
            <a:avLst/>
          </a:prstGeom>
          <a:noFill/>
          <a:ln w="21431">
            <a:solidFill>
              <a:srgbClr val="E0823D"/>
            </a:solidFill>
            <a:prstDash val="solid"/>
          </a:ln>
        </p:spPr>
      </p:sp>
      <p:sp>
        <p:nvSpPr>
          <p:cNvPr id="813" name="FIG2_MICRO_ADAPTIVE__EFFECTIVE_GRAPH__334__EDGE_9">
            <a:extLst>
              <a:ext uri="{FF2B5EF4-FFF2-40B4-BE49-F238E27FC236}">
                <a16:creationId xmlns:a16="http://schemas.microsoft.com/office/drawing/2014/main" id="{381F543D-303D-4EC8-A569-1816807093E8}"/>
              </a:ext>
            </a:extLst>
          </p:cNvPr>
          <p:cNvSpPr>
            <a:spLocks noGrp="1"/>
          </p:cNvSpPr>
          <p:nvPr/>
        </p:nvSpPr>
        <p:spPr>
          <a:xfrm>
            <a:off x="7573518" y="3100959"/>
            <a:ext cx="192024" cy="73152"/>
          </a:xfrm>
          <a:prstGeom prst="line">
            <a:avLst/>
          </a:prstGeom>
          <a:noFill/>
          <a:ln w="14764">
            <a:solidFill>
              <a:srgbClr val="E0823D"/>
            </a:solidFill>
            <a:prstDash val="solid"/>
          </a:ln>
        </p:spPr>
      </p:sp>
      <p:sp>
        <p:nvSpPr>
          <p:cNvPr id="814" name="FIG2_MICRO_ADAPTIVE__EFFECTIVE_GRAPH__335__NODE_1">
            <a:extLst>
              <a:ext uri="{FF2B5EF4-FFF2-40B4-BE49-F238E27FC236}">
                <a16:creationId xmlns:a16="http://schemas.microsoft.com/office/drawing/2014/main" id="{B0B37035-13E8-4908-8C35-1BFBF3C506E3}"/>
              </a:ext>
            </a:extLst>
          </p:cNvPr>
          <p:cNvSpPr>
            <a:spLocks noGrp="1"/>
          </p:cNvSpPr>
          <p:nvPr/>
        </p:nvSpPr>
        <p:spPr>
          <a:xfrm>
            <a:off x="7310247" y="2994660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815" name="FIG2_MICRO_ADAPTIVE__EFFECTIVE_GRAPH__336__NODE_2">
            <a:extLst>
              <a:ext uri="{FF2B5EF4-FFF2-40B4-BE49-F238E27FC236}">
                <a16:creationId xmlns:a16="http://schemas.microsoft.com/office/drawing/2014/main" id="{C5D04EEF-9B04-42C7-B1E0-D1176814FA31}"/>
              </a:ext>
            </a:extLst>
          </p:cNvPr>
          <p:cNvSpPr>
            <a:spLocks noGrp="1"/>
          </p:cNvSpPr>
          <p:nvPr/>
        </p:nvSpPr>
        <p:spPr>
          <a:xfrm>
            <a:off x="7416927" y="2779776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816" name="FIG2_MICRO_ADAPTIVE__EFFECTIVE_GRAPH__337__NODE_3">
            <a:extLst>
              <a:ext uri="{FF2B5EF4-FFF2-40B4-BE49-F238E27FC236}">
                <a16:creationId xmlns:a16="http://schemas.microsoft.com/office/drawing/2014/main" id="{1074DEC5-4BF2-4193-A5F5-A837C3DB5A9E}"/>
              </a:ext>
            </a:extLst>
          </p:cNvPr>
          <p:cNvSpPr>
            <a:spLocks noGrp="1"/>
          </p:cNvSpPr>
          <p:nvPr/>
        </p:nvSpPr>
        <p:spPr>
          <a:xfrm>
            <a:off x="7534275" y="2880360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817" name="FIG2_MICRO_ADAPTIVE__EFFECTIVE_GRAPH__338__NODE_4">
            <a:extLst>
              <a:ext uri="{FF2B5EF4-FFF2-40B4-BE49-F238E27FC236}">
                <a16:creationId xmlns:a16="http://schemas.microsoft.com/office/drawing/2014/main" id="{907E6106-280C-4733-A4EA-C79907E4B541}"/>
              </a:ext>
            </a:extLst>
          </p:cNvPr>
          <p:cNvSpPr>
            <a:spLocks noGrp="1"/>
          </p:cNvSpPr>
          <p:nvPr/>
        </p:nvSpPr>
        <p:spPr>
          <a:xfrm>
            <a:off x="7683627" y="2798064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818" name="FIG2_MICRO_ADAPTIVE__EFFECTIVE_GRAPH__339__NODE_5">
            <a:extLst>
              <a:ext uri="{FF2B5EF4-FFF2-40B4-BE49-F238E27FC236}">
                <a16:creationId xmlns:a16="http://schemas.microsoft.com/office/drawing/2014/main" id="{7278C556-906C-46AF-9B1A-F2E9E853F5EF}"/>
              </a:ext>
            </a:extLst>
          </p:cNvPr>
          <p:cNvSpPr>
            <a:spLocks noGrp="1"/>
          </p:cNvSpPr>
          <p:nvPr/>
        </p:nvSpPr>
        <p:spPr>
          <a:xfrm>
            <a:off x="7736967" y="3072384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819" name="FIG2_MICRO_ADAPTIVE__EFFECTIVE_GRAPH__340__NODE_6">
            <a:extLst>
              <a:ext uri="{FF2B5EF4-FFF2-40B4-BE49-F238E27FC236}">
                <a16:creationId xmlns:a16="http://schemas.microsoft.com/office/drawing/2014/main" id="{843DD39E-7B61-41C1-8782-74D3CA4A3077}"/>
              </a:ext>
            </a:extLst>
          </p:cNvPr>
          <p:cNvSpPr>
            <a:spLocks noGrp="1"/>
          </p:cNvSpPr>
          <p:nvPr/>
        </p:nvSpPr>
        <p:spPr>
          <a:xfrm>
            <a:off x="7544943" y="3145536"/>
            <a:ext cx="57150" cy="571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0823D"/>
            </a:solidFill>
            <a:prstDash val="solid"/>
          </a:ln>
        </p:spPr>
      </p:sp>
      <p:sp>
        <p:nvSpPr>
          <p:cNvPr id="820" name="FIG2_MICRO_ADAPTIVE__341__EFFECTIVE_LABEL">
            <a:extLst>
              <a:ext uri="{FF2B5EF4-FFF2-40B4-BE49-F238E27FC236}">
                <a16:creationId xmlns:a16="http://schemas.microsoft.com/office/drawing/2014/main" id="{4ED3A56B-F8B2-4477-8819-3B95ECD72740}"/>
              </a:ext>
            </a:extLst>
          </p:cNvPr>
          <p:cNvSpPr>
            <a:spLocks noGrp="1"/>
          </p:cNvSpPr>
          <p:nvPr/>
        </p:nvSpPr>
        <p:spPr>
          <a:xfrm>
            <a:off x="7105650" y="325755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Micro Effective</a:t>
            </a:r>
          </a:p>
          <a:p>
            <a:pPr algn="ctr">
              <a:def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E0823D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821" name="FIG2_DISTANCE_HUB__342__FIG2_MICRO_DISTANCE_WEIGHT">
            <a:extLst>
              <a:ext uri="{FF2B5EF4-FFF2-40B4-BE49-F238E27FC236}">
                <a16:creationId xmlns:a16="http://schemas.microsoft.com/office/drawing/2014/main" id="{BF0D17BB-04A2-45D5-B6F6-83214CC7076C}"/>
              </a:ext>
            </a:extLst>
          </p:cNvPr>
          <p:cNvSpPr>
            <a:spLocks noGrp="1"/>
          </p:cNvSpPr>
          <p:nvPr/>
        </p:nvSpPr>
        <p:spPr>
          <a:xfrm>
            <a:off x="4048125" y="2219325"/>
            <a:ext cx="2381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rPr>
              <a:t>0.7</a:t>
            </a:r>
          </a:p>
        </p:txBody>
      </p:sp>
      <p:sp>
        <p:nvSpPr>
          <p:cNvPr id="822" name="FIG2_DISTANCE_HUB__343__COORD_1">
            <a:extLst>
              <a:ext uri="{FF2B5EF4-FFF2-40B4-BE49-F238E27FC236}">
                <a16:creationId xmlns:a16="http://schemas.microsoft.com/office/drawing/2014/main" id="{FB730E7E-2011-4FBC-B8B9-479F225E903E}"/>
              </a:ext>
            </a:extLst>
          </p:cNvPr>
          <p:cNvSpPr>
            <a:spLocks noGrp="1"/>
          </p:cNvSpPr>
          <p:nvPr/>
        </p:nvSpPr>
        <p:spPr>
          <a:xfrm>
            <a:off x="3105150" y="1762125"/>
            <a:ext cx="47625" cy="47625"/>
          </a:xfrm>
          <a:prstGeom prst="ellipse">
            <a:avLst/>
          </a:prstGeom>
          <a:solidFill>
            <a:srgbClr val="FFFFFF"/>
          </a:solidFill>
          <a:ln w="10478">
            <a:solidFill>
              <a:srgbClr val="708B9A"/>
            </a:solidFill>
            <a:prstDash val="solid"/>
          </a:ln>
        </p:spPr>
      </p:sp>
      <p:sp>
        <p:nvSpPr>
          <p:cNvPr id="823" name="FIG2_DISTANCE_HUB__344__COORD_2">
            <a:extLst>
              <a:ext uri="{FF2B5EF4-FFF2-40B4-BE49-F238E27FC236}">
                <a16:creationId xmlns:a16="http://schemas.microsoft.com/office/drawing/2014/main" id="{9CFAE785-28B0-44D6-A605-ED52FF62FE17}"/>
              </a:ext>
            </a:extLst>
          </p:cNvPr>
          <p:cNvSpPr>
            <a:spLocks noGrp="1"/>
          </p:cNvSpPr>
          <p:nvPr/>
        </p:nvSpPr>
        <p:spPr>
          <a:xfrm>
            <a:off x="3190875" y="1666875"/>
            <a:ext cx="47625" cy="47625"/>
          </a:xfrm>
          <a:prstGeom prst="ellipse">
            <a:avLst/>
          </a:prstGeom>
          <a:solidFill>
            <a:srgbClr val="FFFFFF"/>
          </a:solidFill>
          <a:ln w="10478">
            <a:solidFill>
              <a:srgbClr val="708B9A"/>
            </a:solidFill>
            <a:prstDash val="solid"/>
          </a:ln>
        </p:spPr>
      </p:sp>
      <p:sp>
        <p:nvSpPr>
          <p:cNvPr id="824" name="FIG2_DISTANCE_HUB__345__COORD_3">
            <a:extLst>
              <a:ext uri="{FF2B5EF4-FFF2-40B4-BE49-F238E27FC236}">
                <a16:creationId xmlns:a16="http://schemas.microsoft.com/office/drawing/2014/main" id="{1A781F86-BF34-48AC-82FF-F6AF3B64E0A0}"/>
              </a:ext>
            </a:extLst>
          </p:cNvPr>
          <p:cNvSpPr>
            <a:spLocks noGrp="1"/>
          </p:cNvSpPr>
          <p:nvPr/>
        </p:nvSpPr>
        <p:spPr>
          <a:xfrm>
            <a:off x="3267075" y="1800225"/>
            <a:ext cx="47625" cy="47625"/>
          </a:xfrm>
          <a:prstGeom prst="ellipse">
            <a:avLst/>
          </a:prstGeom>
          <a:solidFill>
            <a:srgbClr val="FFFFFF"/>
          </a:solidFill>
          <a:ln w="10478">
            <a:solidFill>
              <a:srgbClr val="708B9A"/>
            </a:solidFill>
            <a:prstDash val="solid"/>
          </a:ln>
        </p:spPr>
      </p:sp>
      <p:sp>
        <p:nvSpPr>
          <p:cNvPr id="825" name="FIG2_DISTANCE_HUB__346__COORD_4">
            <a:extLst>
              <a:ext uri="{FF2B5EF4-FFF2-40B4-BE49-F238E27FC236}">
                <a16:creationId xmlns:a16="http://schemas.microsoft.com/office/drawing/2014/main" id="{4813C26F-2BF6-4E3E-B07E-59F6D59E27C4}"/>
              </a:ext>
            </a:extLst>
          </p:cNvPr>
          <p:cNvSpPr>
            <a:spLocks noGrp="1"/>
          </p:cNvSpPr>
          <p:nvPr/>
        </p:nvSpPr>
        <p:spPr>
          <a:xfrm>
            <a:off x="3362325" y="1704975"/>
            <a:ext cx="47625" cy="47625"/>
          </a:xfrm>
          <a:prstGeom prst="ellipse">
            <a:avLst/>
          </a:prstGeom>
          <a:solidFill>
            <a:srgbClr val="FFFFFF"/>
          </a:solidFill>
          <a:ln w="10478">
            <a:solidFill>
              <a:srgbClr val="708B9A"/>
            </a:solidFill>
            <a:prstDash val="solid"/>
          </a:ln>
        </p:spPr>
      </p:sp>
      <p:sp>
        <p:nvSpPr>
          <p:cNvPr id="826" name="FIG2_DISTANCE_HUB__347__COORD_5">
            <a:extLst>
              <a:ext uri="{FF2B5EF4-FFF2-40B4-BE49-F238E27FC236}">
                <a16:creationId xmlns:a16="http://schemas.microsoft.com/office/drawing/2014/main" id="{90B0A8F1-4823-4069-B3EC-DCEBAC55FF55}"/>
              </a:ext>
            </a:extLst>
          </p:cNvPr>
          <p:cNvSpPr>
            <a:spLocks noGrp="1"/>
          </p:cNvSpPr>
          <p:nvPr/>
        </p:nvSpPr>
        <p:spPr>
          <a:xfrm>
            <a:off x="3457575" y="1781175"/>
            <a:ext cx="47625" cy="47625"/>
          </a:xfrm>
          <a:prstGeom prst="ellipse">
            <a:avLst/>
          </a:prstGeom>
          <a:solidFill>
            <a:srgbClr val="FFFFFF"/>
          </a:solidFill>
          <a:ln w="10478">
            <a:solidFill>
              <a:srgbClr val="708B9A"/>
            </a:solidFill>
            <a:prstDash val="solid"/>
          </a:ln>
        </p:spPr>
      </p:sp>
      <p:sp>
        <p:nvSpPr>
          <p:cNvPr id="827" name="FIG2_DISTANCE_HUB__348__COORD_6">
            <a:extLst>
              <a:ext uri="{FF2B5EF4-FFF2-40B4-BE49-F238E27FC236}">
                <a16:creationId xmlns:a16="http://schemas.microsoft.com/office/drawing/2014/main" id="{83FBC115-A4BB-4A93-8A6B-D7901588086C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47625" cy="47625"/>
          </a:xfrm>
          <a:prstGeom prst="ellipse">
            <a:avLst/>
          </a:prstGeom>
          <a:solidFill>
            <a:srgbClr val="FFFFFF"/>
          </a:solidFill>
          <a:ln w="10478">
            <a:solidFill>
              <a:srgbClr val="708B9A"/>
            </a:solidFill>
            <a:prstDash val="solid"/>
          </a:ln>
        </p:spPr>
      </p:sp>
      <p:sp>
        <p:nvSpPr>
          <p:cNvPr id="828" name="FIG2_DISTANCE_HUB__349__COORD_7">
            <a:extLst>
              <a:ext uri="{FF2B5EF4-FFF2-40B4-BE49-F238E27FC236}">
                <a16:creationId xmlns:a16="http://schemas.microsoft.com/office/drawing/2014/main" id="{9FC1D902-1A38-487D-9CE7-AE992B14190A}"/>
              </a:ext>
            </a:extLst>
          </p:cNvPr>
          <p:cNvSpPr>
            <a:spLocks noGrp="1"/>
          </p:cNvSpPr>
          <p:nvPr/>
        </p:nvSpPr>
        <p:spPr>
          <a:xfrm>
            <a:off x="3429000" y="1657350"/>
            <a:ext cx="47625" cy="47625"/>
          </a:xfrm>
          <a:prstGeom prst="ellipse">
            <a:avLst/>
          </a:prstGeom>
          <a:solidFill>
            <a:srgbClr val="FFFFFF"/>
          </a:solidFill>
          <a:ln w="10478">
            <a:solidFill>
              <a:srgbClr val="708B9A"/>
            </a:solidFill>
            <a:prstDash val="solid"/>
          </a:ln>
        </p:spPr>
      </p:sp>
      <p:sp>
        <p:nvSpPr>
          <p:cNvPr id="829" name="FIG2_DISTANCE_HUB__350__COORD_LABEL">
            <a:extLst>
              <a:ext uri="{FF2B5EF4-FFF2-40B4-BE49-F238E27FC236}">
                <a16:creationId xmlns:a16="http://schemas.microsoft.com/office/drawing/2014/main" id="{8FB2F3DB-131D-4275-A9B6-82EC65176D7B}"/>
              </a:ext>
            </a:extLst>
          </p:cNvPr>
          <p:cNvSpPr>
            <a:spLocks noGrp="1"/>
          </p:cNvSpPr>
          <p:nvPr/>
        </p:nvSpPr>
        <p:spPr>
          <a:xfrm>
            <a:off x="4095750" y="1733550"/>
            <a:ext cx="1143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rPr>
              <a:t>Turbine coordinates</a:t>
            </a:r>
          </a:p>
          <a:p>
            <a:pPr algn="ctr">
              <a:defRPr sz="105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rPr>
              <a:t>(x, y)</a:t>
            </a:r>
          </a:p>
        </p:txBody>
      </p:sp>
      <p:sp>
        <p:nvSpPr>
          <p:cNvPr id="830" name="FIG2_DISTANCE_HUB__WEIGHTED_GRAPH__351__EDGE_1">
            <a:extLst>
              <a:ext uri="{FF2B5EF4-FFF2-40B4-BE49-F238E27FC236}">
                <a16:creationId xmlns:a16="http://schemas.microsoft.com/office/drawing/2014/main" id="{7CF80386-406B-4C85-BFC2-512F77785249}"/>
              </a:ext>
            </a:extLst>
          </p:cNvPr>
          <p:cNvSpPr>
            <a:spLocks noGrp="1"/>
          </p:cNvSpPr>
          <p:nvPr/>
        </p:nvSpPr>
        <p:spPr>
          <a:xfrm flipV="1">
            <a:off x="3608832" y="1680591"/>
            <a:ext cx="68580" cy="80582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1" name="FIG2_DISTANCE_HUB__WEIGHTED_GRAPH__352__EDGE_2">
            <a:extLst>
              <a:ext uri="{FF2B5EF4-FFF2-40B4-BE49-F238E27FC236}">
                <a16:creationId xmlns:a16="http://schemas.microsoft.com/office/drawing/2014/main" id="{E2577D95-11FA-4DCA-94D2-4558ACBD5BA4}"/>
              </a:ext>
            </a:extLst>
          </p:cNvPr>
          <p:cNvSpPr>
            <a:spLocks noGrp="1"/>
          </p:cNvSpPr>
          <p:nvPr/>
        </p:nvSpPr>
        <p:spPr>
          <a:xfrm flipV="1">
            <a:off x="3608832" y="1718310"/>
            <a:ext cx="144018" cy="42863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2" name="FIG2_DISTANCE_HUB__WEIGHTED_GRAPH__353__EDGE_3">
            <a:extLst>
              <a:ext uri="{FF2B5EF4-FFF2-40B4-BE49-F238E27FC236}">
                <a16:creationId xmlns:a16="http://schemas.microsoft.com/office/drawing/2014/main" id="{C71C7C92-CCA4-40C2-8A3D-C7E9367673B3}"/>
              </a:ext>
            </a:extLst>
          </p:cNvPr>
          <p:cNvSpPr>
            <a:spLocks noGrp="1"/>
          </p:cNvSpPr>
          <p:nvPr/>
        </p:nvSpPr>
        <p:spPr>
          <a:xfrm>
            <a:off x="3608832" y="1761173"/>
            <a:ext cx="150876" cy="56578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3" name="FIG2_DISTANCE_HUB__WEIGHTED_GRAPH__354__EDGE_4">
            <a:extLst>
              <a:ext uri="{FF2B5EF4-FFF2-40B4-BE49-F238E27FC236}">
                <a16:creationId xmlns:a16="http://schemas.microsoft.com/office/drawing/2014/main" id="{CB22864B-CC4B-4C74-9CDA-075B8A6BE8E8}"/>
              </a:ext>
            </a:extLst>
          </p:cNvPr>
          <p:cNvSpPr>
            <a:spLocks noGrp="1"/>
          </p:cNvSpPr>
          <p:nvPr/>
        </p:nvSpPr>
        <p:spPr>
          <a:xfrm>
            <a:off x="3677412" y="1680591"/>
            <a:ext cx="75438" cy="37719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4" name="FIG2_DISTANCE_HUB__WEIGHTED_GRAPH__355__EDGE_5">
            <a:extLst>
              <a:ext uri="{FF2B5EF4-FFF2-40B4-BE49-F238E27FC236}">
                <a16:creationId xmlns:a16="http://schemas.microsoft.com/office/drawing/2014/main" id="{30003D9A-2688-49B1-8E7D-147399246DA9}"/>
              </a:ext>
            </a:extLst>
          </p:cNvPr>
          <p:cNvSpPr>
            <a:spLocks noGrp="1"/>
          </p:cNvSpPr>
          <p:nvPr/>
        </p:nvSpPr>
        <p:spPr>
          <a:xfrm>
            <a:off x="3677412" y="1680591"/>
            <a:ext cx="171450" cy="6858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5" name="FIG2_DISTANCE_HUB__WEIGHTED_GRAPH__356__EDGE_6">
            <a:extLst>
              <a:ext uri="{FF2B5EF4-FFF2-40B4-BE49-F238E27FC236}">
                <a16:creationId xmlns:a16="http://schemas.microsoft.com/office/drawing/2014/main" id="{EF1CCAB3-0A9A-4F98-B6E1-2A6C6B77AACC}"/>
              </a:ext>
            </a:extLst>
          </p:cNvPr>
          <p:cNvSpPr>
            <a:spLocks noGrp="1"/>
          </p:cNvSpPr>
          <p:nvPr/>
        </p:nvSpPr>
        <p:spPr>
          <a:xfrm>
            <a:off x="3677412" y="1680591"/>
            <a:ext cx="82296" cy="137160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6" name="FIG2_DISTANCE_HUB__WEIGHTED_GRAPH__357__EDGE_7">
            <a:extLst>
              <a:ext uri="{FF2B5EF4-FFF2-40B4-BE49-F238E27FC236}">
                <a16:creationId xmlns:a16="http://schemas.microsoft.com/office/drawing/2014/main" id="{6B1B3D0F-40C2-43A4-88C1-CE5F2742D041}"/>
              </a:ext>
            </a:extLst>
          </p:cNvPr>
          <p:cNvSpPr>
            <a:spLocks noGrp="1"/>
          </p:cNvSpPr>
          <p:nvPr/>
        </p:nvSpPr>
        <p:spPr>
          <a:xfrm flipV="1">
            <a:off x="3752850" y="1687449"/>
            <a:ext cx="96012" cy="30861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7" name="FIG2_DISTANCE_HUB__WEIGHTED_GRAPH__358__EDGE_8">
            <a:extLst>
              <a:ext uri="{FF2B5EF4-FFF2-40B4-BE49-F238E27FC236}">
                <a16:creationId xmlns:a16="http://schemas.microsoft.com/office/drawing/2014/main" id="{C2ED7249-6919-4358-AC5E-8F0F36C54E82}"/>
              </a:ext>
            </a:extLst>
          </p:cNvPr>
          <p:cNvSpPr>
            <a:spLocks noGrp="1"/>
          </p:cNvSpPr>
          <p:nvPr/>
        </p:nvSpPr>
        <p:spPr>
          <a:xfrm>
            <a:off x="3752850" y="1718310"/>
            <a:ext cx="130302" cy="72009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8" name="FIG2_DISTANCE_HUB__WEIGHTED_GRAPH__359__EDGE_9">
            <a:extLst>
              <a:ext uri="{FF2B5EF4-FFF2-40B4-BE49-F238E27FC236}">
                <a16:creationId xmlns:a16="http://schemas.microsoft.com/office/drawing/2014/main" id="{EC92961E-2196-4BA3-9E15-59759F80891C}"/>
              </a:ext>
            </a:extLst>
          </p:cNvPr>
          <p:cNvSpPr>
            <a:spLocks noGrp="1"/>
          </p:cNvSpPr>
          <p:nvPr/>
        </p:nvSpPr>
        <p:spPr>
          <a:xfrm>
            <a:off x="3752850" y="1718310"/>
            <a:ext cx="6858" cy="99441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39" name="FIG2_DISTANCE_HUB__WEIGHTED_GRAPH__360__EDGE_10">
            <a:extLst>
              <a:ext uri="{FF2B5EF4-FFF2-40B4-BE49-F238E27FC236}">
                <a16:creationId xmlns:a16="http://schemas.microsoft.com/office/drawing/2014/main" id="{726E2B8D-0C85-4940-BB59-22744C5E5F7B}"/>
              </a:ext>
            </a:extLst>
          </p:cNvPr>
          <p:cNvSpPr>
            <a:spLocks noGrp="1"/>
          </p:cNvSpPr>
          <p:nvPr/>
        </p:nvSpPr>
        <p:spPr>
          <a:xfrm>
            <a:off x="3848862" y="1687449"/>
            <a:ext cx="34290" cy="102870"/>
          </a:xfrm>
          <a:prstGeom prst="line">
            <a:avLst/>
          </a:prstGeom>
          <a:noFill/>
          <a:ln w="7144">
            <a:solidFill>
              <a:srgbClr val="5F7D8D"/>
            </a:solidFill>
            <a:prstDash val="solid"/>
          </a:ln>
        </p:spPr>
      </p:sp>
      <p:sp>
        <p:nvSpPr>
          <p:cNvPr id="840" name="FIG2_DISTANCE_HUB__WEIGHTED_GRAPH__361__NODE_1">
            <a:extLst>
              <a:ext uri="{FF2B5EF4-FFF2-40B4-BE49-F238E27FC236}">
                <a16:creationId xmlns:a16="http://schemas.microsoft.com/office/drawing/2014/main" id="{7F1EAF3C-F2F3-437A-A0C7-2C1D5B08377D}"/>
              </a:ext>
            </a:extLst>
          </p:cNvPr>
          <p:cNvSpPr>
            <a:spLocks noGrp="1"/>
          </p:cNvSpPr>
          <p:nvPr/>
        </p:nvSpPr>
        <p:spPr>
          <a:xfrm>
            <a:off x="3588829" y="1741170"/>
            <a:ext cx="40005" cy="4000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41" name="FIG2_DISTANCE_HUB__WEIGHTED_GRAPH__362__NODE_2">
            <a:extLst>
              <a:ext uri="{FF2B5EF4-FFF2-40B4-BE49-F238E27FC236}">
                <a16:creationId xmlns:a16="http://schemas.microsoft.com/office/drawing/2014/main" id="{961D8904-8FCC-439E-8780-0494964102E6}"/>
              </a:ext>
            </a:extLst>
          </p:cNvPr>
          <p:cNvSpPr>
            <a:spLocks noGrp="1"/>
          </p:cNvSpPr>
          <p:nvPr/>
        </p:nvSpPr>
        <p:spPr>
          <a:xfrm>
            <a:off x="3657409" y="1660589"/>
            <a:ext cx="40005" cy="4000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42" name="FIG2_DISTANCE_HUB__WEIGHTED_GRAPH__363__NODE_3">
            <a:extLst>
              <a:ext uri="{FF2B5EF4-FFF2-40B4-BE49-F238E27FC236}">
                <a16:creationId xmlns:a16="http://schemas.microsoft.com/office/drawing/2014/main" id="{1188B248-F11E-4E19-A94B-114285B7F276}"/>
              </a:ext>
            </a:extLst>
          </p:cNvPr>
          <p:cNvSpPr>
            <a:spLocks noGrp="1"/>
          </p:cNvSpPr>
          <p:nvPr/>
        </p:nvSpPr>
        <p:spPr>
          <a:xfrm>
            <a:off x="3732848" y="1698308"/>
            <a:ext cx="40005" cy="4000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43" name="FIG2_DISTANCE_HUB__WEIGHTED_GRAPH__364__NODE_4">
            <a:extLst>
              <a:ext uri="{FF2B5EF4-FFF2-40B4-BE49-F238E27FC236}">
                <a16:creationId xmlns:a16="http://schemas.microsoft.com/office/drawing/2014/main" id="{34CF8C52-F4B6-4A7B-BDA2-1195A7B14D81}"/>
              </a:ext>
            </a:extLst>
          </p:cNvPr>
          <p:cNvSpPr>
            <a:spLocks noGrp="1"/>
          </p:cNvSpPr>
          <p:nvPr/>
        </p:nvSpPr>
        <p:spPr>
          <a:xfrm>
            <a:off x="3828859" y="1667447"/>
            <a:ext cx="40005" cy="4000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44" name="FIG2_DISTANCE_HUB__WEIGHTED_GRAPH__365__NODE_5">
            <a:extLst>
              <a:ext uri="{FF2B5EF4-FFF2-40B4-BE49-F238E27FC236}">
                <a16:creationId xmlns:a16="http://schemas.microsoft.com/office/drawing/2014/main" id="{95A8D0E0-E97D-4BCC-A77F-CE341C0E0D9B}"/>
              </a:ext>
            </a:extLst>
          </p:cNvPr>
          <p:cNvSpPr>
            <a:spLocks noGrp="1"/>
          </p:cNvSpPr>
          <p:nvPr/>
        </p:nvSpPr>
        <p:spPr>
          <a:xfrm>
            <a:off x="3863150" y="1770317"/>
            <a:ext cx="40005" cy="4000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45" name="FIG2_DISTANCE_HUB__WEIGHTED_GRAPH__366__NODE_6">
            <a:extLst>
              <a:ext uri="{FF2B5EF4-FFF2-40B4-BE49-F238E27FC236}">
                <a16:creationId xmlns:a16="http://schemas.microsoft.com/office/drawing/2014/main" id="{A033CF06-C22D-4565-90F1-EB46BEC4F486}"/>
              </a:ext>
            </a:extLst>
          </p:cNvPr>
          <p:cNvSpPr>
            <a:spLocks noGrp="1"/>
          </p:cNvSpPr>
          <p:nvPr/>
        </p:nvSpPr>
        <p:spPr>
          <a:xfrm>
            <a:off x="3739706" y="1797749"/>
            <a:ext cx="40005" cy="4000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46" name="FIG2_DISTANCE_HUB__367__K_LABEL">
            <a:extLst>
              <a:ext uri="{FF2B5EF4-FFF2-40B4-BE49-F238E27FC236}">
                <a16:creationId xmlns:a16="http://schemas.microsoft.com/office/drawing/2014/main" id="{D142EA7F-7F11-4C75-8EAD-B187D48068ED}"/>
              </a:ext>
            </a:extLst>
          </p:cNvPr>
          <p:cNvSpPr>
            <a:spLocks noGrp="1"/>
          </p:cNvSpPr>
          <p:nvPr/>
        </p:nvSpPr>
        <p:spPr>
          <a:xfrm>
            <a:off x="3190875" y="1876425"/>
            <a:ext cx="3238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rPr>
              <a:t>K = 5</a:t>
            </a:r>
          </a:p>
        </p:txBody>
      </p:sp>
      <p:sp>
        <p:nvSpPr>
          <p:cNvPr id="847" name="FIG2_DISTANCE_HUB__DISTANCE_GRAPH__368__EDGE_1">
            <a:extLst>
              <a:ext uri="{FF2B5EF4-FFF2-40B4-BE49-F238E27FC236}">
                <a16:creationId xmlns:a16="http://schemas.microsoft.com/office/drawing/2014/main" id="{FF978298-E2AE-4C0E-96D7-89C9846990AE}"/>
              </a:ext>
            </a:extLst>
          </p:cNvPr>
          <p:cNvSpPr>
            <a:spLocks noGrp="1"/>
          </p:cNvSpPr>
          <p:nvPr/>
        </p:nvSpPr>
        <p:spPr>
          <a:xfrm flipV="1">
            <a:off x="3575304" y="2009013"/>
            <a:ext cx="80010" cy="107442"/>
          </a:xfrm>
          <a:prstGeom prst="line">
            <a:avLst/>
          </a:prstGeom>
          <a:noFill/>
          <a:ln w="9525">
            <a:solidFill>
              <a:srgbClr val="5F7D8D"/>
            </a:solidFill>
            <a:prstDash val="solid"/>
          </a:ln>
        </p:spPr>
      </p:sp>
      <p:sp>
        <p:nvSpPr>
          <p:cNvPr id="848" name="FIG2_DISTANCE_HUB__DISTANCE_GRAPH__369__EDGE_2">
            <a:extLst>
              <a:ext uri="{FF2B5EF4-FFF2-40B4-BE49-F238E27FC236}">
                <a16:creationId xmlns:a16="http://schemas.microsoft.com/office/drawing/2014/main" id="{89170C45-0E3C-4F96-832C-AA101BFE38B4}"/>
              </a:ext>
            </a:extLst>
          </p:cNvPr>
          <p:cNvSpPr>
            <a:spLocks noGrp="1"/>
          </p:cNvSpPr>
          <p:nvPr/>
        </p:nvSpPr>
        <p:spPr>
          <a:xfrm flipV="1">
            <a:off x="3575304" y="2059305"/>
            <a:ext cx="168021" cy="57150"/>
          </a:xfrm>
          <a:prstGeom prst="line">
            <a:avLst/>
          </a:prstGeom>
          <a:noFill/>
          <a:ln w="9525">
            <a:solidFill>
              <a:srgbClr val="5F7D8D"/>
            </a:solidFill>
            <a:prstDash val="solid"/>
          </a:ln>
        </p:spPr>
      </p:sp>
      <p:sp>
        <p:nvSpPr>
          <p:cNvPr id="849" name="FIG2_DISTANCE_HUB__DISTANCE_GRAPH__370__EDGE_3">
            <a:extLst>
              <a:ext uri="{FF2B5EF4-FFF2-40B4-BE49-F238E27FC236}">
                <a16:creationId xmlns:a16="http://schemas.microsoft.com/office/drawing/2014/main" id="{92E20048-134B-41CE-95B1-879E038582E9}"/>
              </a:ext>
            </a:extLst>
          </p:cNvPr>
          <p:cNvSpPr>
            <a:spLocks noGrp="1"/>
          </p:cNvSpPr>
          <p:nvPr/>
        </p:nvSpPr>
        <p:spPr>
          <a:xfrm>
            <a:off x="3655314" y="2009013"/>
            <a:ext cx="88011" cy="50292"/>
          </a:xfrm>
          <a:prstGeom prst="line">
            <a:avLst/>
          </a:prstGeom>
          <a:noFill/>
          <a:ln w="9525">
            <a:solidFill>
              <a:srgbClr val="5F7D8D"/>
            </a:solidFill>
            <a:prstDash val="solid"/>
          </a:ln>
        </p:spPr>
      </p:sp>
      <p:sp>
        <p:nvSpPr>
          <p:cNvPr id="850" name="FIG2_DISTANCE_HUB__DISTANCE_GRAPH__371__EDGE_4">
            <a:extLst>
              <a:ext uri="{FF2B5EF4-FFF2-40B4-BE49-F238E27FC236}">
                <a16:creationId xmlns:a16="http://schemas.microsoft.com/office/drawing/2014/main" id="{C2C64B8B-3C9D-4825-9D97-FFFC9DFB2F96}"/>
              </a:ext>
            </a:extLst>
          </p:cNvPr>
          <p:cNvSpPr>
            <a:spLocks noGrp="1"/>
          </p:cNvSpPr>
          <p:nvPr/>
        </p:nvSpPr>
        <p:spPr>
          <a:xfrm>
            <a:off x="3655314" y="2009013"/>
            <a:ext cx="200025" cy="9144"/>
          </a:xfrm>
          <a:prstGeom prst="line">
            <a:avLst/>
          </a:prstGeom>
          <a:noFill/>
          <a:ln w="9525">
            <a:solidFill>
              <a:srgbClr val="5F7D8D"/>
            </a:solidFill>
            <a:prstDash val="solid"/>
          </a:ln>
        </p:spPr>
      </p:sp>
      <p:sp>
        <p:nvSpPr>
          <p:cNvPr id="851" name="FIG2_DISTANCE_HUB__DISTANCE_GRAPH__372__EDGE_5">
            <a:extLst>
              <a:ext uri="{FF2B5EF4-FFF2-40B4-BE49-F238E27FC236}">
                <a16:creationId xmlns:a16="http://schemas.microsoft.com/office/drawing/2014/main" id="{627BB0F4-C61F-485D-AFA3-32A0FEC2A37A}"/>
              </a:ext>
            </a:extLst>
          </p:cNvPr>
          <p:cNvSpPr>
            <a:spLocks noGrp="1"/>
          </p:cNvSpPr>
          <p:nvPr/>
        </p:nvSpPr>
        <p:spPr>
          <a:xfrm flipV="1">
            <a:off x="3743325" y="2018157"/>
            <a:ext cx="112014" cy="41148"/>
          </a:xfrm>
          <a:prstGeom prst="line">
            <a:avLst/>
          </a:prstGeom>
          <a:noFill/>
          <a:ln w="9525">
            <a:solidFill>
              <a:srgbClr val="5F7D8D"/>
            </a:solidFill>
            <a:prstDash val="solid"/>
          </a:ln>
        </p:spPr>
      </p:sp>
      <p:sp>
        <p:nvSpPr>
          <p:cNvPr id="852" name="FIG2_DISTANCE_HUB__DISTANCE_GRAPH__373__EDGE_6">
            <a:extLst>
              <a:ext uri="{FF2B5EF4-FFF2-40B4-BE49-F238E27FC236}">
                <a16:creationId xmlns:a16="http://schemas.microsoft.com/office/drawing/2014/main" id="{A335D8C9-1F16-4EA8-898E-DB0F1B5020D6}"/>
              </a:ext>
            </a:extLst>
          </p:cNvPr>
          <p:cNvSpPr>
            <a:spLocks noGrp="1"/>
          </p:cNvSpPr>
          <p:nvPr/>
        </p:nvSpPr>
        <p:spPr>
          <a:xfrm>
            <a:off x="3743325" y="2059305"/>
            <a:ext cx="8001" cy="132588"/>
          </a:xfrm>
          <a:prstGeom prst="line">
            <a:avLst/>
          </a:prstGeom>
          <a:noFill/>
          <a:ln w="9525">
            <a:solidFill>
              <a:srgbClr val="5F7D8D"/>
            </a:solidFill>
            <a:prstDash val="solid"/>
          </a:ln>
        </p:spPr>
      </p:sp>
      <p:sp>
        <p:nvSpPr>
          <p:cNvPr id="853" name="FIG2_DISTANCE_HUB__DISTANCE_GRAPH__374__EDGE_7">
            <a:extLst>
              <a:ext uri="{FF2B5EF4-FFF2-40B4-BE49-F238E27FC236}">
                <a16:creationId xmlns:a16="http://schemas.microsoft.com/office/drawing/2014/main" id="{249B6BDE-EE7F-4FA7-8282-05D7100149DA}"/>
              </a:ext>
            </a:extLst>
          </p:cNvPr>
          <p:cNvSpPr>
            <a:spLocks noGrp="1"/>
          </p:cNvSpPr>
          <p:nvPr/>
        </p:nvSpPr>
        <p:spPr>
          <a:xfrm>
            <a:off x="3855339" y="2018157"/>
            <a:ext cx="40005" cy="137160"/>
          </a:xfrm>
          <a:prstGeom prst="line">
            <a:avLst/>
          </a:prstGeom>
          <a:noFill/>
          <a:ln w="9525">
            <a:solidFill>
              <a:srgbClr val="5F7D8D"/>
            </a:solidFill>
            <a:prstDash val="solid"/>
          </a:ln>
        </p:spPr>
      </p:sp>
      <p:sp>
        <p:nvSpPr>
          <p:cNvPr id="854" name="FIG2_DISTANCE_HUB__DISTANCE_GRAPH__375__EDGE_8">
            <a:extLst>
              <a:ext uri="{FF2B5EF4-FFF2-40B4-BE49-F238E27FC236}">
                <a16:creationId xmlns:a16="http://schemas.microsoft.com/office/drawing/2014/main" id="{FDA313D8-F380-4AFB-84CC-75EC286BE4C1}"/>
              </a:ext>
            </a:extLst>
          </p:cNvPr>
          <p:cNvSpPr>
            <a:spLocks noGrp="1"/>
          </p:cNvSpPr>
          <p:nvPr/>
        </p:nvSpPr>
        <p:spPr>
          <a:xfrm>
            <a:off x="3751326" y="2155317"/>
            <a:ext cx="144018" cy="36576"/>
          </a:xfrm>
          <a:prstGeom prst="line">
            <a:avLst/>
          </a:prstGeom>
          <a:noFill/>
          <a:ln w="9525">
            <a:solidFill>
              <a:srgbClr val="5F7D8D"/>
            </a:solidFill>
            <a:prstDash val="solid"/>
          </a:ln>
        </p:spPr>
      </p:sp>
      <p:sp>
        <p:nvSpPr>
          <p:cNvPr id="855" name="FIG2_DISTANCE_HUB__DISTANCE_GRAPH__376__NODE_1">
            <a:extLst>
              <a:ext uri="{FF2B5EF4-FFF2-40B4-BE49-F238E27FC236}">
                <a16:creationId xmlns:a16="http://schemas.microsoft.com/office/drawing/2014/main" id="{2E51463E-BEAA-48A9-84D1-B9BFF7D50F11}"/>
              </a:ext>
            </a:extLst>
          </p:cNvPr>
          <p:cNvSpPr>
            <a:spLocks noGrp="1"/>
          </p:cNvSpPr>
          <p:nvPr/>
        </p:nvSpPr>
        <p:spPr>
          <a:xfrm>
            <a:off x="3552444" y="2093595"/>
            <a:ext cx="45720" cy="4572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56" name="FIG2_DISTANCE_HUB__DISTANCE_GRAPH__377__NODE_2">
            <a:extLst>
              <a:ext uri="{FF2B5EF4-FFF2-40B4-BE49-F238E27FC236}">
                <a16:creationId xmlns:a16="http://schemas.microsoft.com/office/drawing/2014/main" id="{3E3038DA-6430-443A-9BF6-C81D97A71756}"/>
              </a:ext>
            </a:extLst>
          </p:cNvPr>
          <p:cNvSpPr>
            <a:spLocks noGrp="1"/>
          </p:cNvSpPr>
          <p:nvPr/>
        </p:nvSpPr>
        <p:spPr>
          <a:xfrm>
            <a:off x="3632454" y="1986153"/>
            <a:ext cx="45720" cy="4572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57" name="FIG2_DISTANCE_HUB__DISTANCE_GRAPH__378__NODE_3">
            <a:extLst>
              <a:ext uri="{FF2B5EF4-FFF2-40B4-BE49-F238E27FC236}">
                <a16:creationId xmlns:a16="http://schemas.microsoft.com/office/drawing/2014/main" id="{BFDB69AB-439E-4CA7-9959-64CD507B13F1}"/>
              </a:ext>
            </a:extLst>
          </p:cNvPr>
          <p:cNvSpPr>
            <a:spLocks noGrp="1"/>
          </p:cNvSpPr>
          <p:nvPr/>
        </p:nvSpPr>
        <p:spPr>
          <a:xfrm>
            <a:off x="3720465" y="2036445"/>
            <a:ext cx="45720" cy="4572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58" name="FIG2_DISTANCE_HUB__DISTANCE_GRAPH__379__NODE_4">
            <a:extLst>
              <a:ext uri="{FF2B5EF4-FFF2-40B4-BE49-F238E27FC236}">
                <a16:creationId xmlns:a16="http://schemas.microsoft.com/office/drawing/2014/main" id="{95B4D816-3844-4B6A-9E8B-B60F7B0CD24A}"/>
              </a:ext>
            </a:extLst>
          </p:cNvPr>
          <p:cNvSpPr>
            <a:spLocks noGrp="1"/>
          </p:cNvSpPr>
          <p:nvPr/>
        </p:nvSpPr>
        <p:spPr>
          <a:xfrm>
            <a:off x="3832479" y="1995297"/>
            <a:ext cx="45720" cy="4572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59" name="FIG2_DISTANCE_HUB__DISTANCE_GRAPH__380__NODE_5">
            <a:extLst>
              <a:ext uri="{FF2B5EF4-FFF2-40B4-BE49-F238E27FC236}">
                <a16:creationId xmlns:a16="http://schemas.microsoft.com/office/drawing/2014/main" id="{3917FD50-4321-48AB-960F-49960BEA12C3}"/>
              </a:ext>
            </a:extLst>
          </p:cNvPr>
          <p:cNvSpPr>
            <a:spLocks noGrp="1"/>
          </p:cNvSpPr>
          <p:nvPr/>
        </p:nvSpPr>
        <p:spPr>
          <a:xfrm>
            <a:off x="3872484" y="2132457"/>
            <a:ext cx="45720" cy="4572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60" name="FIG2_DISTANCE_HUB__DISTANCE_GRAPH__381__NODE_6">
            <a:extLst>
              <a:ext uri="{FF2B5EF4-FFF2-40B4-BE49-F238E27FC236}">
                <a16:creationId xmlns:a16="http://schemas.microsoft.com/office/drawing/2014/main" id="{C95DF5A1-4F1A-49F6-ABED-8812F4055EB0}"/>
              </a:ext>
            </a:extLst>
          </p:cNvPr>
          <p:cNvSpPr>
            <a:spLocks noGrp="1"/>
          </p:cNvSpPr>
          <p:nvPr/>
        </p:nvSpPr>
        <p:spPr>
          <a:xfrm>
            <a:off x="3728466" y="2169033"/>
            <a:ext cx="45720" cy="4572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F7D8D"/>
            </a:solidFill>
            <a:prstDash val="solid"/>
          </a:ln>
        </p:spPr>
      </p:sp>
      <p:sp>
        <p:nvSpPr>
          <p:cNvPr id="861" name="FIG2_DISTANCE_HUB__382__DISTANCE_LABEL">
            <a:extLst>
              <a:ext uri="{FF2B5EF4-FFF2-40B4-BE49-F238E27FC236}">
                <a16:creationId xmlns:a16="http://schemas.microsoft.com/office/drawing/2014/main" id="{59CF92D0-3BD8-485D-9C42-89BB00215913}"/>
              </a:ext>
            </a:extLst>
          </p:cNvPr>
          <p:cNvSpPr>
            <a:spLocks noGrp="1"/>
          </p:cNvSpPr>
          <p:nvPr/>
        </p:nvSpPr>
        <p:spPr>
          <a:xfrm>
            <a:off x="2667000" y="2257425"/>
            <a:ext cx="1143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rPr>
              <a:t>Gaussian Kernel</a:t>
            </a:r>
          </a:p>
          <a:p>
            <a:pPr algn="ctr">
              <a:defRPr sz="105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F7D8D"/>
                </a:solidFill>
                <a:latin typeface="Times New Roman"/>
                <a:ea typeface="Times New Roman"/>
                <a:cs typeface="Times New Roman"/>
              </a:rPr>
              <a:t>Distance Graph</a:t>
            </a:r>
          </a:p>
        </p:txBody>
      </p:sp>
      <p:sp>
        <p:nvSpPr>
          <p:cNvPr id="862" name="FIG2_DISTANCE_HUB__383__TOPK_LABEL">
            <a:extLst>
              <a:ext uri="{FF2B5EF4-FFF2-40B4-BE49-F238E27FC236}">
                <a16:creationId xmlns:a16="http://schemas.microsoft.com/office/drawing/2014/main" id="{AE9B81AA-0573-429B-BEB5-A7B201F8B503}"/>
              </a:ext>
            </a:extLst>
          </p:cNvPr>
          <p:cNvSpPr>
            <a:spLocks noGrp="1"/>
          </p:cNvSpPr>
          <p:nvPr/>
        </p:nvSpPr>
        <p:spPr>
          <a:xfrm>
            <a:off x="2667000" y="2533650"/>
            <a:ext cx="1143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Top-K + row</a:t>
            </a:r>
          </a:p>
          <a:p>
            <a:pPr algn="ctr">
              <a:def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681"/>
                </a:solidFill>
                <a:latin typeface="Times New Roman"/>
                <a:ea typeface="Times New Roman"/>
                <a:cs typeface="Times New Roman"/>
              </a:rPr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16682920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DocSecurity>0</DocSecurity>
  <PresentationFormat>自定义</PresentationFormat>
  <Paragraphs>66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人 好</cp:lastModifiedBy>
  <cp:revision>1</cp:revision>
  <dcterms:created xsi:type="dcterms:W3CDTF">2026-08-16T07:40:33Z</dcterms:created>
  <dcterms:modified xsi:type="dcterms:W3CDTF">2026-08-16T08:30:39Z</dcterms:modified>
</cp:coreProperties>
</file>